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9" r:id="rId13"/>
    <p:sldId id="270" r:id="rId14"/>
    <p:sldId id="272" r:id="rId15"/>
    <p:sldId id="271" r:id="rId16"/>
    <p:sldId id="273" r:id="rId17"/>
    <p:sldId id="274" r:id="rId18"/>
    <p:sldId id="275" r:id="rId19"/>
    <p:sldId id="276" r:id="rId20"/>
    <p:sldId id="277" r:id="rId21"/>
    <p:sldId id="278" r:id="rId22"/>
    <p:sldId id="279" r:id="rId23"/>
    <p:sldId id="280" r:id="rId24"/>
    <p:sldId id="281" r:id="rId25"/>
    <p:sldId id="283" r:id="rId26"/>
    <p:sldId id="282" r:id="rId27"/>
    <p:sldId id="284" r:id="rId28"/>
    <p:sldId id="285" r:id="rId29"/>
    <p:sldId id="286"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4660"/>
  </p:normalViewPr>
  <p:slideViewPr>
    <p:cSldViewPr>
      <p:cViewPr>
        <p:scale>
          <a:sx n="94" d="100"/>
          <a:sy n="94" d="100"/>
        </p:scale>
        <p:origin x="-906" y="19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pPr/>
              <a:t>11/26/2022</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11/26/2022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11/26/2022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11/26/2022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11/26/2022</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1D8BD707-D9CF-40AE-B4C6-C98DA3205C09}" type="datetimeFigureOut">
              <a:rPr lang="en-US" smtClean="0"/>
              <a:pPr/>
              <a:t>11/26/2022</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1D8BD707-D9CF-40AE-B4C6-C98DA3205C09}" type="datetimeFigureOut">
              <a:rPr lang="en-US" smtClean="0"/>
              <a:pPr/>
              <a:t>11/26/2022</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1D8BD707-D9CF-40AE-B4C6-C98DA3205C09}" type="datetimeFigureOut">
              <a:rPr lang="en-US" smtClean="0"/>
              <a:pPr/>
              <a:t>11/26/2022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pPr/>
              <a:t>11/26/2022</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11/26/2022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11/26/2022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pPr/>
              <a:t>11/26/2022</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effectLst/>
              </a:rPr>
              <a:t>Trees and Binary Trees</a:t>
            </a:r>
            <a:endParaRPr lang="en-IN" dirty="0"/>
          </a:p>
        </p:txBody>
      </p:sp>
      <p:sp>
        <p:nvSpPr>
          <p:cNvPr id="3" name="Subtitle 2"/>
          <p:cNvSpPr>
            <a:spLocks noGrp="1"/>
          </p:cNvSpPr>
          <p:nvPr>
            <p:ph type="subTitle" idx="1"/>
          </p:nvPr>
        </p:nvSpPr>
        <p:spPr/>
        <p:txBody>
          <a:bodyPr/>
          <a:lstStyle/>
          <a:p>
            <a:r>
              <a:rPr lang="en-US" dirty="0" smtClean="0"/>
              <a:t>Unit </a:t>
            </a:r>
            <a:r>
              <a:rPr lang="en-US" dirty="0" smtClean="0"/>
              <a:t>4</a:t>
            </a:r>
            <a:endParaRPr lang="en-US" dirty="0" smtClean="0"/>
          </a:p>
          <a:p>
            <a:endParaRPr lang="en-IN" dirty="0"/>
          </a:p>
        </p:txBody>
      </p:sp>
    </p:spTree>
    <p:extLst>
      <p:ext uri="{BB962C8B-B14F-4D97-AF65-F5344CB8AC3E}">
        <p14:creationId xmlns:p14="http://schemas.microsoft.com/office/powerpoint/2010/main" val="3433802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5245291"/>
          </a:xfrm>
        </p:spPr>
        <p:txBody>
          <a:bodyPr/>
          <a:lstStyle/>
          <a:p>
            <a:r>
              <a:rPr lang="en-US" sz="2000" dirty="0">
                <a:latin typeface="Calibri" pitchFamily="34" charset="0"/>
                <a:cs typeface="Calibri" pitchFamily="34" charset="0"/>
              </a:rPr>
              <a:t>A binary tree is a tree data structure in which each parent node can have at most two children. Each node of a binary tree consists of three items:</a:t>
            </a:r>
          </a:p>
          <a:p>
            <a:pPr>
              <a:buFont typeface="Arial"/>
              <a:buChar char="•"/>
            </a:pPr>
            <a:r>
              <a:rPr lang="en-US" sz="2000" dirty="0">
                <a:latin typeface="Calibri" pitchFamily="34" charset="0"/>
                <a:cs typeface="Calibri" pitchFamily="34" charset="0"/>
              </a:rPr>
              <a:t>data item</a:t>
            </a:r>
          </a:p>
          <a:p>
            <a:pPr>
              <a:buFont typeface="Arial"/>
              <a:buChar char="•"/>
            </a:pPr>
            <a:r>
              <a:rPr lang="en-US" sz="2000" dirty="0">
                <a:latin typeface="Calibri" pitchFamily="34" charset="0"/>
                <a:cs typeface="Calibri" pitchFamily="34" charset="0"/>
              </a:rPr>
              <a:t>address of left child</a:t>
            </a:r>
          </a:p>
          <a:p>
            <a:pPr>
              <a:buFont typeface="Arial"/>
              <a:buChar char="•"/>
            </a:pPr>
            <a:r>
              <a:rPr lang="en-US" sz="2000" dirty="0">
                <a:latin typeface="Calibri" pitchFamily="34" charset="0"/>
                <a:cs typeface="Calibri" pitchFamily="34" charset="0"/>
              </a:rPr>
              <a:t>address of right child</a:t>
            </a:r>
          </a:p>
          <a:p>
            <a:r>
              <a:rPr lang="en-US" dirty="0"/>
              <a:t/>
            </a:r>
            <a:br>
              <a:rPr lang="en-US" dirty="0"/>
            </a:br>
            <a:endParaRPr lang="en-IN" dirty="0"/>
          </a:p>
        </p:txBody>
      </p:sp>
      <p:sp>
        <p:nvSpPr>
          <p:cNvPr id="3" name="Title 2"/>
          <p:cNvSpPr>
            <a:spLocks noGrp="1"/>
          </p:cNvSpPr>
          <p:nvPr>
            <p:ph type="title"/>
          </p:nvPr>
        </p:nvSpPr>
        <p:spPr>
          <a:xfrm>
            <a:off x="457200" y="274638"/>
            <a:ext cx="8229600" cy="334962"/>
          </a:xfrm>
        </p:spPr>
        <p:txBody>
          <a:bodyPr>
            <a:normAutofit fontScale="90000"/>
          </a:bodyPr>
          <a:lstStyle/>
          <a:p>
            <a:r>
              <a:rPr lang="en-US" sz="2400" dirty="0">
                <a:effectLst/>
                <a:latin typeface="Calibri" pitchFamily="34" charset="0"/>
                <a:cs typeface="Calibri" pitchFamily="34" charset="0"/>
              </a:rPr>
              <a:t>Trees and Binary Trees</a:t>
            </a:r>
            <a:endParaRPr lang="en-IN" sz="2400" dirty="0">
              <a:latin typeface="Calibri" pitchFamily="34" charset="0"/>
              <a:cs typeface="Calibri" pitchFamily="34"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971800"/>
            <a:ext cx="640080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5316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5245291"/>
          </a:xfrm>
        </p:spPr>
        <p:txBody>
          <a:bodyPr/>
          <a:lstStyle/>
          <a:p>
            <a:r>
              <a:rPr lang="en-IN" sz="2400" b="1" dirty="0">
                <a:latin typeface="Calibri" pitchFamily="34" charset="0"/>
                <a:cs typeface="Calibri" pitchFamily="34" charset="0"/>
              </a:rPr>
              <a:t>Binary Tree Representation</a:t>
            </a:r>
          </a:p>
          <a:p>
            <a:r>
              <a:rPr lang="en-US" sz="2000" dirty="0">
                <a:latin typeface="Calibri" pitchFamily="34" charset="0"/>
                <a:cs typeface="Calibri" pitchFamily="34" charset="0"/>
              </a:rPr>
              <a:t>A node of a binary tree is represented by a structure containing a data part and two pointers to other structures of the same type</a:t>
            </a:r>
            <a:r>
              <a:rPr lang="en-US" dirty="0" smtClean="0"/>
              <a:t>.</a:t>
            </a:r>
          </a:p>
          <a:p>
            <a:r>
              <a:rPr lang="en-US" sz="2000" dirty="0" err="1">
                <a:latin typeface="Calibri" pitchFamily="34" charset="0"/>
                <a:cs typeface="Calibri" pitchFamily="34" charset="0"/>
              </a:rPr>
              <a:t>struct</a:t>
            </a:r>
            <a:r>
              <a:rPr lang="en-US" sz="2000" dirty="0">
                <a:latin typeface="Calibri" pitchFamily="34" charset="0"/>
                <a:cs typeface="Calibri" pitchFamily="34" charset="0"/>
              </a:rPr>
              <a:t> node</a:t>
            </a:r>
          </a:p>
          <a:p>
            <a:r>
              <a:rPr lang="en-US" sz="2000" dirty="0">
                <a:latin typeface="Calibri" pitchFamily="34" charset="0"/>
                <a:cs typeface="Calibri" pitchFamily="34" charset="0"/>
              </a:rPr>
              <a:t>{</a:t>
            </a:r>
          </a:p>
          <a:p>
            <a:r>
              <a:rPr lang="en-US" sz="2000" dirty="0">
                <a:latin typeface="Calibri" pitchFamily="34" charset="0"/>
                <a:cs typeface="Calibri" pitchFamily="34" charset="0"/>
              </a:rPr>
              <a:t> </a:t>
            </a:r>
            <a:r>
              <a:rPr lang="en-US" sz="2000" dirty="0" err="1">
                <a:latin typeface="Calibri" pitchFamily="34" charset="0"/>
                <a:cs typeface="Calibri" pitchFamily="34" charset="0"/>
              </a:rPr>
              <a:t>int</a:t>
            </a:r>
            <a:r>
              <a:rPr lang="en-US" sz="2000" dirty="0">
                <a:latin typeface="Calibri" pitchFamily="34" charset="0"/>
                <a:cs typeface="Calibri" pitchFamily="34" charset="0"/>
              </a:rPr>
              <a:t> data;</a:t>
            </a:r>
          </a:p>
          <a:p>
            <a:r>
              <a:rPr lang="en-US" sz="2000" dirty="0">
                <a:latin typeface="Calibri" pitchFamily="34" charset="0"/>
                <a:cs typeface="Calibri" pitchFamily="34" charset="0"/>
              </a:rPr>
              <a:t> </a:t>
            </a:r>
            <a:r>
              <a:rPr lang="en-US" sz="2000" dirty="0" err="1">
                <a:latin typeface="Calibri" pitchFamily="34" charset="0"/>
                <a:cs typeface="Calibri" pitchFamily="34" charset="0"/>
              </a:rPr>
              <a:t>struct</a:t>
            </a:r>
            <a:r>
              <a:rPr lang="en-US" sz="2000" dirty="0">
                <a:latin typeface="Calibri" pitchFamily="34" charset="0"/>
                <a:cs typeface="Calibri" pitchFamily="34" charset="0"/>
              </a:rPr>
              <a:t> node *left;</a:t>
            </a:r>
          </a:p>
          <a:p>
            <a:r>
              <a:rPr lang="en-US" sz="2000" dirty="0">
                <a:latin typeface="Calibri" pitchFamily="34" charset="0"/>
                <a:cs typeface="Calibri" pitchFamily="34" charset="0"/>
              </a:rPr>
              <a:t> </a:t>
            </a:r>
            <a:r>
              <a:rPr lang="en-US" sz="2000" dirty="0" err="1">
                <a:latin typeface="Calibri" pitchFamily="34" charset="0"/>
                <a:cs typeface="Calibri" pitchFamily="34" charset="0"/>
              </a:rPr>
              <a:t>struct</a:t>
            </a:r>
            <a:r>
              <a:rPr lang="en-US" sz="2000" dirty="0">
                <a:latin typeface="Calibri" pitchFamily="34" charset="0"/>
                <a:cs typeface="Calibri" pitchFamily="34" charset="0"/>
              </a:rPr>
              <a:t> node *right;</a:t>
            </a:r>
          </a:p>
          <a:p>
            <a:r>
              <a:rPr lang="en-US" sz="2000" dirty="0" smtClean="0">
                <a:latin typeface="Calibri" pitchFamily="34" charset="0"/>
                <a:cs typeface="Calibri" pitchFamily="34" charset="0"/>
              </a:rPr>
              <a:t>}</a:t>
            </a:r>
            <a:r>
              <a:rPr lang="en-US" dirty="0" smtClean="0"/>
              <a:t>;</a:t>
            </a:r>
          </a:p>
          <a:p>
            <a:endParaRPr lang="en-US" dirty="0" smtClean="0"/>
          </a:p>
        </p:txBody>
      </p:sp>
      <p:sp>
        <p:nvSpPr>
          <p:cNvPr id="3" name="Title 2"/>
          <p:cNvSpPr>
            <a:spLocks noGrp="1"/>
          </p:cNvSpPr>
          <p:nvPr>
            <p:ph type="title"/>
          </p:nvPr>
        </p:nvSpPr>
        <p:spPr>
          <a:xfrm>
            <a:off x="457200" y="274638"/>
            <a:ext cx="8229600" cy="334962"/>
          </a:xfrm>
        </p:spPr>
        <p:txBody>
          <a:bodyPr>
            <a:normAutofit fontScale="90000"/>
          </a:bodyPr>
          <a:lstStyle/>
          <a:p>
            <a:r>
              <a:rPr lang="en-US" sz="2400" dirty="0">
                <a:effectLst/>
                <a:latin typeface="Calibri" pitchFamily="34" charset="0"/>
                <a:cs typeface="Calibri" pitchFamily="34" charset="0"/>
              </a:rPr>
              <a:t>Trees and Binary Trees</a:t>
            </a:r>
            <a:endParaRPr lang="en-IN" sz="2400" dirty="0">
              <a:latin typeface="Calibri" pitchFamily="34" charset="0"/>
              <a:cs typeface="Calibri" pitchFamily="34"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3254828"/>
            <a:ext cx="5676900" cy="233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09264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5245291"/>
          </a:xfrm>
        </p:spPr>
        <p:txBody>
          <a:bodyPr/>
          <a:lstStyle/>
          <a:p>
            <a:r>
              <a:rPr lang="en-IN" b="1" dirty="0"/>
              <a:t>Insertion</a:t>
            </a:r>
          </a:p>
          <a:p>
            <a:r>
              <a:rPr lang="en-US" sz="1800" dirty="0">
                <a:latin typeface="Calibri" pitchFamily="34" charset="0"/>
                <a:cs typeface="Calibri" pitchFamily="34" charset="0"/>
              </a:rPr>
              <a:t>Say we have to build a BST of the keys, 50, 80, 30, 20, 100, 40. It can be clearly seen below, for inserting, first the key is compared is compared with the root, if smaller then </a:t>
            </a:r>
            <a:r>
              <a:rPr lang="en-US" sz="1800" dirty="0" smtClean="0">
                <a:latin typeface="Calibri" pitchFamily="34" charset="0"/>
                <a:cs typeface="Calibri" pitchFamily="34" charset="0"/>
              </a:rPr>
              <a:t>go to </a:t>
            </a:r>
            <a:r>
              <a:rPr lang="en-US" sz="1800" dirty="0">
                <a:latin typeface="Calibri" pitchFamily="34" charset="0"/>
                <a:cs typeface="Calibri" pitchFamily="34" charset="0"/>
              </a:rPr>
              <a:t>Left </a:t>
            </a:r>
            <a:r>
              <a:rPr lang="en-US" sz="1800" dirty="0" smtClean="0">
                <a:latin typeface="Calibri" pitchFamily="34" charset="0"/>
                <a:cs typeface="Calibri" pitchFamily="34" charset="0"/>
              </a:rPr>
              <a:t>sub tree </a:t>
            </a:r>
            <a:r>
              <a:rPr lang="en-US" sz="1800" dirty="0">
                <a:latin typeface="Calibri" pitchFamily="34" charset="0"/>
                <a:cs typeface="Calibri" pitchFamily="34" charset="0"/>
              </a:rPr>
              <a:t>else Right </a:t>
            </a:r>
            <a:r>
              <a:rPr lang="en-US" sz="1800" dirty="0" smtClean="0">
                <a:latin typeface="Calibri" pitchFamily="34" charset="0"/>
                <a:cs typeface="Calibri" pitchFamily="34" charset="0"/>
              </a:rPr>
              <a:t>sub tree</a:t>
            </a:r>
            <a:r>
              <a:rPr lang="en-US" sz="1800" dirty="0">
                <a:latin typeface="Calibri" pitchFamily="34" charset="0"/>
                <a:cs typeface="Calibri" pitchFamily="34" charset="0"/>
              </a:rPr>
              <a:t>. The same step is repeated until all the keys are inserted.</a:t>
            </a:r>
          </a:p>
          <a:p>
            <a:endParaRPr lang="en-US" sz="1800" dirty="0">
              <a:latin typeface="Calibri" pitchFamily="34" charset="0"/>
              <a:cs typeface="Calibri" pitchFamily="34" charset="0"/>
            </a:endParaRPr>
          </a:p>
          <a:p>
            <a:endParaRPr lang="en-US" dirty="0" smtClean="0"/>
          </a:p>
        </p:txBody>
      </p:sp>
      <p:sp>
        <p:nvSpPr>
          <p:cNvPr id="3" name="Title 2"/>
          <p:cNvSpPr>
            <a:spLocks noGrp="1"/>
          </p:cNvSpPr>
          <p:nvPr>
            <p:ph type="title"/>
          </p:nvPr>
        </p:nvSpPr>
        <p:spPr>
          <a:xfrm>
            <a:off x="457200" y="274638"/>
            <a:ext cx="8229600" cy="334962"/>
          </a:xfrm>
        </p:spPr>
        <p:txBody>
          <a:bodyPr>
            <a:normAutofit fontScale="90000"/>
          </a:bodyPr>
          <a:lstStyle/>
          <a:p>
            <a:r>
              <a:rPr lang="en-US" sz="2400" dirty="0">
                <a:effectLst/>
                <a:latin typeface="Calibri" pitchFamily="34" charset="0"/>
                <a:cs typeface="Calibri" pitchFamily="34" charset="0"/>
              </a:rPr>
              <a:t>Trees and Binary Trees</a:t>
            </a:r>
            <a:endParaRPr lang="en-IN" sz="2400" dirty="0">
              <a:latin typeface="Calibri" pitchFamily="34" charset="0"/>
              <a:cs typeface="Calibri" pitchFamily="34"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362200"/>
            <a:ext cx="6410325" cy="338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9701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6172200"/>
          </a:xfrm>
        </p:spPr>
        <p:txBody>
          <a:bodyPr>
            <a:normAutofit fontScale="62500" lnSpcReduction="20000"/>
          </a:bodyPr>
          <a:lstStyle/>
          <a:p>
            <a:r>
              <a:rPr lang="en-US" dirty="0" smtClean="0">
                <a:latin typeface="Calibri" pitchFamily="34" charset="0"/>
                <a:cs typeface="Calibri" pitchFamily="34" charset="0"/>
              </a:rPr>
              <a:t>Algorithm</a:t>
            </a:r>
          </a:p>
          <a:p>
            <a:r>
              <a:rPr lang="en-US" dirty="0" smtClean="0">
                <a:latin typeface="Calibri" pitchFamily="34" charset="0"/>
                <a:cs typeface="Calibri" pitchFamily="34" charset="0"/>
              </a:rPr>
              <a:t> </a:t>
            </a:r>
            <a:r>
              <a:rPr lang="en-US" dirty="0">
                <a:latin typeface="Calibri" pitchFamily="34" charset="0"/>
                <a:cs typeface="Calibri" pitchFamily="34" charset="0"/>
              </a:rPr>
              <a:t>Create a new BST node and assign values to it.</a:t>
            </a:r>
          </a:p>
          <a:p>
            <a:endParaRPr lang="en-US" dirty="0">
              <a:latin typeface="Calibri" pitchFamily="34" charset="0"/>
              <a:cs typeface="Calibri" pitchFamily="34" charset="0"/>
            </a:endParaRPr>
          </a:p>
          <a:p>
            <a:r>
              <a:rPr lang="en-US" dirty="0">
                <a:latin typeface="Calibri" pitchFamily="34" charset="0"/>
                <a:cs typeface="Calibri" pitchFamily="34" charset="0"/>
              </a:rPr>
              <a:t>2. insert(node, key)</a:t>
            </a:r>
          </a:p>
          <a:p>
            <a:endParaRPr lang="en-US" dirty="0">
              <a:latin typeface="Calibri" pitchFamily="34" charset="0"/>
              <a:cs typeface="Calibri" pitchFamily="34" charset="0"/>
            </a:endParaRPr>
          </a:p>
          <a:p>
            <a:r>
              <a:rPr lang="en-US" dirty="0">
                <a:latin typeface="Calibri" pitchFamily="34" charset="0"/>
                <a:cs typeface="Calibri" pitchFamily="34" charset="0"/>
              </a:rPr>
              <a:t>     i) If root == NULL,</a:t>
            </a:r>
          </a:p>
          <a:p>
            <a:endParaRPr lang="en-US" dirty="0">
              <a:latin typeface="Calibri" pitchFamily="34" charset="0"/>
              <a:cs typeface="Calibri" pitchFamily="34" charset="0"/>
            </a:endParaRPr>
          </a:p>
          <a:p>
            <a:r>
              <a:rPr lang="en-US" dirty="0">
                <a:latin typeface="Calibri" pitchFamily="34" charset="0"/>
                <a:cs typeface="Calibri" pitchFamily="34" charset="0"/>
              </a:rPr>
              <a:t>         return the new node to the calling function.</a:t>
            </a:r>
          </a:p>
          <a:p>
            <a:endParaRPr lang="en-US" dirty="0">
              <a:latin typeface="Calibri" pitchFamily="34" charset="0"/>
              <a:cs typeface="Calibri" pitchFamily="34" charset="0"/>
            </a:endParaRPr>
          </a:p>
          <a:p>
            <a:r>
              <a:rPr lang="en-US" dirty="0">
                <a:latin typeface="Calibri" pitchFamily="34" charset="0"/>
                <a:cs typeface="Calibri" pitchFamily="34" charset="0"/>
              </a:rPr>
              <a:t>     ii) if root=&gt;data &lt; key</a:t>
            </a:r>
          </a:p>
          <a:p>
            <a:endParaRPr lang="en-US" dirty="0">
              <a:latin typeface="Calibri" pitchFamily="34" charset="0"/>
              <a:cs typeface="Calibri" pitchFamily="34" charset="0"/>
            </a:endParaRPr>
          </a:p>
          <a:p>
            <a:r>
              <a:rPr lang="en-US" dirty="0">
                <a:latin typeface="Calibri" pitchFamily="34" charset="0"/>
                <a:cs typeface="Calibri" pitchFamily="34" charset="0"/>
              </a:rPr>
              <a:t>         call the insert function with root=&gt;right and assign the return value in root=&gt;right.</a:t>
            </a:r>
          </a:p>
          <a:p>
            <a:endParaRPr lang="en-US" dirty="0">
              <a:latin typeface="Calibri" pitchFamily="34" charset="0"/>
              <a:cs typeface="Calibri" pitchFamily="34" charset="0"/>
            </a:endParaRPr>
          </a:p>
          <a:p>
            <a:r>
              <a:rPr lang="en-US" dirty="0">
                <a:latin typeface="Calibri" pitchFamily="34" charset="0"/>
                <a:cs typeface="Calibri" pitchFamily="34" charset="0"/>
              </a:rPr>
              <a:t>        root-&gt;right = insert(root=&gt;</a:t>
            </a:r>
            <a:r>
              <a:rPr lang="en-US" dirty="0" err="1">
                <a:latin typeface="Calibri" pitchFamily="34" charset="0"/>
                <a:cs typeface="Calibri" pitchFamily="34" charset="0"/>
              </a:rPr>
              <a:t>right,key</a:t>
            </a:r>
            <a:r>
              <a:rPr lang="en-US" dirty="0">
                <a:latin typeface="Calibri" pitchFamily="34" charset="0"/>
                <a:cs typeface="Calibri" pitchFamily="34" charset="0"/>
              </a:rPr>
              <a:t>)</a:t>
            </a:r>
          </a:p>
          <a:p>
            <a:endParaRPr lang="en-US" dirty="0">
              <a:latin typeface="Calibri" pitchFamily="34" charset="0"/>
              <a:cs typeface="Calibri" pitchFamily="34" charset="0"/>
            </a:endParaRPr>
          </a:p>
          <a:p>
            <a:r>
              <a:rPr lang="en-US" dirty="0">
                <a:latin typeface="Calibri" pitchFamily="34" charset="0"/>
                <a:cs typeface="Calibri" pitchFamily="34" charset="0"/>
              </a:rPr>
              <a:t>     iii) if root=&gt;data &gt; key</a:t>
            </a:r>
          </a:p>
          <a:p>
            <a:endParaRPr lang="en-US" dirty="0">
              <a:latin typeface="Calibri" pitchFamily="34" charset="0"/>
              <a:cs typeface="Calibri" pitchFamily="34" charset="0"/>
            </a:endParaRPr>
          </a:p>
          <a:p>
            <a:r>
              <a:rPr lang="en-US" dirty="0">
                <a:latin typeface="Calibri" pitchFamily="34" charset="0"/>
                <a:cs typeface="Calibri" pitchFamily="34" charset="0"/>
              </a:rPr>
              <a:t>         call the insert function with root-&gt;left and assign the return value in root=&gt;left.</a:t>
            </a:r>
          </a:p>
          <a:p>
            <a:endParaRPr lang="en-US" dirty="0">
              <a:latin typeface="Calibri" pitchFamily="34" charset="0"/>
              <a:cs typeface="Calibri" pitchFamily="34" charset="0"/>
            </a:endParaRPr>
          </a:p>
          <a:p>
            <a:r>
              <a:rPr lang="en-US" dirty="0">
                <a:latin typeface="Calibri" pitchFamily="34" charset="0"/>
                <a:cs typeface="Calibri" pitchFamily="34" charset="0"/>
              </a:rPr>
              <a:t>         root=&gt;left = insert(root=&gt;</a:t>
            </a:r>
            <a:r>
              <a:rPr lang="en-US" dirty="0" err="1">
                <a:latin typeface="Calibri" pitchFamily="34" charset="0"/>
                <a:cs typeface="Calibri" pitchFamily="34" charset="0"/>
              </a:rPr>
              <a:t>left,key</a:t>
            </a:r>
            <a:r>
              <a:rPr lang="en-US" dirty="0">
                <a:latin typeface="Calibri" pitchFamily="34" charset="0"/>
                <a:cs typeface="Calibri" pitchFamily="34" charset="0"/>
              </a:rPr>
              <a:t>)</a:t>
            </a:r>
          </a:p>
          <a:p>
            <a:endParaRPr lang="en-US" dirty="0">
              <a:latin typeface="Calibri" pitchFamily="34" charset="0"/>
              <a:cs typeface="Calibri" pitchFamily="34" charset="0"/>
            </a:endParaRPr>
          </a:p>
          <a:p>
            <a:r>
              <a:rPr lang="en-US" dirty="0">
                <a:latin typeface="Calibri" pitchFamily="34" charset="0"/>
                <a:cs typeface="Calibri" pitchFamily="34" charset="0"/>
              </a:rPr>
              <a:t>3. Finally, return the original root pointer to the calling function.</a:t>
            </a:r>
            <a:endParaRPr lang="en-US" dirty="0" smtClean="0">
              <a:latin typeface="Calibri" pitchFamily="34" charset="0"/>
              <a:cs typeface="Calibri" pitchFamily="34" charset="0"/>
            </a:endParaRPr>
          </a:p>
        </p:txBody>
      </p:sp>
      <p:sp>
        <p:nvSpPr>
          <p:cNvPr id="3" name="Title 2"/>
          <p:cNvSpPr>
            <a:spLocks noGrp="1"/>
          </p:cNvSpPr>
          <p:nvPr>
            <p:ph type="title"/>
          </p:nvPr>
        </p:nvSpPr>
        <p:spPr>
          <a:xfrm>
            <a:off x="457200" y="274638"/>
            <a:ext cx="8229600" cy="334962"/>
          </a:xfrm>
        </p:spPr>
        <p:txBody>
          <a:bodyPr>
            <a:normAutofit fontScale="90000"/>
          </a:bodyPr>
          <a:lstStyle/>
          <a:p>
            <a:r>
              <a:rPr lang="en-US" sz="2400" dirty="0">
                <a:effectLst/>
                <a:latin typeface="Calibri" pitchFamily="34" charset="0"/>
                <a:cs typeface="Calibri" pitchFamily="34" charset="0"/>
              </a:rPr>
              <a:t>Trees and Binary Trees</a:t>
            </a:r>
            <a:endParaRPr lang="en-IN" sz="2400" dirty="0">
              <a:latin typeface="Calibri" pitchFamily="34" charset="0"/>
              <a:cs typeface="Calibri" pitchFamily="34" charset="0"/>
            </a:endParaRPr>
          </a:p>
        </p:txBody>
      </p:sp>
    </p:spTree>
    <p:extLst>
      <p:ext uri="{BB962C8B-B14F-4D97-AF65-F5344CB8AC3E}">
        <p14:creationId xmlns:p14="http://schemas.microsoft.com/office/powerpoint/2010/main" val="3624300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6172200"/>
          </a:xfrm>
        </p:spPr>
        <p:txBody>
          <a:bodyPr>
            <a:normAutofit/>
          </a:bodyPr>
          <a:lstStyle/>
          <a:p>
            <a:r>
              <a:rPr lang="en-IN" b="1" dirty="0"/>
              <a:t>Deletion</a:t>
            </a:r>
          </a:p>
          <a:p>
            <a:r>
              <a:rPr lang="en-IN" sz="1800" dirty="0"/>
              <a:t>1.Leaf Node</a:t>
            </a:r>
          </a:p>
          <a:p>
            <a:r>
              <a:rPr lang="en-US" sz="1800" dirty="0"/>
              <a:t>If the node is leaf (both left and right will be NULL), remove the node directly and free its memory</a:t>
            </a:r>
            <a:r>
              <a:rPr lang="en-US" sz="1800" dirty="0" smtClean="0"/>
              <a:t>.</a:t>
            </a:r>
          </a:p>
          <a:p>
            <a:r>
              <a:rPr lang="en-US" sz="1800" dirty="0">
                <a:latin typeface="Calibri" pitchFamily="34" charset="0"/>
                <a:cs typeface="Calibri" pitchFamily="34" charset="0"/>
              </a:rPr>
              <a:t> 100                              </a:t>
            </a:r>
            <a:r>
              <a:rPr lang="en-US" sz="1800" dirty="0" smtClean="0">
                <a:latin typeface="Calibri" pitchFamily="34" charset="0"/>
                <a:cs typeface="Calibri" pitchFamily="34" charset="0"/>
              </a:rPr>
              <a:t>      100</a:t>
            </a:r>
            <a:endParaRPr lang="en-US" sz="1800" dirty="0">
              <a:latin typeface="Calibri" pitchFamily="34" charset="0"/>
              <a:cs typeface="Calibri" pitchFamily="34" charset="0"/>
            </a:endParaRPr>
          </a:p>
          <a:p>
            <a:r>
              <a:rPr lang="en-US" sz="1800" dirty="0">
                <a:latin typeface="Calibri" pitchFamily="34" charset="0"/>
                <a:cs typeface="Calibri" pitchFamily="34" charset="0"/>
              </a:rPr>
              <a:t>  / \                              </a:t>
            </a:r>
            <a:r>
              <a:rPr lang="en-US" sz="1800" dirty="0" smtClean="0">
                <a:latin typeface="Calibri" pitchFamily="34" charset="0"/>
                <a:cs typeface="Calibri" pitchFamily="34" charset="0"/>
              </a:rPr>
              <a:t>         / </a:t>
            </a:r>
            <a:r>
              <a:rPr lang="en-US" sz="1800" dirty="0">
                <a:latin typeface="Calibri" pitchFamily="34" charset="0"/>
                <a:cs typeface="Calibri" pitchFamily="34" charset="0"/>
              </a:rPr>
              <a:t>\</a:t>
            </a:r>
          </a:p>
          <a:p>
            <a:r>
              <a:rPr lang="en-US" sz="1800" dirty="0">
                <a:latin typeface="Calibri" pitchFamily="34" charset="0"/>
                <a:cs typeface="Calibri" pitchFamily="34" charset="0"/>
              </a:rPr>
              <a:t>50  200  </a:t>
            </a:r>
            <a:r>
              <a:rPr lang="en-US" sz="1800" dirty="0" smtClean="0">
                <a:latin typeface="Calibri" pitchFamily="34" charset="0"/>
                <a:cs typeface="Calibri" pitchFamily="34" charset="0"/>
              </a:rPr>
              <a:t>  delete(300</a:t>
            </a:r>
            <a:r>
              <a:rPr lang="en-US" sz="1800" dirty="0">
                <a:latin typeface="Calibri" pitchFamily="34" charset="0"/>
                <a:cs typeface="Calibri" pitchFamily="34" charset="0"/>
              </a:rPr>
              <a:t>)       50  200</a:t>
            </a:r>
          </a:p>
          <a:p>
            <a:r>
              <a:rPr lang="en-US" sz="1800" dirty="0">
                <a:latin typeface="Calibri" pitchFamily="34" charset="0"/>
                <a:cs typeface="Calibri" pitchFamily="34" charset="0"/>
              </a:rPr>
              <a:t>    / \                              </a:t>
            </a:r>
            <a:r>
              <a:rPr lang="en-US" sz="1800" dirty="0" smtClean="0">
                <a:latin typeface="Calibri" pitchFamily="34" charset="0"/>
                <a:cs typeface="Calibri" pitchFamily="34" charset="0"/>
              </a:rPr>
              <a:t>     </a:t>
            </a:r>
            <a:r>
              <a:rPr lang="en-US" sz="1800" dirty="0">
                <a:latin typeface="Calibri" pitchFamily="34" charset="0"/>
                <a:cs typeface="Calibri" pitchFamily="34" charset="0"/>
              </a:rPr>
              <a:t>/</a:t>
            </a:r>
          </a:p>
          <a:p>
            <a:r>
              <a:rPr lang="en-US" sz="1800" dirty="0">
                <a:latin typeface="Calibri" pitchFamily="34" charset="0"/>
                <a:cs typeface="Calibri" pitchFamily="34" charset="0"/>
              </a:rPr>
              <a:t>  150  300                         </a:t>
            </a:r>
            <a:r>
              <a:rPr lang="en-US" sz="1800" dirty="0" smtClean="0">
                <a:latin typeface="Calibri" pitchFamily="34" charset="0"/>
                <a:cs typeface="Calibri" pitchFamily="34" charset="0"/>
              </a:rPr>
              <a:t>150</a:t>
            </a:r>
          </a:p>
          <a:p>
            <a:r>
              <a:rPr lang="en-US" sz="1800" dirty="0"/>
              <a:t>If the node has only right child (left will be NULL), make the node points to the right node and free the node</a:t>
            </a:r>
            <a:r>
              <a:rPr lang="en-US" sz="1800" dirty="0" smtClean="0"/>
              <a:t>.</a:t>
            </a:r>
          </a:p>
          <a:p>
            <a:r>
              <a:rPr lang="en-US" sz="1800" dirty="0">
                <a:latin typeface="Calibri" pitchFamily="34" charset="0"/>
                <a:cs typeface="Calibri" pitchFamily="34" charset="0"/>
              </a:rPr>
              <a:t> 100                              </a:t>
            </a:r>
            <a:r>
              <a:rPr lang="en-US" sz="1800" dirty="0" smtClean="0">
                <a:latin typeface="Calibri" pitchFamily="34" charset="0"/>
                <a:cs typeface="Calibri" pitchFamily="34" charset="0"/>
              </a:rPr>
              <a:t>                100</a:t>
            </a:r>
            <a:endParaRPr lang="en-US" sz="1800" dirty="0">
              <a:latin typeface="Calibri" pitchFamily="34" charset="0"/>
              <a:cs typeface="Calibri" pitchFamily="34" charset="0"/>
            </a:endParaRPr>
          </a:p>
          <a:p>
            <a:r>
              <a:rPr lang="en-US" sz="1800" dirty="0">
                <a:latin typeface="Calibri" pitchFamily="34" charset="0"/>
                <a:cs typeface="Calibri" pitchFamily="34" charset="0"/>
              </a:rPr>
              <a:t>  / \                            </a:t>
            </a:r>
            <a:r>
              <a:rPr lang="en-US" sz="1800" dirty="0" smtClean="0">
                <a:latin typeface="Calibri" pitchFamily="34" charset="0"/>
                <a:cs typeface="Calibri" pitchFamily="34" charset="0"/>
              </a:rPr>
              <a:t>                    </a:t>
            </a:r>
            <a:r>
              <a:rPr lang="en-US" sz="1800" dirty="0">
                <a:latin typeface="Calibri" pitchFamily="34" charset="0"/>
                <a:cs typeface="Calibri" pitchFamily="34" charset="0"/>
              </a:rPr>
              <a:t>/ \</a:t>
            </a:r>
          </a:p>
          <a:p>
            <a:r>
              <a:rPr lang="en-US" sz="1800" dirty="0">
                <a:latin typeface="Calibri" pitchFamily="34" charset="0"/>
                <a:cs typeface="Calibri" pitchFamily="34" charset="0"/>
              </a:rPr>
              <a:t>50  200         delete(200)       50 300</a:t>
            </a:r>
          </a:p>
          <a:p>
            <a:r>
              <a:rPr lang="en-US" sz="1800" dirty="0">
                <a:latin typeface="Calibri" pitchFamily="34" charset="0"/>
                <a:cs typeface="Calibri" pitchFamily="34" charset="0"/>
              </a:rPr>
              <a:t>      \</a:t>
            </a:r>
          </a:p>
          <a:p>
            <a:r>
              <a:rPr lang="en-US" sz="1800" dirty="0">
                <a:latin typeface="Calibri" pitchFamily="34" charset="0"/>
                <a:cs typeface="Calibri" pitchFamily="34" charset="0"/>
              </a:rPr>
              <a:t>      300</a:t>
            </a:r>
            <a:endParaRPr lang="en-US" sz="1800" dirty="0" smtClean="0">
              <a:latin typeface="Calibri" pitchFamily="34" charset="0"/>
              <a:cs typeface="Calibri" pitchFamily="34" charset="0"/>
            </a:endParaRPr>
          </a:p>
        </p:txBody>
      </p:sp>
      <p:sp>
        <p:nvSpPr>
          <p:cNvPr id="3" name="Title 2"/>
          <p:cNvSpPr>
            <a:spLocks noGrp="1"/>
          </p:cNvSpPr>
          <p:nvPr>
            <p:ph type="title"/>
          </p:nvPr>
        </p:nvSpPr>
        <p:spPr>
          <a:xfrm>
            <a:off x="457200" y="274638"/>
            <a:ext cx="8229600" cy="334962"/>
          </a:xfrm>
        </p:spPr>
        <p:txBody>
          <a:bodyPr>
            <a:normAutofit fontScale="90000"/>
          </a:bodyPr>
          <a:lstStyle/>
          <a:p>
            <a:r>
              <a:rPr lang="en-US" sz="2400" dirty="0">
                <a:effectLst/>
                <a:latin typeface="Calibri" pitchFamily="34" charset="0"/>
                <a:cs typeface="Calibri" pitchFamily="34" charset="0"/>
              </a:rPr>
              <a:t>Trees and Binary Trees</a:t>
            </a:r>
            <a:endParaRPr lang="en-IN" sz="2400" dirty="0">
              <a:latin typeface="Calibri" pitchFamily="34" charset="0"/>
              <a:cs typeface="Calibri" pitchFamily="34" charset="0"/>
            </a:endParaRPr>
          </a:p>
        </p:txBody>
      </p:sp>
    </p:spTree>
    <p:extLst>
      <p:ext uri="{BB962C8B-B14F-4D97-AF65-F5344CB8AC3E}">
        <p14:creationId xmlns:p14="http://schemas.microsoft.com/office/powerpoint/2010/main" val="637863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6172200"/>
          </a:xfrm>
        </p:spPr>
        <p:txBody>
          <a:bodyPr>
            <a:normAutofit/>
          </a:bodyPr>
          <a:lstStyle/>
          <a:p>
            <a:r>
              <a:rPr lang="en-US" sz="1800" dirty="0"/>
              <a:t>If the node has only left child (right will be NULL), make the node points to the left node and free the node</a:t>
            </a:r>
            <a:r>
              <a:rPr lang="en-US" sz="1800" dirty="0" smtClean="0"/>
              <a:t>.</a:t>
            </a:r>
          </a:p>
          <a:p>
            <a:r>
              <a:rPr lang="en-US" sz="1800" dirty="0">
                <a:latin typeface="Calibri" pitchFamily="34" charset="0"/>
                <a:cs typeface="Calibri" pitchFamily="34" charset="0"/>
              </a:rPr>
              <a:t> 100                              </a:t>
            </a:r>
            <a:r>
              <a:rPr lang="en-US" sz="1800" dirty="0" smtClean="0">
                <a:latin typeface="Calibri" pitchFamily="34" charset="0"/>
                <a:cs typeface="Calibri" pitchFamily="34" charset="0"/>
              </a:rPr>
              <a:t>               100</a:t>
            </a:r>
            <a:endParaRPr lang="en-US" sz="1800" dirty="0">
              <a:latin typeface="Calibri" pitchFamily="34" charset="0"/>
              <a:cs typeface="Calibri" pitchFamily="34" charset="0"/>
            </a:endParaRPr>
          </a:p>
          <a:p>
            <a:r>
              <a:rPr lang="en-US" sz="1800" dirty="0">
                <a:latin typeface="Calibri" pitchFamily="34" charset="0"/>
                <a:cs typeface="Calibri" pitchFamily="34" charset="0"/>
              </a:rPr>
              <a:t>  / \                             </a:t>
            </a:r>
            <a:r>
              <a:rPr lang="en-US" sz="1800" dirty="0" smtClean="0">
                <a:latin typeface="Calibri" pitchFamily="34" charset="0"/>
                <a:cs typeface="Calibri" pitchFamily="34" charset="0"/>
              </a:rPr>
              <a:t>                  </a:t>
            </a:r>
            <a:r>
              <a:rPr lang="en-US" sz="1800" dirty="0">
                <a:latin typeface="Calibri" pitchFamily="34" charset="0"/>
                <a:cs typeface="Calibri" pitchFamily="34" charset="0"/>
              </a:rPr>
              <a:t>/ \</a:t>
            </a:r>
          </a:p>
          <a:p>
            <a:r>
              <a:rPr lang="en-US" sz="1800" dirty="0">
                <a:latin typeface="Calibri" pitchFamily="34" charset="0"/>
                <a:cs typeface="Calibri" pitchFamily="34" charset="0"/>
              </a:rPr>
              <a:t>50  200         delete(200)       50 150</a:t>
            </a:r>
          </a:p>
          <a:p>
            <a:r>
              <a:rPr lang="en-US" sz="1800" dirty="0">
                <a:latin typeface="Calibri" pitchFamily="34" charset="0"/>
                <a:cs typeface="Calibri" pitchFamily="34" charset="0"/>
              </a:rPr>
              <a:t>    /</a:t>
            </a:r>
          </a:p>
          <a:p>
            <a:r>
              <a:rPr lang="en-US" sz="1800" dirty="0">
                <a:latin typeface="Calibri" pitchFamily="34" charset="0"/>
                <a:cs typeface="Calibri" pitchFamily="34" charset="0"/>
              </a:rPr>
              <a:t>  150</a:t>
            </a:r>
          </a:p>
          <a:p>
            <a:r>
              <a:rPr lang="en-US" sz="1800" dirty="0"/>
              <a:t>.Node has both left and right child</a:t>
            </a:r>
          </a:p>
          <a:p>
            <a:r>
              <a:rPr lang="en-US" sz="1800" dirty="0">
                <a:latin typeface="Calibri" pitchFamily="34" charset="0"/>
                <a:cs typeface="Calibri" pitchFamily="34" charset="0"/>
              </a:rPr>
              <a:t>If the node has both left and right child,</a:t>
            </a:r>
          </a:p>
          <a:p>
            <a:endParaRPr lang="en-US" sz="1800" dirty="0">
              <a:latin typeface="Calibri" pitchFamily="34" charset="0"/>
              <a:cs typeface="Calibri" pitchFamily="34" charset="0"/>
            </a:endParaRPr>
          </a:p>
          <a:p>
            <a:r>
              <a:rPr lang="en-US" sz="1800" dirty="0">
                <a:latin typeface="Calibri" pitchFamily="34" charset="0"/>
                <a:cs typeface="Calibri" pitchFamily="34" charset="0"/>
              </a:rPr>
              <a:t>1.find the smallest node in the right </a:t>
            </a:r>
            <a:r>
              <a:rPr lang="en-US" sz="1800" dirty="0" err="1">
                <a:latin typeface="Calibri" pitchFamily="34" charset="0"/>
                <a:cs typeface="Calibri" pitchFamily="34" charset="0"/>
              </a:rPr>
              <a:t>subtree</a:t>
            </a:r>
            <a:r>
              <a:rPr lang="en-US" sz="1800" dirty="0">
                <a:latin typeface="Calibri" pitchFamily="34" charset="0"/>
                <a:cs typeface="Calibri" pitchFamily="34" charset="0"/>
              </a:rPr>
              <a:t>. say min</a:t>
            </a:r>
          </a:p>
          <a:p>
            <a:endParaRPr lang="en-US" sz="1800" dirty="0">
              <a:latin typeface="Calibri" pitchFamily="34" charset="0"/>
              <a:cs typeface="Calibri" pitchFamily="34" charset="0"/>
            </a:endParaRPr>
          </a:p>
          <a:p>
            <a:r>
              <a:rPr lang="en-US" sz="1800" dirty="0">
                <a:latin typeface="Calibri" pitchFamily="34" charset="0"/>
                <a:cs typeface="Calibri" pitchFamily="34" charset="0"/>
              </a:rPr>
              <a:t>2.make node-&gt;data = min</a:t>
            </a:r>
          </a:p>
          <a:p>
            <a:endParaRPr lang="en-US" sz="1800" dirty="0">
              <a:latin typeface="Calibri" pitchFamily="34" charset="0"/>
              <a:cs typeface="Calibri" pitchFamily="34" charset="0"/>
            </a:endParaRPr>
          </a:p>
          <a:p>
            <a:r>
              <a:rPr lang="en-US" sz="1800" dirty="0">
                <a:latin typeface="Calibri" pitchFamily="34" charset="0"/>
                <a:cs typeface="Calibri" pitchFamily="34" charset="0"/>
              </a:rPr>
              <a:t>3.Again delete the min node.</a:t>
            </a:r>
            <a:endParaRPr lang="en-US" sz="1800" dirty="0" smtClean="0">
              <a:latin typeface="Calibri" pitchFamily="34" charset="0"/>
              <a:cs typeface="Calibri" pitchFamily="34" charset="0"/>
            </a:endParaRPr>
          </a:p>
        </p:txBody>
      </p:sp>
      <p:sp>
        <p:nvSpPr>
          <p:cNvPr id="3" name="Title 2"/>
          <p:cNvSpPr>
            <a:spLocks noGrp="1"/>
          </p:cNvSpPr>
          <p:nvPr>
            <p:ph type="title"/>
          </p:nvPr>
        </p:nvSpPr>
        <p:spPr>
          <a:xfrm>
            <a:off x="457200" y="274638"/>
            <a:ext cx="8229600" cy="334962"/>
          </a:xfrm>
        </p:spPr>
        <p:txBody>
          <a:bodyPr>
            <a:normAutofit fontScale="90000"/>
          </a:bodyPr>
          <a:lstStyle/>
          <a:p>
            <a:r>
              <a:rPr lang="en-US" sz="2400" dirty="0">
                <a:effectLst/>
                <a:latin typeface="Calibri" pitchFamily="34" charset="0"/>
                <a:cs typeface="Calibri" pitchFamily="34" charset="0"/>
              </a:rPr>
              <a:t>Trees and Binary Trees</a:t>
            </a:r>
            <a:endParaRPr lang="en-IN" sz="2400" dirty="0">
              <a:latin typeface="Calibri" pitchFamily="34" charset="0"/>
              <a:cs typeface="Calibri" pitchFamily="34" charset="0"/>
            </a:endParaRPr>
          </a:p>
        </p:txBody>
      </p:sp>
    </p:spTree>
    <p:extLst>
      <p:ext uri="{BB962C8B-B14F-4D97-AF65-F5344CB8AC3E}">
        <p14:creationId xmlns:p14="http://schemas.microsoft.com/office/powerpoint/2010/main" val="2301605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6172200"/>
          </a:xfrm>
        </p:spPr>
        <p:txBody>
          <a:bodyPr>
            <a:normAutofit/>
          </a:bodyPr>
          <a:lstStyle/>
          <a:p>
            <a:pPr marL="109728" indent="0">
              <a:buNone/>
            </a:pPr>
            <a:r>
              <a:rPr lang="en-US" sz="1800" dirty="0" smtClean="0">
                <a:latin typeface="Calibri" pitchFamily="34" charset="0"/>
                <a:cs typeface="Calibri" pitchFamily="34" charset="0"/>
              </a:rPr>
              <a:t>                                                                                   (</a:t>
            </a:r>
            <a:r>
              <a:rPr lang="en-US" sz="1800" dirty="0">
                <a:latin typeface="Calibri" pitchFamily="34" charset="0"/>
                <a:cs typeface="Calibri" pitchFamily="34" charset="0"/>
              </a:rPr>
              <a:t>step 2)     </a:t>
            </a:r>
            <a:r>
              <a:rPr lang="en-US" sz="1800" dirty="0" smtClean="0">
                <a:latin typeface="Calibri" pitchFamily="34" charset="0"/>
                <a:cs typeface="Calibri" pitchFamily="34" charset="0"/>
              </a:rPr>
              <a:t>         </a:t>
            </a:r>
            <a:endParaRPr lang="en-US" sz="1800" dirty="0">
              <a:latin typeface="Calibri" pitchFamily="34" charset="0"/>
              <a:cs typeface="Calibri" pitchFamily="34" charset="0"/>
            </a:endParaRPr>
          </a:p>
          <a:p>
            <a:r>
              <a:rPr lang="en-US" sz="1800" dirty="0">
                <a:latin typeface="Calibri" pitchFamily="34" charset="0"/>
                <a:cs typeface="Calibri" pitchFamily="34" charset="0"/>
              </a:rPr>
              <a:t>  100                                           </a:t>
            </a:r>
            <a:r>
              <a:rPr lang="en-US" sz="1800" dirty="0" smtClean="0">
                <a:latin typeface="Calibri" pitchFamily="34" charset="0"/>
                <a:cs typeface="Calibri" pitchFamily="34" charset="0"/>
              </a:rPr>
              <a:t>                                 100 </a:t>
            </a:r>
          </a:p>
          <a:p>
            <a:r>
              <a:rPr lang="en-US" sz="1800" dirty="0">
                <a:latin typeface="Calibri" pitchFamily="34" charset="0"/>
                <a:cs typeface="Calibri" pitchFamily="34" charset="0"/>
              </a:rPr>
              <a:t> </a:t>
            </a:r>
            <a:r>
              <a:rPr lang="en-US" sz="1800" dirty="0" smtClean="0">
                <a:latin typeface="Calibri" pitchFamily="34" charset="0"/>
                <a:cs typeface="Calibri" pitchFamily="34" charset="0"/>
              </a:rPr>
              <a:t>  / </a:t>
            </a:r>
            <a:r>
              <a:rPr lang="en-US" sz="1800" dirty="0">
                <a:latin typeface="Calibri" pitchFamily="34" charset="0"/>
                <a:cs typeface="Calibri" pitchFamily="34" charset="0"/>
              </a:rPr>
              <a:t>\                                           </a:t>
            </a:r>
            <a:r>
              <a:rPr lang="en-US" sz="1800" dirty="0" smtClean="0">
                <a:latin typeface="Calibri" pitchFamily="34" charset="0"/>
                <a:cs typeface="Calibri" pitchFamily="34" charset="0"/>
              </a:rPr>
              <a:t>                                    / \</a:t>
            </a:r>
            <a:endParaRPr lang="en-US" sz="1800" dirty="0">
              <a:latin typeface="Calibri" pitchFamily="34" charset="0"/>
              <a:cs typeface="Calibri" pitchFamily="34" charset="0"/>
            </a:endParaRPr>
          </a:p>
          <a:p>
            <a:r>
              <a:rPr lang="en-US" sz="1800" dirty="0">
                <a:latin typeface="Calibri" pitchFamily="34" charset="0"/>
                <a:cs typeface="Calibri" pitchFamily="34" charset="0"/>
              </a:rPr>
              <a:t>50  200         delete(200) </a:t>
            </a:r>
            <a:r>
              <a:rPr lang="en-US" sz="1800" dirty="0" smtClean="0">
                <a:latin typeface="Calibri" pitchFamily="34" charset="0"/>
                <a:cs typeface="Calibri" pitchFamily="34" charset="0"/>
              </a:rPr>
              <a:t>                                     50  </a:t>
            </a:r>
            <a:r>
              <a:rPr lang="en-US" sz="1800" dirty="0">
                <a:latin typeface="Calibri" pitchFamily="34" charset="0"/>
                <a:cs typeface="Calibri" pitchFamily="34" charset="0"/>
              </a:rPr>
              <a:t>300</a:t>
            </a:r>
          </a:p>
          <a:p>
            <a:r>
              <a:rPr lang="en-US" sz="1800" dirty="0">
                <a:latin typeface="Calibri" pitchFamily="34" charset="0"/>
                <a:cs typeface="Calibri" pitchFamily="34" charset="0"/>
              </a:rPr>
              <a:t>   </a:t>
            </a:r>
            <a:r>
              <a:rPr lang="en-US" sz="1800" dirty="0" smtClean="0">
                <a:latin typeface="Calibri" pitchFamily="34" charset="0"/>
                <a:cs typeface="Calibri" pitchFamily="34" charset="0"/>
              </a:rPr>
              <a:t>    </a:t>
            </a:r>
            <a:r>
              <a:rPr lang="en-US" sz="1800" dirty="0">
                <a:latin typeface="Calibri" pitchFamily="34" charset="0"/>
                <a:cs typeface="Calibri" pitchFamily="34" charset="0"/>
              </a:rPr>
              <a:t>/ \         (right </a:t>
            </a:r>
            <a:r>
              <a:rPr lang="en-US" sz="1800" dirty="0" err="1">
                <a:latin typeface="Calibri" pitchFamily="34" charset="0"/>
                <a:cs typeface="Calibri" pitchFamily="34" charset="0"/>
              </a:rPr>
              <a:t>subtree</a:t>
            </a:r>
            <a:r>
              <a:rPr lang="en-US" sz="1800" dirty="0">
                <a:latin typeface="Calibri" pitchFamily="34" charset="0"/>
                <a:cs typeface="Calibri" pitchFamily="34" charset="0"/>
              </a:rPr>
              <a:t> min = </a:t>
            </a:r>
            <a:r>
              <a:rPr lang="en-US" sz="1800" dirty="0" smtClean="0">
                <a:latin typeface="Calibri" pitchFamily="34" charset="0"/>
                <a:cs typeface="Calibri" pitchFamily="34" charset="0"/>
              </a:rPr>
              <a:t>300                          /   </a:t>
            </a:r>
            <a:endParaRPr lang="en-US" sz="1800" dirty="0">
              <a:latin typeface="Calibri" pitchFamily="34" charset="0"/>
              <a:cs typeface="Calibri" pitchFamily="34" charset="0"/>
            </a:endParaRPr>
          </a:p>
          <a:p>
            <a:r>
              <a:rPr lang="en-US" sz="1800" dirty="0">
                <a:latin typeface="Calibri" pitchFamily="34" charset="0"/>
                <a:cs typeface="Calibri" pitchFamily="34" charset="0"/>
              </a:rPr>
              <a:t>  150  300      (step 1</a:t>
            </a:r>
            <a:r>
              <a:rPr lang="en-US" sz="1800" dirty="0" smtClean="0">
                <a:latin typeface="Calibri" pitchFamily="34" charset="0"/>
                <a:cs typeface="Calibri" pitchFamily="34" charset="0"/>
              </a:rPr>
              <a:t>)                                                  150 </a:t>
            </a:r>
          </a:p>
          <a:p>
            <a:r>
              <a:rPr lang="en-IN" sz="1800" b="1" dirty="0"/>
              <a:t>Searching</a:t>
            </a:r>
          </a:p>
          <a:p>
            <a:r>
              <a:rPr lang="en-US" sz="1800" dirty="0"/>
              <a:t>The steps follow in the insertion, are same followed here. Only difference is in comparison, if the key is not matched, repeat the steps till reached NULL. That says, desired key is not available in the BST.</a:t>
            </a:r>
            <a:endParaRPr lang="en-US" sz="1800" dirty="0" smtClean="0">
              <a:latin typeface="Calibri" pitchFamily="34" charset="0"/>
              <a:cs typeface="Calibri" pitchFamily="34" charset="0"/>
            </a:endParaRPr>
          </a:p>
        </p:txBody>
      </p:sp>
      <p:sp>
        <p:nvSpPr>
          <p:cNvPr id="3" name="Title 2"/>
          <p:cNvSpPr>
            <a:spLocks noGrp="1"/>
          </p:cNvSpPr>
          <p:nvPr>
            <p:ph type="title"/>
          </p:nvPr>
        </p:nvSpPr>
        <p:spPr>
          <a:xfrm>
            <a:off x="457200" y="274638"/>
            <a:ext cx="8229600" cy="334962"/>
          </a:xfrm>
        </p:spPr>
        <p:txBody>
          <a:bodyPr>
            <a:normAutofit fontScale="90000"/>
          </a:bodyPr>
          <a:lstStyle/>
          <a:p>
            <a:r>
              <a:rPr lang="en-US" sz="2400" dirty="0">
                <a:effectLst/>
                <a:latin typeface="Calibri" pitchFamily="34" charset="0"/>
                <a:cs typeface="Calibri" pitchFamily="34" charset="0"/>
              </a:rPr>
              <a:t>Trees and Binary Trees</a:t>
            </a:r>
            <a:endParaRPr lang="en-IN" sz="2400" dirty="0">
              <a:latin typeface="Calibri" pitchFamily="34" charset="0"/>
              <a:cs typeface="Calibri" pitchFamily="34"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3925" y="4267200"/>
            <a:ext cx="729615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32920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6172200"/>
          </a:xfrm>
        </p:spPr>
        <p:txBody>
          <a:bodyPr>
            <a:normAutofit/>
          </a:bodyPr>
          <a:lstStyle/>
          <a:p>
            <a:pPr marL="109728" indent="0">
              <a:buNone/>
            </a:pPr>
            <a:r>
              <a:rPr lang="en-US" sz="2000" b="1" dirty="0" smtClean="0">
                <a:latin typeface="Calibri" pitchFamily="34" charset="0"/>
                <a:cs typeface="Calibri" pitchFamily="34" charset="0"/>
              </a:rPr>
              <a:t>Traversing</a:t>
            </a:r>
            <a:r>
              <a:rPr lang="en-US" sz="2000" dirty="0">
                <a:latin typeface="Calibri" pitchFamily="34" charset="0"/>
                <a:cs typeface="Calibri" pitchFamily="34" charset="0"/>
              </a:rPr>
              <a:t> </a:t>
            </a:r>
            <a:endParaRPr lang="en-US" sz="2000" dirty="0" smtClean="0">
              <a:latin typeface="Calibri" pitchFamily="34" charset="0"/>
              <a:cs typeface="Calibri" pitchFamily="34" charset="0"/>
            </a:endParaRPr>
          </a:p>
          <a:p>
            <a:pPr marL="109728" indent="0">
              <a:buNone/>
            </a:pPr>
            <a:r>
              <a:rPr lang="en-US" sz="1800" dirty="0">
                <a:latin typeface="Calibri" pitchFamily="34" charset="0"/>
                <a:cs typeface="Calibri" pitchFamily="34" charset="0"/>
              </a:rPr>
              <a:t>Traversing </a:t>
            </a:r>
            <a:r>
              <a:rPr lang="en-US" sz="1800" dirty="0" smtClean="0">
                <a:latin typeface="Calibri" pitchFamily="34" charset="0"/>
                <a:cs typeface="Calibri" pitchFamily="34" charset="0"/>
              </a:rPr>
              <a:t>is </a:t>
            </a:r>
            <a:r>
              <a:rPr lang="en-US" sz="1800" dirty="0">
                <a:latin typeface="Calibri" pitchFamily="34" charset="0"/>
                <a:cs typeface="Calibri" pitchFamily="34" charset="0"/>
              </a:rPr>
              <a:t>the process by which we can visit and access each and every element present in any data structure like an array, linked list, or tree. It is an operation which can be implemented on any data structure. Traversal is the most basic of the operations that can be performed on any data structure. </a:t>
            </a:r>
            <a:r>
              <a:rPr lang="en-US" sz="1800" dirty="0" smtClean="0">
                <a:latin typeface="Calibri" pitchFamily="34" charset="0"/>
                <a:cs typeface="Calibri" pitchFamily="34" charset="0"/>
              </a:rPr>
              <a:t> </a:t>
            </a:r>
          </a:p>
          <a:p>
            <a:pPr marL="109728" indent="0">
              <a:buNone/>
            </a:pPr>
            <a:r>
              <a:rPr lang="en-US" sz="1800" b="1" dirty="0"/>
              <a:t>There are 3 tree traversals that </a:t>
            </a:r>
            <a:r>
              <a:rPr lang="en-US" sz="1800" b="1" dirty="0" smtClean="0"/>
              <a:t>are</a:t>
            </a:r>
          </a:p>
          <a:p>
            <a:r>
              <a:rPr lang="en-IN" sz="1800" b="1" dirty="0" err="1"/>
              <a:t>Preorder</a:t>
            </a:r>
            <a:r>
              <a:rPr lang="en-IN" sz="1800" b="1" dirty="0"/>
              <a:t> Traversal</a:t>
            </a:r>
            <a:endParaRPr lang="en-IN" sz="1800" dirty="0"/>
          </a:p>
          <a:p>
            <a:r>
              <a:rPr lang="en-IN" sz="1800" b="1" dirty="0" err="1"/>
              <a:t>Inorder</a:t>
            </a:r>
            <a:r>
              <a:rPr lang="en-IN" sz="1800" b="1" dirty="0"/>
              <a:t> Traversal</a:t>
            </a:r>
            <a:endParaRPr lang="en-IN" sz="1800" dirty="0"/>
          </a:p>
          <a:p>
            <a:r>
              <a:rPr lang="en-IN" sz="1800" b="1" dirty="0" err="1"/>
              <a:t>Postorder</a:t>
            </a:r>
            <a:r>
              <a:rPr lang="en-IN" sz="1800" b="1" dirty="0"/>
              <a:t> Traversal</a:t>
            </a:r>
            <a:endParaRPr lang="en-IN" sz="1800" dirty="0"/>
          </a:p>
          <a:p>
            <a:pPr marL="109728" indent="0">
              <a:buNone/>
            </a:pPr>
            <a:r>
              <a:rPr lang="en-IN" sz="1800" b="1" dirty="0"/>
              <a:t> </a:t>
            </a:r>
            <a:r>
              <a:rPr lang="en-IN" sz="1800" b="1" dirty="0" err="1"/>
              <a:t>Inorder</a:t>
            </a:r>
            <a:r>
              <a:rPr lang="en-IN" sz="1800" b="1" dirty="0"/>
              <a:t> Tree Traversal</a:t>
            </a:r>
          </a:p>
          <a:p>
            <a:pPr marL="109728" indent="0">
              <a:buNone/>
            </a:pPr>
            <a:r>
              <a:rPr lang="en-US" sz="1800" dirty="0"/>
              <a:t>The </a:t>
            </a:r>
            <a:r>
              <a:rPr lang="en-US" sz="1800" dirty="0" err="1"/>
              <a:t>inorder</a:t>
            </a:r>
            <a:r>
              <a:rPr lang="en-US" sz="1800" dirty="0"/>
              <a:t> tree traversal of binary tree is also known as the </a:t>
            </a:r>
            <a:r>
              <a:rPr lang="en-US" sz="1800" b="1" dirty="0"/>
              <a:t>LNR traversal</a:t>
            </a:r>
            <a:r>
              <a:rPr lang="en-US" sz="1800" dirty="0"/>
              <a:t>, because in this traversal, we first visit the left node (abbreviation L), followed by the root node(abbreviation N), and finally the right node (abbreviation R) of the tree.</a:t>
            </a:r>
            <a:r>
              <a:rPr lang="en-US" sz="1800" dirty="0" smtClean="0">
                <a:latin typeface="Calibri" pitchFamily="34" charset="0"/>
                <a:cs typeface="Calibri" pitchFamily="34" charset="0"/>
              </a:rPr>
              <a:t>                             </a:t>
            </a:r>
          </a:p>
        </p:txBody>
      </p:sp>
      <p:sp>
        <p:nvSpPr>
          <p:cNvPr id="3" name="Title 2"/>
          <p:cNvSpPr>
            <a:spLocks noGrp="1"/>
          </p:cNvSpPr>
          <p:nvPr>
            <p:ph type="title"/>
          </p:nvPr>
        </p:nvSpPr>
        <p:spPr>
          <a:xfrm>
            <a:off x="457200" y="274638"/>
            <a:ext cx="8229600" cy="334962"/>
          </a:xfrm>
        </p:spPr>
        <p:txBody>
          <a:bodyPr>
            <a:normAutofit fontScale="90000"/>
          </a:bodyPr>
          <a:lstStyle/>
          <a:p>
            <a:r>
              <a:rPr lang="en-US" sz="2400" dirty="0">
                <a:effectLst/>
                <a:latin typeface="Calibri" pitchFamily="34" charset="0"/>
                <a:cs typeface="Calibri" pitchFamily="34" charset="0"/>
              </a:rPr>
              <a:t>Trees and Binary Trees</a:t>
            </a:r>
            <a:endParaRPr lang="en-IN" sz="2400" dirty="0">
              <a:latin typeface="Calibri" pitchFamily="34" charset="0"/>
              <a:cs typeface="Calibri" pitchFamily="34" charset="0"/>
            </a:endParaRPr>
          </a:p>
        </p:txBody>
      </p:sp>
    </p:spTree>
    <p:extLst>
      <p:ext uri="{BB962C8B-B14F-4D97-AF65-F5344CB8AC3E}">
        <p14:creationId xmlns:p14="http://schemas.microsoft.com/office/powerpoint/2010/main" val="2646556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6172200"/>
          </a:xfrm>
        </p:spPr>
        <p:txBody>
          <a:bodyPr>
            <a:normAutofit/>
          </a:bodyPr>
          <a:lstStyle/>
          <a:p>
            <a:r>
              <a:rPr lang="en-US" sz="2000" dirty="0" smtClean="0"/>
              <a:t>The </a:t>
            </a:r>
            <a:r>
              <a:rPr lang="en-US" sz="2000" dirty="0"/>
              <a:t>algorithm for the </a:t>
            </a:r>
            <a:r>
              <a:rPr lang="en-US" sz="2000" dirty="0" err="1" smtClean="0"/>
              <a:t>inorder</a:t>
            </a:r>
            <a:r>
              <a:rPr lang="en-US" sz="2000" dirty="0" smtClean="0"/>
              <a:t> </a:t>
            </a:r>
            <a:r>
              <a:rPr lang="en-US" sz="2000" dirty="0"/>
              <a:t>traversal can be stated as:</a:t>
            </a:r>
          </a:p>
          <a:p>
            <a:r>
              <a:rPr lang="en-US" sz="2000" dirty="0"/>
              <a:t>Recursively traverse the current node's left </a:t>
            </a:r>
            <a:r>
              <a:rPr lang="en-US" sz="2000" dirty="0" smtClean="0"/>
              <a:t>sub tree</a:t>
            </a:r>
            <a:r>
              <a:rPr lang="en-US" sz="2000" dirty="0"/>
              <a:t>.</a:t>
            </a:r>
          </a:p>
          <a:p>
            <a:r>
              <a:rPr lang="en-US" sz="2000" dirty="0"/>
              <a:t>Visit the current node.</a:t>
            </a:r>
          </a:p>
          <a:p>
            <a:r>
              <a:rPr lang="en-US" sz="2000" dirty="0"/>
              <a:t>Recursively traverse the current node's right </a:t>
            </a:r>
            <a:r>
              <a:rPr lang="en-US" sz="2000" dirty="0" smtClean="0"/>
              <a:t>sub tree.</a:t>
            </a:r>
          </a:p>
          <a:p>
            <a:r>
              <a:rPr lang="en-US" sz="2000" dirty="0"/>
              <a:t>In the case of binary search trees (BST), </a:t>
            </a:r>
            <a:r>
              <a:rPr lang="en-US" sz="2000" dirty="0" err="1"/>
              <a:t>Inorder</a:t>
            </a:r>
            <a:r>
              <a:rPr lang="en-US" sz="2000" dirty="0"/>
              <a:t> traversal gives nodes in non-decreasing order. To get nodes of BST in non-increasing order, a variation of </a:t>
            </a:r>
            <a:r>
              <a:rPr lang="en-US" sz="2000" dirty="0" err="1"/>
              <a:t>Inorder</a:t>
            </a:r>
            <a:r>
              <a:rPr lang="en-US" sz="2000" dirty="0"/>
              <a:t> traversal where </a:t>
            </a:r>
            <a:r>
              <a:rPr lang="en-US" sz="2000" dirty="0" err="1"/>
              <a:t>Inorder</a:t>
            </a:r>
            <a:r>
              <a:rPr lang="en-US" sz="2000" dirty="0"/>
              <a:t> traversal is reversed can be used. </a:t>
            </a:r>
            <a:endParaRPr lang="en-US" sz="2000" dirty="0" smtClean="0"/>
          </a:p>
          <a:p>
            <a:r>
              <a:rPr lang="en-US" sz="2000" b="1" dirty="0"/>
              <a:t>Time Complexity: </a:t>
            </a:r>
            <a:r>
              <a:rPr lang="en-US" sz="2000" dirty="0"/>
              <a:t>O(N)</a:t>
            </a:r>
            <a:br>
              <a:rPr lang="en-US" sz="2000" dirty="0"/>
            </a:br>
            <a:r>
              <a:rPr lang="en-US" sz="2000" b="1" dirty="0"/>
              <a:t>Auxiliary Space: </a:t>
            </a:r>
            <a:r>
              <a:rPr lang="en-US" sz="2000" dirty="0"/>
              <a:t>If we don’t consider the size of the stack for function calls then O(1) otherwise O(h) where h is the height of the tree. </a:t>
            </a:r>
            <a:endParaRPr lang="en-US" sz="2000" dirty="0" smtClean="0"/>
          </a:p>
          <a:p>
            <a:endParaRPr lang="en-US" sz="2000" dirty="0" smtClean="0"/>
          </a:p>
          <a:p>
            <a:endParaRPr lang="en-US" sz="2000" dirty="0"/>
          </a:p>
          <a:p>
            <a:pPr marL="109728" indent="0">
              <a:buNone/>
            </a:pPr>
            <a:endParaRPr lang="en-US" sz="2000" dirty="0" smtClean="0">
              <a:latin typeface="Calibri" pitchFamily="34" charset="0"/>
              <a:cs typeface="Calibri" pitchFamily="34" charset="0"/>
            </a:endParaRPr>
          </a:p>
        </p:txBody>
      </p:sp>
      <p:sp>
        <p:nvSpPr>
          <p:cNvPr id="3" name="Title 2"/>
          <p:cNvSpPr>
            <a:spLocks noGrp="1"/>
          </p:cNvSpPr>
          <p:nvPr>
            <p:ph type="title"/>
          </p:nvPr>
        </p:nvSpPr>
        <p:spPr>
          <a:xfrm>
            <a:off x="457200" y="274638"/>
            <a:ext cx="8229600" cy="334962"/>
          </a:xfrm>
        </p:spPr>
        <p:txBody>
          <a:bodyPr>
            <a:normAutofit fontScale="90000"/>
          </a:bodyPr>
          <a:lstStyle/>
          <a:p>
            <a:r>
              <a:rPr lang="en-US" sz="2400" dirty="0">
                <a:effectLst/>
                <a:latin typeface="Calibri" pitchFamily="34" charset="0"/>
                <a:cs typeface="Calibri" pitchFamily="34" charset="0"/>
              </a:rPr>
              <a:t>Trees and Binary Trees</a:t>
            </a:r>
            <a:endParaRPr lang="en-IN" sz="2400" dirty="0">
              <a:latin typeface="Calibri" pitchFamily="34" charset="0"/>
              <a:cs typeface="Calibri" pitchFamily="34" charset="0"/>
            </a:endParaRPr>
          </a:p>
        </p:txBody>
      </p:sp>
    </p:spTree>
    <p:extLst>
      <p:ext uri="{BB962C8B-B14F-4D97-AF65-F5344CB8AC3E}">
        <p14:creationId xmlns:p14="http://schemas.microsoft.com/office/powerpoint/2010/main" val="2516662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6172200"/>
          </a:xfrm>
        </p:spPr>
        <p:txBody>
          <a:bodyPr>
            <a:normAutofit/>
          </a:bodyPr>
          <a:lstStyle/>
          <a:p>
            <a:r>
              <a:rPr lang="en-IN" sz="2000" b="1" dirty="0" err="1"/>
              <a:t>Preorder</a:t>
            </a:r>
            <a:r>
              <a:rPr lang="en-IN" sz="2000" b="1" dirty="0"/>
              <a:t> Tree Traversal</a:t>
            </a:r>
          </a:p>
          <a:p>
            <a:r>
              <a:rPr lang="en-US" sz="1600" dirty="0">
                <a:latin typeface="Calibri" pitchFamily="34" charset="0"/>
                <a:cs typeface="Calibri" pitchFamily="34" charset="0"/>
              </a:rPr>
              <a:t>It is performed in a similar way as the </a:t>
            </a:r>
            <a:r>
              <a:rPr lang="en-US" sz="1600" dirty="0" err="1">
                <a:latin typeface="Calibri" pitchFamily="34" charset="0"/>
                <a:cs typeface="Calibri" pitchFamily="34" charset="0"/>
              </a:rPr>
              <a:t>inorder</a:t>
            </a:r>
            <a:r>
              <a:rPr lang="en-US" sz="1600" dirty="0">
                <a:latin typeface="Calibri" pitchFamily="34" charset="0"/>
                <a:cs typeface="Calibri" pitchFamily="34" charset="0"/>
              </a:rPr>
              <a:t> traversal is performed, but here the order of visiting the nodes is different than that of the </a:t>
            </a:r>
            <a:r>
              <a:rPr lang="en-US" sz="1600" dirty="0" err="1">
                <a:latin typeface="Calibri" pitchFamily="34" charset="0"/>
                <a:cs typeface="Calibri" pitchFamily="34" charset="0"/>
              </a:rPr>
              <a:t>inorder</a:t>
            </a:r>
            <a:r>
              <a:rPr lang="en-US" sz="1600" dirty="0">
                <a:latin typeface="Calibri" pitchFamily="34" charset="0"/>
                <a:cs typeface="Calibri" pitchFamily="34" charset="0"/>
              </a:rPr>
              <a:t> traversal</a:t>
            </a:r>
            <a:r>
              <a:rPr lang="en-US" sz="1600" dirty="0" smtClean="0">
                <a:latin typeface="Calibri" pitchFamily="34" charset="0"/>
                <a:cs typeface="Calibri" pitchFamily="34" charset="0"/>
              </a:rPr>
              <a:t>.</a:t>
            </a:r>
          </a:p>
          <a:p>
            <a:r>
              <a:rPr lang="en-US" sz="1600" dirty="0" smtClean="0">
                <a:latin typeface="Calibri" pitchFamily="34" charset="0"/>
                <a:cs typeface="Calibri" pitchFamily="34" charset="0"/>
              </a:rPr>
              <a:t> </a:t>
            </a:r>
            <a:r>
              <a:rPr lang="en-US" sz="1600" dirty="0">
                <a:latin typeface="Calibri" pitchFamily="34" charset="0"/>
                <a:cs typeface="Calibri" pitchFamily="34" charset="0"/>
              </a:rPr>
              <a:t>In the case of the preorder traversal of binary tree, we visit the current node first. After that, we visit the leftmost </a:t>
            </a:r>
            <a:r>
              <a:rPr lang="en-US" sz="1600" dirty="0" smtClean="0">
                <a:latin typeface="Calibri" pitchFamily="34" charset="0"/>
                <a:cs typeface="Calibri" pitchFamily="34" charset="0"/>
              </a:rPr>
              <a:t>sub tree</a:t>
            </a:r>
            <a:r>
              <a:rPr lang="en-US" sz="1600" dirty="0">
                <a:latin typeface="Calibri" pitchFamily="34" charset="0"/>
                <a:cs typeface="Calibri" pitchFamily="34" charset="0"/>
              </a:rPr>
              <a:t>. Once we reach the leaf node(or have covered all the nodes of the left </a:t>
            </a:r>
            <a:r>
              <a:rPr lang="en-US" sz="1600" dirty="0" smtClean="0">
                <a:latin typeface="Calibri" pitchFamily="34" charset="0"/>
                <a:cs typeface="Calibri" pitchFamily="34" charset="0"/>
              </a:rPr>
              <a:t>sub tree</a:t>
            </a:r>
            <a:r>
              <a:rPr lang="en-US" sz="1600" dirty="0">
                <a:latin typeface="Calibri" pitchFamily="34" charset="0"/>
                <a:cs typeface="Calibri" pitchFamily="34" charset="0"/>
              </a:rPr>
              <a:t>), we move towards the right sub-tree. In the right </a:t>
            </a:r>
            <a:r>
              <a:rPr lang="en-US" sz="1600" dirty="0" smtClean="0">
                <a:latin typeface="Calibri" pitchFamily="34" charset="0"/>
                <a:cs typeface="Calibri" pitchFamily="34" charset="0"/>
              </a:rPr>
              <a:t>sub tree</a:t>
            </a:r>
            <a:r>
              <a:rPr lang="en-US" sz="1600" dirty="0">
                <a:latin typeface="Calibri" pitchFamily="34" charset="0"/>
                <a:cs typeface="Calibri" pitchFamily="34" charset="0"/>
              </a:rPr>
              <a:t>, we recursively call our function to do the traversal in a similar manner</a:t>
            </a:r>
            <a:r>
              <a:rPr lang="en-US" sz="1600" dirty="0" smtClean="0">
                <a:latin typeface="Calibri" pitchFamily="34" charset="0"/>
                <a:cs typeface="Calibri" pitchFamily="34" charset="0"/>
              </a:rPr>
              <a:t>.</a:t>
            </a:r>
          </a:p>
          <a:p>
            <a:r>
              <a:rPr lang="en-US" sz="1600" dirty="0">
                <a:latin typeface="Calibri" pitchFamily="34" charset="0"/>
                <a:cs typeface="Calibri" pitchFamily="34" charset="0"/>
              </a:rPr>
              <a:t>The algorithm for the preorder traversal of binary tree can be stated as:</a:t>
            </a:r>
          </a:p>
          <a:p>
            <a:endParaRPr lang="en-US" sz="1600" dirty="0">
              <a:latin typeface="Calibri" pitchFamily="34" charset="0"/>
              <a:cs typeface="Calibri" pitchFamily="34" charset="0"/>
            </a:endParaRPr>
          </a:p>
          <a:p>
            <a:r>
              <a:rPr lang="en-US" sz="1600" dirty="0">
                <a:latin typeface="Calibri" pitchFamily="34" charset="0"/>
                <a:cs typeface="Calibri" pitchFamily="34" charset="0"/>
              </a:rPr>
              <a:t>Visit the current node</a:t>
            </a:r>
          </a:p>
          <a:p>
            <a:r>
              <a:rPr lang="en-US" sz="1600" dirty="0">
                <a:latin typeface="Calibri" pitchFamily="34" charset="0"/>
                <a:cs typeface="Calibri" pitchFamily="34" charset="0"/>
              </a:rPr>
              <a:t>Recursively traverse the current node's left </a:t>
            </a:r>
            <a:r>
              <a:rPr lang="en-US" sz="1600" dirty="0" err="1">
                <a:latin typeface="Calibri" pitchFamily="34" charset="0"/>
                <a:cs typeface="Calibri" pitchFamily="34" charset="0"/>
              </a:rPr>
              <a:t>subtree</a:t>
            </a:r>
            <a:r>
              <a:rPr lang="en-US" sz="1600" dirty="0">
                <a:latin typeface="Calibri" pitchFamily="34" charset="0"/>
                <a:cs typeface="Calibri" pitchFamily="34" charset="0"/>
              </a:rPr>
              <a:t>.</a:t>
            </a:r>
          </a:p>
          <a:p>
            <a:r>
              <a:rPr lang="en-US" sz="1600" dirty="0">
                <a:latin typeface="Calibri" pitchFamily="34" charset="0"/>
                <a:cs typeface="Calibri" pitchFamily="34" charset="0"/>
              </a:rPr>
              <a:t>Recursively traverse the current node's right </a:t>
            </a:r>
            <a:r>
              <a:rPr lang="en-US" sz="1600" dirty="0" err="1">
                <a:latin typeface="Calibri" pitchFamily="34" charset="0"/>
                <a:cs typeface="Calibri" pitchFamily="34" charset="0"/>
              </a:rPr>
              <a:t>subtree</a:t>
            </a:r>
            <a:r>
              <a:rPr lang="en-US" sz="1600" dirty="0" smtClean="0">
                <a:latin typeface="Calibri" pitchFamily="34" charset="0"/>
                <a:cs typeface="Calibri" pitchFamily="34" charset="0"/>
              </a:rPr>
              <a:t>.</a:t>
            </a:r>
          </a:p>
          <a:p>
            <a:r>
              <a:rPr lang="en-US" sz="1600" dirty="0">
                <a:latin typeface="Calibri" pitchFamily="34" charset="0"/>
                <a:cs typeface="Calibri" pitchFamily="34" charset="0"/>
              </a:rPr>
              <a:t>procedure preorder(node)</a:t>
            </a:r>
          </a:p>
          <a:p>
            <a:r>
              <a:rPr lang="en-US" sz="1600" dirty="0">
                <a:latin typeface="Calibri" pitchFamily="34" charset="0"/>
                <a:cs typeface="Calibri" pitchFamily="34" charset="0"/>
              </a:rPr>
              <a:t>    if node = null</a:t>
            </a:r>
          </a:p>
          <a:p>
            <a:r>
              <a:rPr lang="en-US" sz="1600" dirty="0">
                <a:latin typeface="Calibri" pitchFamily="34" charset="0"/>
                <a:cs typeface="Calibri" pitchFamily="34" charset="0"/>
              </a:rPr>
              <a:t>        return</a:t>
            </a:r>
          </a:p>
          <a:p>
            <a:r>
              <a:rPr lang="en-US" sz="1600" dirty="0">
                <a:latin typeface="Calibri" pitchFamily="34" charset="0"/>
                <a:cs typeface="Calibri" pitchFamily="34" charset="0"/>
              </a:rPr>
              <a:t>    visit(node)</a:t>
            </a:r>
          </a:p>
          <a:p>
            <a:r>
              <a:rPr lang="en-US" sz="1600" dirty="0">
                <a:latin typeface="Calibri" pitchFamily="34" charset="0"/>
                <a:cs typeface="Calibri" pitchFamily="34" charset="0"/>
              </a:rPr>
              <a:t>    preorder(</a:t>
            </a:r>
            <a:r>
              <a:rPr lang="en-US" sz="1600" dirty="0" err="1">
                <a:latin typeface="Calibri" pitchFamily="34" charset="0"/>
                <a:cs typeface="Calibri" pitchFamily="34" charset="0"/>
              </a:rPr>
              <a:t>node.left</a:t>
            </a:r>
            <a:r>
              <a:rPr lang="en-US" sz="1600" dirty="0">
                <a:latin typeface="Calibri" pitchFamily="34" charset="0"/>
                <a:cs typeface="Calibri" pitchFamily="34" charset="0"/>
              </a:rPr>
              <a:t>)</a:t>
            </a:r>
          </a:p>
          <a:p>
            <a:r>
              <a:rPr lang="en-US" sz="1600" dirty="0">
                <a:latin typeface="Calibri" pitchFamily="34" charset="0"/>
                <a:cs typeface="Calibri" pitchFamily="34" charset="0"/>
              </a:rPr>
              <a:t>    preorder(</a:t>
            </a:r>
            <a:r>
              <a:rPr lang="en-US" sz="1600" dirty="0" err="1">
                <a:latin typeface="Calibri" pitchFamily="34" charset="0"/>
                <a:cs typeface="Calibri" pitchFamily="34" charset="0"/>
              </a:rPr>
              <a:t>node.right</a:t>
            </a:r>
            <a:r>
              <a:rPr lang="en-US" sz="1800" dirty="0">
                <a:latin typeface="Calibri" pitchFamily="34" charset="0"/>
                <a:cs typeface="Calibri" pitchFamily="34" charset="0"/>
              </a:rPr>
              <a:t>) </a:t>
            </a:r>
          </a:p>
        </p:txBody>
      </p:sp>
      <p:sp>
        <p:nvSpPr>
          <p:cNvPr id="3" name="Title 2"/>
          <p:cNvSpPr>
            <a:spLocks noGrp="1"/>
          </p:cNvSpPr>
          <p:nvPr>
            <p:ph type="title"/>
          </p:nvPr>
        </p:nvSpPr>
        <p:spPr>
          <a:xfrm>
            <a:off x="457200" y="274638"/>
            <a:ext cx="8229600" cy="334962"/>
          </a:xfrm>
        </p:spPr>
        <p:txBody>
          <a:bodyPr>
            <a:normAutofit fontScale="90000"/>
          </a:bodyPr>
          <a:lstStyle/>
          <a:p>
            <a:r>
              <a:rPr lang="en-US" sz="2400" dirty="0">
                <a:effectLst/>
                <a:latin typeface="Calibri" pitchFamily="34" charset="0"/>
                <a:cs typeface="Calibri" pitchFamily="34" charset="0"/>
              </a:rPr>
              <a:t>Trees and Binary Trees</a:t>
            </a:r>
            <a:endParaRPr lang="en-IN" sz="2400" dirty="0">
              <a:latin typeface="Calibri" pitchFamily="34" charset="0"/>
              <a:cs typeface="Calibri" pitchFamily="34" charset="0"/>
            </a:endParaRPr>
          </a:p>
        </p:txBody>
      </p:sp>
    </p:spTree>
    <p:extLst>
      <p:ext uri="{BB962C8B-B14F-4D97-AF65-F5344CB8AC3E}">
        <p14:creationId xmlns:p14="http://schemas.microsoft.com/office/powerpoint/2010/main" val="814505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6172200"/>
          </a:xfrm>
        </p:spPr>
        <p:txBody>
          <a:bodyPr>
            <a:normAutofit/>
          </a:bodyPr>
          <a:lstStyle/>
          <a:p>
            <a:r>
              <a:rPr lang="en-US" sz="1800" b="1" dirty="0">
                <a:latin typeface="Calibri" pitchFamily="34" charset="0"/>
                <a:cs typeface="Calibri" pitchFamily="34" charset="0"/>
              </a:rPr>
              <a:t>Time complexity Analysis:</a:t>
            </a:r>
            <a:endParaRPr lang="en-US" sz="1800" dirty="0">
              <a:latin typeface="Calibri" pitchFamily="34" charset="0"/>
              <a:cs typeface="Calibri" pitchFamily="34" charset="0"/>
            </a:endParaRPr>
          </a:p>
          <a:p>
            <a:r>
              <a:rPr lang="en-US" sz="1800" dirty="0">
                <a:latin typeface="Calibri" pitchFamily="34" charset="0"/>
                <a:cs typeface="Calibri" pitchFamily="34" charset="0"/>
              </a:rPr>
              <a:t>If a tree has </a:t>
            </a:r>
            <a:r>
              <a:rPr lang="en-US" sz="1800" dirty="0" smtClean="0">
                <a:latin typeface="Calibri" pitchFamily="34" charset="0"/>
                <a:cs typeface="Calibri" pitchFamily="34" charset="0"/>
              </a:rPr>
              <a:t>n</a:t>
            </a:r>
            <a:r>
              <a:rPr lang="en-US" sz="1800" dirty="0">
                <a:latin typeface="Calibri" pitchFamily="34" charset="0"/>
                <a:cs typeface="Calibri" pitchFamily="34" charset="0"/>
              </a:rPr>
              <a:t> nodes, then </a:t>
            </a:r>
            <a:r>
              <a:rPr lang="en-US" sz="1800" b="1" dirty="0">
                <a:latin typeface="Calibri" pitchFamily="34" charset="0"/>
                <a:cs typeface="Calibri" pitchFamily="34" charset="0"/>
              </a:rPr>
              <a:t>each node is visited only once in the preorder traversal of binary tree,</a:t>
            </a:r>
            <a:r>
              <a:rPr lang="en-US" sz="1800" dirty="0">
                <a:latin typeface="Calibri" pitchFamily="34" charset="0"/>
                <a:cs typeface="Calibri" pitchFamily="34" charset="0"/>
              </a:rPr>
              <a:t> hence the complexity of the preorder traversal of the binary tree is </a:t>
            </a:r>
            <a:r>
              <a:rPr lang="en-US" sz="1800" dirty="0" smtClean="0">
                <a:latin typeface="Calibri" pitchFamily="34" charset="0"/>
                <a:cs typeface="Calibri" pitchFamily="34" charset="0"/>
              </a:rPr>
              <a:t>O(n)</a:t>
            </a:r>
          </a:p>
          <a:p>
            <a:r>
              <a:rPr lang="en-US" sz="1800" dirty="0">
                <a:latin typeface="Calibri" pitchFamily="34" charset="0"/>
                <a:cs typeface="Calibri" pitchFamily="34" charset="0"/>
              </a:rPr>
              <a:t>The space complexity of the recursive preorder traversal of binary tree is </a:t>
            </a:r>
            <a:r>
              <a:rPr lang="en-US" sz="1800" dirty="0" smtClean="0">
                <a:latin typeface="Calibri" pitchFamily="34" charset="0"/>
                <a:cs typeface="Calibri" pitchFamily="34" charset="0"/>
              </a:rPr>
              <a:t>O(h)</a:t>
            </a:r>
            <a:r>
              <a:rPr lang="en-US" sz="1800" dirty="0">
                <a:latin typeface="Calibri" pitchFamily="34" charset="0"/>
                <a:cs typeface="Calibri" pitchFamily="34" charset="0"/>
              </a:rPr>
              <a:t> for a tree of height </a:t>
            </a:r>
            <a:r>
              <a:rPr lang="en-US" sz="1800" dirty="0" smtClean="0">
                <a:latin typeface="Calibri" pitchFamily="34" charset="0"/>
                <a:cs typeface="Calibri" pitchFamily="34" charset="0"/>
              </a:rPr>
              <a:t>h.</a:t>
            </a:r>
          </a:p>
          <a:p>
            <a:r>
              <a:rPr lang="en-IN" sz="1800" b="1" dirty="0" err="1"/>
              <a:t>Postorder</a:t>
            </a:r>
            <a:r>
              <a:rPr lang="en-IN" sz="1800" b="1" dirty="0"/>
              <a:t> Traversal</a:t>
            </a:r>
          </a:p>
          <a:p>
            <a:r>
              <a:rPr lang="en-US" sz="1800" b="1" dirty="0" err="1"/>
              <a:t>Postorder</a:t>
            </a:r>
            <a:r>
              <a:rPr lang="en-US" sz="1800" b="1" dirty="0"/>
              <a:t> traversal of binary tree</a:t>
            </a:r>
            <a:r>
              <a:rPr lang="en-US" sz="1800" dirty="0"/>
              <a:t>, where, we basically visit the left </a:t>
            </a:r>
            <a:r>
              <a:rPr lang="en-US" sz="1800" dirty="0" err="1"/>
              <a:t>subtree</a:t>
            </a:r>
            <a:r>
              <a:rPr lang="en-US" sz="1800" dirty="0"/>
              <a:t> and the right </a:t>
            </a:r>
            <a:r>
              <a:rPr lang="en-US" sz="1800" dirty="0" err="1"/>
              <a:t>subtree</a:t>
            </a:r>
            <a:r>
              <a:rPr lang="en-US" sz="1800" dirty="0"/>
              <a:t> before visiting the current node in recursion</a:t>
            </a:r>
            <a:r>
              <a:rPr lang="en-US" sz="1800" dirty="0" smtClean="0"/>
              <a:t>.</a:t>
            </a:r>
          </a:p>
          <a:p>
            <a:r>
              <a:rPr lang="en-US" sz="1800" dirty="0">
                <a:latin typeface="Calibri" pitchFamily="34" charset="0"/>
                <a:cs typeface="Calibri" pitchFamily="34" charset="0"/>
              </a:rPr>
              <a:t>In a nutshell, </a:t>
            </a:r>
            <a:r>
              <a:rPr lang="en-US" sz="1800" dirty="0" err="1">
                <a:latin typeface="Calibri" pitchFamily="34" charset="0"/>
                <a:cs typeface="Calibri" pitchFamily="34" charset="0"/>
              </a:rPr>
              <a:t>postorder</a:t>
            </a:r>
            <a:r>
              <a:rPr lang="en-US" sz="1800" dirty="0">
                <a:latin typeface="Calibri" pitchFamily="34" charset="0"/>
                <a:cs typeface="Calibri" pitchFamily="34" charset="0"/>
              </a:rPr>
              <a:t> traversal of binary tree follows the following order of visiting the nodes in a tree:</a:t>
            </a:r>
          </a:p>
          <a:p>
            <a:endParaRPr lang="en-US" sz="1800" dirty="0">
              <a:latin typeface="Calibri" pitchFamily="34" charset="0"/>
              <a:cs typeface="Calibri" pitchFamily="34" charset="0"/>
            </a:endParaRPr>
          </a:p>
          <a:p>
            <a:r>
              <a:rPr lang="en-US" sz="1800" dirty="0">
                <a:latin typeface="Calibri" pitchFamily="34" charset="0"/>
                <a:cs typeface="Calibri" pitchFamily="34" charset="0"/>
              </a:rPr>
              <a:t>Recursively traverse the current node's left </a:t>
            </a:r>
            <a:r>
              <a:rPr lang="en-US" sz="1800" dirty="0" err="1">
                <a:latin typeface="Calibri" pitchFamily="34" charset="0"/>
                <a:cs typeface="Calibri" pitchFamily="34" charset="0"/>
              </a:rPr>
              <a:t>subtree</a:t>
            </a:r>
            <a:r>
              <a:rPr lang="en-US" sz="1800" dirty="0">
                <a:latin typeface="Calibri" pitchFamily="34" charset="0"/>
                <a:cs typeface="Calibri" pitchFamily="34" charset="0"/>
              </a:rPr>
              <a:t>.</a:t>
            </a:r>
          </a:p>
          <a:p>
            <a:r>
              <a:rPr lang="en-US" sz="1800" dirty="0">
                <a:latin typeface="Calibri" pitchFamily="34" charset="0"/>
                <a:cs typeface="Calibri" pitchFamily="34" charset="0"/>
              </a:rPr>
              <a:t>Recursively traverse the current node's right </a:t>
            </a:r>
            <a:r>
              <a:rPr lang="en-US" sz="1800" dirty="0" err="1">
                <a:latin typeface="Calibri" pitchFamily="34" charset="0"/>
                <a:cs typeface="Calibri" pitchFamily="34" charset="0"/>
              </a:rPr>
              <a:t>subtree</a:t>
            </a:r>
            <a:r>
              <a:rPr lang="en-US" sz="1800" dirty="0">
                <a:latin typeface="Calibri" pitchFamily="34" charset="0"/>
                <a:cs typeface="Calibri" pitchFamily="34" charset="0"/>
              </a:rPr>
              <a:t>.</a:t>
            </a:r>
          </a:p>
          <a:p>
            <a:r>
              <a:rPr lang="en-US" sz="1800" dirty="0">
                <a:latin typeface="Calibri" pitchFamily="34" charset="0"/>
                <a:cs typeface="Calibri" pitchFamily="34" charset="0"/>
              </a:rPr>
              <a:t>Visit the current node (in the figure: position blue).</a:t>
            </a:r>
          </a:p>
        </p:txBody>
      </p:sp>
      <p:sp>
        <p:nvSpPr>
          <p:cNvPr id="3" name="Title 2"/>
          <p:cNvSpPr>
            <a:spLocks noGrp="1"/>
          </p:cNvSpPr>
          <p:nvPr>
            <p:ph type="title"/>
          </p:nvPr>
        </p:nvSpPr>
        <p:spPr>
          <a:xfrm>
            <a:off x="457200" y="274638"/>
            <a:ext cx="8229600" cy="334962"/>
          </a:xfrm>
        </p:spPr>
        <p:txBody>
          <a:bodyPr>
            <a:normAutofit fontScale="90000"/>
          </a:bodyPr>
          <a:lstStyle/>
          <a:p>
            <a:r>
              <a:rPr lang="en-US" sz="2400" dirty="0">
                <a:effectLst/>
                <a:latin typeface="Calibri" pitchFamily="34" charset="0"/>
                <a:cs typeface="Calibri" pitchFamily="34" charset="0"/>
              </a:rPr>
              <a:t>Trees and Binary Trees</a:t>
            </a:r>
            <a:endParaRPr lang="en-IN" sz="2400" dirty="0">
              <a:latin typeface="Calibri" pitchFamily="34" charset="0"/>
              <a:cs typeface="Calibri" pitchFamily="34" charset="0"/>
            </a:endParaRPr>
          </a:p>
        </p:txBody>
      </p:sp>
    </p:spTree>
    <p:extLst>
      <p:ext uri="{BB962C8B-B14F-4D97-AF65-F5344CB8AC3E}">
        <p14:creationId xmlns:p14="http://schemas.microsoft.com/office/powerpoint/2010/main" val="23282367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6172200"/>
          </a:xfrm>
        </p:spPr>
        <p:txBody>
          <a:bodyPr>
            <a:normAutofit/>
          </a:bodyPr>
          <a:lstStyle/>
          <a:p>
            <a:r>
              <a:rPr lang="en-US" sz="1800" dirty="0">
                <a:latin typeface="Calibri" pitchFamily="34" charset="0"/>
                <a:cs typeface="Calibri" pitchFamily="34" charset="0"/>
              </a:rPr>
              <a:t>procedure </a:t>
            </a:r>
            <a:r>
              <a:rPr lang="en-US" sz="1800" dirty="0" err="1">
                <a:latin typeface="Calibri" pitchFamily="34" charset="0"/>
                <a:cs typeface="Calibri" pitchFamily="34" charset="0"/>
              </a:rPr>
              <a:t>postorder</a:t>
            </a:r>
            <a:r>
              <a:rPr lang="en-US" sz="1800" dirty="0">
                <a:latin typeface="Calibri" pitchFamily="34" charset="0"/>
                <a:cs typeface="Calibri" pitchFamily="34" charset="0"/>
              </a:rPr>
              <a:t>(node)</a:t>
            </a:r>
          </a:p>
          <a:p>
            <a:r>
              <a:rPr lang="en-US" sz="1800" dirty="0">
                <a:latin typeface="Calibri" pitchFamily="34" charset="0"/>
                <a:cs typeface="Calibri" pitchFamily="34" charset="0"/>
              </a:rPr>
              <a:t>    if node = null</a:t>
            </a:r>
          </a:p>
          <a:p>
            <a:r>
              <a:rPr lang="en-US" sz="1800" dirty="0">
                <a:latin typeface="Calibri" pitchFamily="34" charset="0"/>
                <a:cs typeface="Calibri" pitchFamily="34" charset="0"/>
              </a:rPr>
              <a:t>        return</a:t>
            </a:r>
          </a:p>
          <a:p>
            <a:r>
              <a:rPr lang="en-US" sz="1800" dirty="0">
                <a:latin typeface="Calibri" pitchFamily="34" charset="0"/>
                <a:cs typeface="Calibri" pitchFamily="34" charset="0"/>
              </a:rPr>
              <a:t>    </a:t>
            </a:r>
            <a:r>
              <a:rPr lang="en-US" sz="1800" dirty="0" err="1">
                <a:latin typeface="Calibri" pitchFamily="34" charset="0"/>
                <a:cs typeface="Calibri" pitchFamily="34" charset="0"/>
              </a:rPr>
              <a:t>postorder</a:t>
            </a:r>
            <a:r>
              <a:rPr lang="en-US" sz="1800" dirty="0">
                <a:latin typeface="Calibri" pitchFamily="34" charset="0"/>
                <a:cs typeface="Calibri" pitchFamily="34" charset="0"/>
              </a:rPr>
              <a:t>(</a:t>
            </a:r>
            <a:r>
              <a:rPr lang="en-US" sz="1800" dirty="0" err="1">
                <a:latin typeface="Calibri" pitchFamily="34" charset="0"/>
                <a:cs typeface="Calibri" pitchFamily="34" charset="0"/>
              </a:rPr>
              <a:t>node.left</a:t>
            </a:r>
            <a:r>
              <a:rPr lang="en-US" sz="1800" dirty="0">
                <a:latin typeface="Calibri" pitchFamily="34" charset="0"/>
                <a:cs typeface="Calibri" pitchFamily="34" charset="0"/>
              </a:rPr>
              <a:t>)</a:t>
            </a:r>
          </a:p>
          <a:p>
            <a:r>
              <a:rPr lang="en-US" sz="1800" dirty="0">
                <a:latin typeface="Calibri" pitchFamily="34" charset="0"/>
                <a:cs typeface="Calibri" pitchFamily="34" charset="0"/>
              </a:rPr>
              <a:t>    </a:t>
            </a:r>
            <a:r>
              <a:rPr lang="en-US" sz="1800" dirty="0" err="1">
                <a:latin typeface="Calibri" pitchFamily="34" charset="0"/>
                <a:cs typeface="Calibri" pitchFamily="34" charset="0"/>
              </a:rPr>
              <a:t>postorder</a:t>
            </a:r>
            <a:r>
              <a:rPr lang="en-US" sz="1800" dirty="0">
                <a:latin typeface="Calibri" pitchFamily="34" charset="0"/>
                <a:cs typeface="Calibri" pitchFamily="34" charset="0"/>
              </a:rPr>
              <a:t>(</a:t>
            </a:r>
            <a:r>
              <a:rPr lang="en-US" sz="1800" dirty="0" err="1">
                <a:latin typeface="Calibri" pitchFamily="34" charset="0"/>
                <a:cs typeface="Calibri" pitchFamily="34" charset="0"/>
              </a:rPr>
              <a:t>node.right</a:t>
            </a:r>
            <a:r>
              <a:rPr lang="en-US" sz="1800" dirty="0">
                <a:latin typeface="Calibri" pitchFamily="34" charset="0"/>
                <a:cs typeface="Calibri" pitchFamily="34" charset="0"/>
              </a:rPr>
              <a:t>)</a:t>
            </a:r>
          </a:p>
          <a:p>
            <a:r>
              <a:rPr lang="en-US" sz="1800" dirty="0">
                <a:latin typeface="Calibri" pitchFamily="34" charset="0"/>
                <a:cs typeface="Calibri" pitchFamily="34" charset="0"/>
              </a:rPr>
              <a:t>    visit(node</a:t>
            </a:r>
            <a:r>
              <a:rPr lang="en-US" sz="1800" dirty="0" smtClean="0">
                <a:latin typeface="Calibri" pitchFamily="34" charset="0"/>
                <a:cs typeface="Calibri" pitchFamily="34" charset="0"/>
              </a:rPr>
              <a:t>)</a:t>
            </a:r>
          </a:p>
          <a:p>
            <a:r>
              <a:rPr lang="en-US" sz="1800" b="1" dirty="0"/>
              <a:t>Time Complexity Analysis:</a:t>
            </a:r>
            <a:endParaRPr lang="en-US" sz="1800" dirty="0"/>
          </a:p>
          <a:p>
            <a:r>
              <a:rPr lang="en-US" sz="1800" dirty="0"/>
              <a:t>If a tree has </a:t>
            </a:r>
            <a:r>
              <a:rPr lang="en-US" sz="1800" dirty="0" smtClean="0"/>
              <a:t>n</a:t>
            </a:r>
            <a:r>
              <a:rPr lang="en-US" sz="1800" dirty="0"/>
              <a:t> nodes, then </a:t>
            </a:r>
            <a:r>
              <a:rPr lang="en-US" sz="1800" b="1" dirty="0"/>
              <a:t>each node is visited only once in the </a:t>
            </a:r>
            <a:r>
              <a:rPr lang="en-US" sz="1800" b="1" dirty="0" err="1"/>
              <a:t>postorder</a:t>
            </a:r>
            <a:r>
              <a:rPr lang="en-US" sz="1800" b="1" dirty="0"/>
              <a:t> traversal of binary tree,</a:t>
            </a:r>
            <a:r>
              <a:rPr lang="en-US" sz="1800" dirty="0"/>
              <a:t> hence the complexity of the </a:t>
            </a:r>
            <a:r>
              <a:rPr lang="en-US" sz="1800" dirty="0" err="1"/>
              <a:t>postorder</a:t>
            </a:r>
            <a:r>
              <a:rPr lang="en-US" sz="1800" dirty="0"/>
              <a:t> traversal of the binary tree is </a:t>
            </a:r>
            <a:r>
              <a:rPr lang="en-US" sz="1800" dirty="0" smtClean="0"/>
              <a:t>O(n)</a:t>
            </a:r>
            <a:r>
              <a:rPr lang="en-US" sz="1800" dirty="0"/>
              <a:t> .</a:t>
            </a:r>
          </a:p>
          <a:p>
            <a:r>
              <a:rPr lang="en-US" sz="1800" dirty="0"/>
              <a:t>The space complexity of the recursive </a:t>
            </a:r>
            <a:r>
              <a:rPr lang="en-US" sz="1800" dirty="0" err="1"/>
              <a:t>postorder</a:t>
            </a:r>
            <a:r>
              <a:rPr lang="en-US" sz="1800" dirty="0"/>
              <a:t> traversal of binary tree is </a:t>
            </a:r>
            <a:r>
              <a:rPr lang="en-US" sz="1800" dirty="0" smtClean="0"/>
              <a:t>O(h)</a:t>
            </a:r>
            <a:r>
              <a:rPr lang="en-US" sz="1800" dirty="0"/>
              <a:t> for a tree of height </a:t>
            </a:r>
            <a:r>
              <a:rPr lang="en-US" sz="1800" dirty="0" smtClean="0"/>
              <a:t>h.</a:t>
            </a:r>
            <a:endParaRPr lang="en-US" sz="1800" dirty="0">
              <a:latin typeface="Calibri" pitchFamily="34" charset="0"/>
              <a:cs typeface="Calibri" pitchFamily="34" charset="0"/>
            </a:endParaRPr>
          </a:p>
        </p:txBody>
      </p:sp>
      <p:sp>
        <p:nvSpPr>
          <p:cNvPr id="3" name="Title 2"/>
          <p:cNvSpPr>
            <a:spLocks noGrp="1"/>
          </p:cNvSpPr>
          <p:nvPr>
            <p:ph type="title"/>
          </p:nvPr>
        </p:nvSpPr>
        <p:spPr>
          <a:xfrm>
            <a:off x="457200" y="274638"/>
            <a:ext cx="8229600" cy="334962"/>
          </a:xfrm>
        </p:spPr>
        <p:txBody>
          <a:bodyPr>
            <a:normAutofit fontScale="90000"/>
          </a:bodyPr>
          <a:lstStyle/>
          <a:p>
            <a:r>
              <a:rPr lang="en-US" sz="2400" dirty="0">
                <a:effectLst/>
                <a:latin typeface="Calibri" pitchFamily="34" charset="0"/>
                <a:cs typeface="Calibri" pitchFamily="34" charset="0"/>
              </a:rPr>
              <a:t>Trees and Binary Trees</a:t>
            </a:r>
            <a:endParaRPr lang="en-IN" sz="2400" dirty="0">
              <a:latin typeface="Calibri" pitchFamily="34" charset="0"/>
              <a:cs typeface="Calibri" pitchFamily="34" charset="0"/>
            </a:endParaRPr>
          </a:p>
        </p:txBody>
      </p:sp>
    </p:spTree>
    <p:extLst>
      <p:ext uri="{BB962C8B-B14F-4D97-AF65-F5344CB8AC3E}">
        <p14:creationId xmlns:p14="http://schemas.microsoft.com/office/powerpoint/2010/main" val="522676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8635414"/>
              </p:ext>
            </p:extLst>
          </p:nvPr>
        </p:nvGraphicFramePr>
        <p:xfrm>
          <a:off x="838200" y="762000"/>
          <a:ext cx="6629400" cy="1463040"/>
        </p:xfrm>
        <a:graphic>
          <a:graphicData uri="http://schemas.openxmlformats.org/drawingml/2006/table">
            <a:tbl>
              <a:tblPr/>
              <a:tblGrid>
                <a:gridCol w="1657350"/>
                <a:gridCol w="1657350"/>
                <a:gridCol w="1657350"/>
                <a:gridCol w="1657350"/>
              </a:tblGrid>
              <a:tr h="361950">
                <a:tc>
                  <a:txBody>
                    <a:bodyPr/>
                    <a:lstStyle/>
                    <a:p>
                      <a:pPr algn="ctr"/>
                      <a:r>
                        <a:rPr lang="en-IN" dirty="0">
                          <a:effectLst/>
                        </a:rPr>
                        <a:t>Traversal</a:t>
                      </a:r>
                    </a:p>
                  </a:txBody>
                  <a:tcPr anchor="ctr">
                    <a:lnL>
                      <a:noFill/>
                    </a:lnL>
                    <a:lnR>
                      <a:noFill/>
                    </a:lnR>
                    <a:lnT>
                      <a:noFill/>
                    </a:lnT>
                    <a:lnB>
                      <a:noFill/>
                    </a:lnB>
                    <a:solidFill>
                      <a:srgbClr val="FAFBFC"/>
                    </a:solidFill>
                  </a:tcPr>
                </a:tc>
                <a:tc>
                  <a:txBody>
                    <a:bodyPr/>
                    <a:lstStyle/>
                    <a:p>
                      <a:pPr algn="ctr"/>
                      <a:r>
                        <a:rPr lang="en-IN">
                          <a:effectLst/>
                        </a:rPr>
                        <a:t>First</a:t>
                      </a:r>
                    </a:p>
                  </a:txBody>
                  <a:tcPr anchor="ctr">
                    <a:lnL>
                      <a:noFill/>
                    </a:lnL>
                    <a:lnR>
                      <a:noFill/>
                    </a:lnR>
                    <a:lnT>
                      <a:noFill/>
                    </a:lnT>
                    <a:lnB>
                      <a:noFill/>
                    </a:lnB>
                    <a:solidFill>
                      <a:srgbClr val="FAFBFC"/>
                    </a:solidFill>
                  </a:tcPr>
                </a:tc>
                <a:tc>
                  <a:txBody>
                    <a:bodyPr/>
                    <a:lstStyle/>
                    <a:p>
                      <a:pPr algn="ctr"/>
                      <a:r>
                        <a:rPr lang="en-IN">
                          <a:effectLst/>
                        </a:rPr>
                        <a:t>Second</a:t>
                      </a:r>
                    </a:p>
                  </a:txBody>
                  <a:tcPr anchor="ctr">
                    <a:lnL>
                      <a:noFill/>
                    </a:lnL>
                    <a:lnR>
                      <a:noFill/>
                    </a:lnR>
                    <a:lnT>
                      <a:noFill/>
                    </a:lnT>
                    <a:lnB>
                      <a:noFill/>
                    </a:lnB>
                    <a:solidFill>
                      <a:srgbClr val="FAFBFC"/>
                    </a:solidFill>
                  </a:tcPr>
                </a:tc>
                <a:tc>
                  <a:txBody>
                    <a:bodyPr/>
                    <a:lstStyle/>
                    <a:p>
                      <a:pPr algn="ctr"/>
                      <a:r>
                        <a:rPr lang="en-IN">
                          <a:effectLst/>
                        </a:rPr>
                        <a:t>Third</a:t>
                      </a:r>
                    </a:p>
                  </a:txBody>
                  <a:tcPr anchor="ctr">
                    <a:lnL>
                      <a:noFill/>
                    </a:lnL>
                    <a:lnR>
                      <a:noFill/>
                    </a:lnR>
                    <a:lnT>
                      <a:noFill/>
                    </a:lnT>
                    <a:lnB>
                      <a:noFill/>
                    </a:lnB>
                    <a:solidFill>
                      <a:srgbClr val="FAFBFC"/>
                    </a:solidFill>
                  </a:tcPr>
                </a:tc>
              </a:tr>
              <a:tr h="361950">
                <a:tc>
                  <a:txBody>
                    <a:bodyPr/>
                    <a:lstStyle/>
                    <a:p>
                      <a:pPr algn="ctr"/>
                      <a:r>
                        <a:rPr lang="en-IN" dirty="0" err="1">
                          <a:effectLst/>
                        </a:rPr>
                        <a:t>Inorder</a:t>
                      </a:r>
                      <a:endParaRPr lang="en-IN" dirty="0">
                        <a:effectLst/>
                      </a:endParaRPr>
                    </a:p>
                  </a:txBody>
                  <a:tcPr anchor="ctr">
                    <a:lnL>
                      <a:noFill/>
                    </a:lnL>
                    <a:lnR>
                      <a:noFill/>
                    </a:lnR>
                    <a:lnT>
                      <a:noFill/>
                    </a:lnT>
                    <a:lnB>
                      <a:noFill/>
                    </a:lnB>
                    <a:solidFill>
                      <a:srgbClr val="FAFBFC"/>
                    </a:solidFill>
                  </a:tcPr>
                </a:tc>
                <a:tc>
                  <a:txBody>
                    <a:bodyPr/>
                    <a:lstStyle/>
                    <a:p>
                      <a:pPr algn="ctr"/>
                      <a:r>
                        <a:rPr lang="en-IN">
                          <a:effectLst/>
                        </a:rPr>
                        <a:t>Left</a:t>
                      </a:r>
                    </a:p>
                  </a:txBody>
                  <a:tcPr anchor="ctr">
                    <a:lnL>
                      <a:noFill/>
                    </a:lnL>
                    <a:lnR>
                      <a:noFill/>
                    </a:lnR>
                    <a:lnT>
                      <a:noFill/>
                    </a:lnT>
                    <a:lnB>
                      <a:noFill/>
                    </a:lnB>
                    <a:solidFill>
                      <a:srgbClr val="FAFBFC"/>
                    </a:solidFill>
                  </a:tcPr>
                </a:tc>
                <a:tc>
                  <a:txBody>
                    <a:bodyPr/>
                    <a:lstStyle/>
                    <a:p>
                      <a:pPr algn="ctr"/>
                      <a:r>
                        <a:rPr lang="en-IN">
                          <a:effectLst/>
                        </a:rPr>
                        <a:t>Root</a:t>
                      </a:r>
                    </a:p>
                  </a:txBody>
                  <a:tcPr anchor="ctr">
                    <a:lnL>
                      <a:noFill/>
                    </a:lnL>
                    <a:lnR>
                      <a:noFill/>
                    </a:lnR>
                    <a:lnT>
                      <a:noFill/>
                    </a:lnT>
                    <a:lnB>
                      <a:noFill/>
                    </a:lnB>
                    <a:solidFill>
                      <a:srgbClr val="FAFBFC"/>
                    </a:solidFill>
                  </a:tcPr>
                </a:tc>
                <a:tc>
                  <a:txBody>
                    <a:bodyPr/>
                    <a:lstStyle/>
                    <a:p>
                      <a:pPr algn="ctr"/>
                      <a:r>
                        <a:rPr lang="en-IN">
                          <a:effectLst/>
                        </a:rPr>
                        <a:t>Right</a:t>
                      </a:r>
                    </a:p>
                  </a:txBody>
                  <a:tcPr anchor="ctr">
                    <a:lnL>
                      <a:noFill/>
                    </a:lnL>
                    <a:lnR>
                      <a:noFill/>
                    </a:lnR>
                    <a:lnT>
                      <a:noFill/>
                    </a:lnT>
                    <a:lnB>
                      <a:noFill/>
                    </a:lnB>
                    <a:solidFill>
                      <a:srgbClr val="FAFBFC"/>
                    </a:solidFill>
                  </a:tcPr>
                </a:tc>
              </a:tr>
              <a:tr h="361950">
                <a:tc>
                  <a:txBody>
                    <a:bodyPr/>
                    <a:lstStyle/>
                    <a:p>
                      <a:pPr algn="ctr"/>
                      <a:r>
                        <a:rPr lang="en-IN">
                          <a:effectLst/>
                        </a:rPr>
                        <a:t>Preorder</a:t>
                      </a:r>
                    </a:p>
                  </a:txBody>
                  <a:tcPr anchor="ctr">
                    <a:lnL>
                      <a:noFill/>
                    </a:lnL>
                    <a:lnR>
                      <a:noFill/>
                    </a:lnR>
                    <a:lnT>
                      <a:noFill/>
                    </a:lnT>
                    <a:lnB>
                      <a:noFill/>
                    </a:lnB>
                    <a:solidFill>
                      <a:srgbClr val="FAFBFC"/>
                    </a:solidFill>
                  </a:tcPr>
                </a:tc>
                <a:tc>
                  <a:txBody>
                    <a:bodyPr/>
                    <a:lstStyle/>
                    <a:p>
                      <a:pPr algn="ctr"/>
                      <a:r>
                        <a:rPr lang="en-IN" dirty="0">
                          <a:effectLst/>
                        </a:rPr>
                        <a:t>Root</a:t>
                      </a:r>
                    </a:p>
                  </a:txBody>
                  <a:tcPr anchor="ctr">
                    <a:lnL>
                      <a:noFill/>
                    </a:lnL>
                    <a:lnR>
                      <a:noFill/>
                    </a:lnR>
                    <a:lnT>
                      <a:noFill/>
                    </a:lnT>
                    <a:lnB>
                      <a:noFill/>
                    </a:lnB>
                    <a:solidFill>
                      <a:srgbClr val="FAFBFC"/>
                    </a:solidFill>
                  </a:tcPr>
                </a:tc>
                <a:tc>
                  <a:txBody>
                    <a:bodyPr/>
                    <a:lstStyle/>
                    <a:p>
                      <a:pPr algn="ctr"/>
                      <a:r>
                        <a:rPr lang="en-IN" dirty="0">
                          <a:effectLst/>
                        </a:rPr>
                        <a:t>Left</a:t>
                      </a:r>
                    </a:p>
                  </a:txBody>
                  <a:tcPr anchor="ctr">
                    <a:lnL>
                      <a:noFill/>
                    </a:lnL>
                    <a:lnR>
                      <a:noFill/>
                    </a:lnR>
                    <a:lnT>
                      <a:noFill/>
                    </a:lnT>
                    <a:lnB>
                      <a:noFill/>
                    </a:lnB>
                    <a:solidFill>
                      <a:srgbClr val="FAFBFC"/>
                    </a:solidFill>
                  </a:tcPr>
                </a:tc>
                <a:tc>
                  <a:txBody>
                    <a:bodyPr/>
                    <a:lstStyle/>
                    <a:p>
                      <a:pPr algn="ctr"/>
                      <a:r>
                        <a:rPr lang="en-IN">
                          <a:effectLst/>
                        </a:rPr>
                        <a:t>Right</a:t>
                      </a:r>
                    </a:p>
                  </a:txBody>
                  <a:tcPr anchor="ctr">
                    <a:lnL>
                      <a:noFill/>
                    </a:lnL>
                    <a:lnR>
                      <a:noFill/>
                    </a:lnR>
                    <a:lnT>
                      <a:noFill/>
                    </a:lnT>
                    <a:lnB>
                      <a:noFill/>
                    </a:lnB>
                    <a:solidFill>
                      <a:srgbClr val="FAFBFC"/>
                    </a:solidFill>
                  </a:tcPr>
                </a:tc>
              </a:tr>
              <a:tr h="361950">
                <a:tc>
                  <a:txBody>
                    <a:bodyPr/>
                    <a:lstStyle/>
                    <a:p>
                      <a:pPr algn="ctr"/>
                      <a:r>
                        <a:rPr lang="en-IN" dirty="0" err="1">
                          <a:effectLst/>
                        </a:rPr>
                        <a:t>Postorder</a:t>
                      </a:r>
                      <a:endParaRPr lang="en-IN" dirty="0">
                        <a:effectLst/>
                      </a:endParaRPr>
                    </a:p>
                  </a:txBody>
                  <a:tcPr anchor="ctr">
                    <a:lnL>
                      <a:noFill/>
                    </a:lnL>
                    <a:lnR>
                      <a:noFill/>
                    </a:lnR>
                    <a:lnT>
                      <a:noFill/>
                    </a:lnT>
                    <a:lnB>
                      <a:noFill/>
                    </a:lnB>
                    <a:solidFill>
                      <a:srgbClr val="FAFBFC"/>
                    </a:solidFill>
                  </a:tcPr>
                </a:tc>
                <a:tc>
                  <a:txBody>
                    <a:bodyPr/>
                    <a:lstStyle/>
                    <a:p>
                      <a:pPr algn="ctr"/>
                      <a:r>
                        <a:rPr lang="en-IN" dirty="0">
                          <a:effectLst/>
                        </a:rPr>
                        <a:t>Left</a:t>
                      </a:r>
                    </a:p>
                  </a:txBody>
                  <a:tcPr anchor="ctr">
                    <a:lnL>
                      <a:noFill/>
                    </a:lnL>
                    <a:lnR>
                      <a:noFill/>
                    </a:lnR>
                    <a:lnT>
                      <a:noFill/>
                    </a:lnT>
                    <a:lnB>
                      <a:noFill/>
                    </a:lnB>
                    <a:solidFill>
                      <a:srgbClr val="FAFBFC"/>
                    </a:solidFill>
                  </a:tcPr>
                </a:tc>
                <a:tc>
                  <a:txBody>
                    <a:bodyPr/>
                    <a:lstStyle/>
                    <a:p>
                      <a:pPr algn="ctr"/>
                      <a:r>
                        <a:rPr lang="en-IN" dirty="0">
                          <a:effectLst/>
                        </a:rPr>
                        <a:t>Right</a:t>
                      </a:r>
                    </a:p>
                  </a:txBody>
                  <a:tcPr anchor="ctr">
                    <a:lnL>
                      <a:noFill/>
                    </a:lnL>
                    <a:lnR>
                      <a:noFill/>
                    </a:lnR>
                    <a:lnT>
                      <a:noFill/>
                    </a:lnT>
                    <a:lnB>
                      <a:noFill/>
                    </a:lnB>
                    <a:solidFill>
                      <a:srgbClr val="FAFBFC"/>
                    </a:solidFill>
                  </a:tcPr>
                </a:tc>
                <a:tc>
                  <a:txBody>
                    <a:bodyPr/>
                    <a:lstStyle/>
                    <a:p>
                      <a:pPr algn="ctr"/>
                      <a:r>
                        <a:rPr lang="en-IN" dirty="0">
                          <a:effectLst/>
                        </a:rPr>
                        <a:t>Root</a:t>
                      </a:r>
                    </a:p>
                  </a:txBody>
                  <a:tcPr anchor="ctr">
                    <a:lnL>
                      <a:noFill/>
                    </a:lnL>
                    <a:lnR>
                      <a:noFill/>
                    </a:lnR>
                    <a:lnT>
                      <a:noFill/>
                    </a:lnT>
                    <a:lnB>
                      <a:noFill/>
                    </a:lnB>
                    <a:solidFill>
                      <a:srgbClr val="FAFBFC"/>
                    </a:solidFill>
                  </a:tcPr>
                </a:tc>
              </a:tr>
            </a:tbl>
          </a:graphicData>
        </a:graphic>
      </p:graphicFrame>
      <p:sp>
        <p:nvSpPr>
          <p:cNvPr id="3" name="Title 2"/>
          <p:cNvSpPr>
            <a:spLocks noGrp="1"/>
          </p:cNvSpPr>
          <p:nvPr>
            <p:ph type="title"/>
          </p:nvPr>
        </p:nvSpPr>
        <p:spPr>
          <a:xfrm>
            <a:off x="457200" y="274638"/>
            <a:ext cx="8229600" cy="334962"/>
          </a:xfrm>
        </p:spPr>
        <p:txBody>
          <a:bodyPr>
            <a:normAutofit fontScale="90000"/>
          </a:bodyPr>
          <a:lstStyle/>
          <a:p>
            <a:r>
              <a:rPr lang="en-US" sz="2400" dirty="0">
                <a:effectLst/>
                <a:latin typeface="Calibri" pitchFamily="34" charset="0"/>
                <a:cs typeface="Calibri" pitchFamily="34" charset="0"/>
              </a:rPr>
              <a:t>Trees and Binary Trees</a:t>
            </a:r>
            <a:endParaRPr lang="en-IN" sz="2400" dirty="0">
              <a:latin typeface="Calibri" pitchFamily="34" charset="0"/>
              <a:cs typeface="Calibri" pitchFamily="34" charset="0"/>
            </a:endParaRPr>
          </a:p>
        </p:txBody>
      </p:sp>
      <p:pic>
        <p:nvPicPr>
          <p:cNvPr id="3073"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514600"/>
            <a:ext cx="80010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93429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334962"/>
          </a:xfrm>
        </p:spPr>
        <p:txBody>
          <a:bodyPr>
            <a:normAutofit fontScale="90000"/>
          </a:bodyPr>
          <a:lstStyle/>
          <a:p>
            <a:r>
              <a:rPr lang="en-IN" sz="2000" dirty="0">
                <a:effectLst/>
              </a:rPr>
              <a:t>Threaded Binary Tree</a:t>
            </a:r>
          </a:p>
        </p:txBody>
      </p:sp>
      <p:sp>
        <p:nvSpPr>
          <p:cNvPr id="5" name="Content Placeholder 4"/>
          <p:cNvSpPr>
            <a:spLocks noGrp="1"/>
          </p:cNvSpPr>
          <p:nvPr>
            <p:ph idx="1"/>
          </p:nvPr>
        </p:nvSpPr>
        <p:spPr>
          <a:xfrm>
            <a:off x="457200" y="762000"/>
            <a:ext cx="8229600" cy="5245291"/>
          </a:xfrm>
        </p:spPr>
        <p:txBody>
          <a:bodyPr>
            <a:normAutofit/>
          </a:bodyPr>
          <a:lstStyle/>
          <a:p>
            <a:r>
              <a:rPr lang="en-US" sz="1800" dirty="0">
                <a:latin typeface="Calibri" pitchFamily="34" charset="0"/>
                <a:cs typeface="Calibri" pitchFamily="34" charset="0"/>
              </a:rPr>
              <a:t>In a threaded binary tree, either of the NULL pointers of leaf nodes is made to point to their successor or </a:t>
            </a:r>
            <a:r>
              <a:rPr lang="en-US" sz="1800" dirty="0" smtClean="0">
                <a:latin typeface="Calibri" pitchFamily="34" charset="0"/>
                <a:cs typeface="Calibri" pitchFamily="34" charset="0"/>
              </a:rPr>
              <a:t>predecessor nodes</a:t>
            </a:r>
          </a:p>
          <a:p>
            <a:r>
              <a:rPr lang="en-US" sz="1800" dirty="0">
                <a:latin typeface="Calibri" pitchFamily="34" charset="0"/>
                <a:cs typeface="Calibri" pitchFamily="34" charset="0"/>
              </a:rPr>
              <a:t>We know every node of the binary tree stores the data value of the node and the address pointers of the left and right children. If a node in a binary tree does not have a left or right child or is a leaf node, then the child node’s absence is represented by a null pointer</a:t>
            </a:r>
            <a:r>
              <a:rPr lang="en-US" sz="2000" dirty="0" smtClean="0"/>
              <a:t>.</a:t>
            </a:r>
          </a:p>
          <a:p>
            <a:r>
              <a:rPr lang="en-US" sz="2000" dirty="0">
                <a:latin typeface="Calibri" pitchFamily="34" charset="0"/>
                <a:cs typeface="Calibri" pitchFamily="34" charset="0"/>
              </a:rPr>
              <a:t>Consider </a:t>
            </a:r>
            <a:r>
              <a:rPr lang="en-US" sz="2000" dirty="0" smtClean="0">
                <a:latin typeface="Calibri" pitchFamily="34" charset="0"/>
                <a:cs typeface="Calibri" pitchFamily="34" charset="0"/>
              </a:rPr>
              <a:t>the </a:t>
            </a:r>
            <a:r>
              <a:rPr lang="en-US" sz="2000" dirty="0">
                <a:latin typeface="Calibri" pitchFamily="34" charset="0"/>
                <a:cs typeface="Calibri" pitchFamily="34" charset="0"/>
              </a:rPr>
              <a:t>following Binary Tree</a:t>
            </a:r>
            <a:r>
              <a:rPr lang="en-US" sz="2000" dirty="0" smtClean="0"/>
              <a:t>.</a:t>
            </a:r>
          </a:p>
          <a:p>
            <a:endParaRPr lang="en-IN" sz="2000" dirty="0">
              <a:latin typeface="Calibri" pitchFamily="34" charset="0"/>
              <a:cs typeface="Calibri" pitchFamily="34"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3251200"/>
            <a:ext cx="4486275" cy="278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512272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334962"/>
          </a:xfrm>
        </p:spPr>
        <p:txBody>
          <a:bodyPr>
            <a:normAutofit fontScale="90000"/>
          </a:bodyPr>
          <a:lstStyle/>
          <a:p>
            <a:r>
              <a:rPr lang="en-IN" sz="2000" dirty="0">
                <a:effectLst/>
              </a:rPr>
              <a:t>Threaded Binary Tree</a:t>
            </a:r>
          </a:p>
        </p:txBody>
      </p:sp>
      <p:sp>
        <p:nvSpPr>
          <p:cNvPr id="5" name="Content Placeholder 4"/>
          <p:cNvSpPr>
            <a:spLocks noGrp="1"/>
          </p:cNvSpPr>
          <p:nvPr>
            <p:ph idx="1"/>
          </p:nvPr>
        </p:nvSpPr>
        <p:spPr>
          <a:xfrm>
            <a:off x="457200" y="762000"/>
            <a:ext cx="8229600" cy="5245291"/>
          </a:xfrm>
        </p:spPr>
        <p:txBody>
          <a:bodyPr>
            <a:normAutofit fontScale="92500" lnSpcReduction="10000"/>
          </a:bodyPr>
          <a:lstStyle/>
          <a:p>
            <a:r>
              <a:rPr lang="en-US" sz="1800" dirty="0">
                <a:solidFill>
                  <a:srgbClr val="000000"/>
                </a:solidFill>
                <a:latin typeface="Calibri" pitchFamily="34" charset="0"/>
                <a:cs typeface="Calibri" pitchFamily="34" charset="0"/>
              </a:rPr>
              <a:t>Many nodes present in this tree hold a NULL value in their left or right child pointer (Denoted by sketched fields). The space occupied by these null values can be used to store some kind of valuable information. </a:t>
            </a:r>
            <a:endParaRPr lang="en-US" sz="1800" dirty="0">
              <a:solidFill>
                <a:srgbClr val="616161"/>
              </a:solidFill>
              <a:latin typeface="Calibri" pitchFamily="34" charset="0"/>
              <a:cs typeface="Calibri" pitchFamily="34" charset="0"/>
            </a:endParaRPr>
          </a:p>
          <a:p>
            <a:r>
              <a:rPr lang="en-US" sz="1800" dirty="0">
                <a:solidFill>
                  <a:srgbClr val="000000"/>
                </a:solidFill>
                <a:latin typeface="Calibri" pitchFamily="34" charset="0"/>
                <a:cs typeface="Calibri" pitchFamily="34" charset="0"/>
              </a:rPr>
              <a:t>One possible way to </a:t>
            </a:r>
            <a:r>
              <a:rPr lang="en-US" sz="1800" dirty="0" err="1">
                <a:solidFill>
                  <a:srgbClr val="000000"/>
                </a:solidFill>
                <a:latin typeface="Calibri" pitchFamily="34" charset="0"/>
                <a:cs typeface="Calibri" pitchFamily="34" charset="0"/>
              </a:rPr>
              <a:t>utilise</a:t>
            </a:r>
            <a:r>
              <a:rPr lang="en-US" sz="1800" dirty="0">
                <a:solidFill>
                  <a:srgbClr val="000000"/>
                </a:solidFill>
                <a:latin typeface="Calibri" pitchFamily="34" charset="0"/>
                <a:cs typeface="Calibri" pitchFamily="34" charset="0"/>
              </a:rPr>
              <a:t> this space is to have a special pointer that points to nodes higher in the tree (i.e. ancestors). These special pointers are called threads, and the binary tree having such pointers is called a threaded binary tree. </a:t>
            </a:r>
            <a:endParaRPr lang="en-US" sz="1800" dirty="0">
              <a:solidFill>
                <a:srgbClr val="616161"/>
              </a:solidFill>
              <a:latin typeface="Calibri" pitchFamily="34" charset="0"/>
              <a:cs typeface="Calibri" pitchFamily="34" charset="0"/>
            </a:endParaRPr>
          </a:p>
          <a:p>
            <a:r>
              <a:rPr lang="en-US" sz="1800" dirty="0">
                <a:solidFill>
                  <a:srgbClr val="000000"/>
                </a:solidFill>
                <a:latin typeface="Calibri" pitchFamily="34" charset="0"/>
                <a:cs typeface="Calibri" pitchFamily="34" charset="0"/>
              </a:rPr>
              <a:t>A Threaded Binary Tree is a variant of a normal Binary Tree that facilitates faster tree traversal and does not require a Stack or Recursion. It decreases the memory wastage by setting the null pointers of a leaf node to the in-order predecessor or in-order successor.</a:t>
            </a:r>
            <a:endParaRPr lang="en-US" sz="1800" dirty="0">
              <a:solidFill>
                <a:srgbClr val="616161"/>
              </a:solidFill>
              <a:latin typeface="Calibri" pitchFamily="34" charset="0"/>
              <a:cs typeface="Calibri" pitchFamily="34" charset="0"/>
            </a:endParaRPr>
          </a:p>
          <a:p>
            <a:r>
              <a:rPr lang="en-US" sz="1800" dirty="0">
                <a:latin typeface="Calibri" pitchFamily="34" charset="0"/>
                <a:cs typeface="Calibri" pitchFamily="34" charset="0"/>
              </a:rPr>
              <a:t>In a Threaded Binary Tree, the nodes will store the in-order predecessor/successor instead of storing NULL in the left/right child pointers. </a:t>
            </a:r>
          </a:p>
          <a:p>
            <a:endParaRPr lang="en-US" sz="1800" dirty="0">
              <a:latin typeface="Calibri" pitchFamily="34" charset="0"/>
              <a:cs typeface="Calibri" pitchFamily="34" charset="0"/>
            </a:endParaRPr>
          </a:p>
          <a:p>
            <a:r>
              <a:rPr lang="en-US" sz="1800" dirty="0">
                <a:latin typeface="Calibri" pitchFamily="34" charset="0"/>
                <a:cs typeface="Calibri" pitchFamily="34" charset="0"/>
              </a:rPr>
              <a:t>So the basic idea of a threaded binary tree is that for the nodes whose right pointer is null, we store the in-order successor of the node (if-exists), and for the nodes whose left pointer is null, we store the in-order predecessor of the node(if-exists). </a:t>
            </a:r>
          </a:p>
          <a:p>
            <a:endParaRPr lang="en-US" sz="1800" dirty="0">
              <a:latin typeface="Calibri" pitchFamily="34" charset="0"/>
              <a:cs typeface="Calibri" pitchFamily="34" charset="0"/>
            </a:endParaRPr>
          </a:p>
          <a:p>
            <a:r>
              <a:rPr lang="en-US" sz="1800" dirty="0">
                <a:latin typeface="Calibri" pitchFamily="34" charset="0"/>
                <a:cs typeface="Calibri" pitchFamily="34" charset="0"/>
              </a:rPr>
              <a:t>One thing to note is that the leftmost and the rightmost child pointer of a tree always points to null as their in-order predecessor and successor do not exist. </a:t>
            </a:r>
            <a:endParaRPr lang="en-IN" sz="1800" dirty="0">
              <a:latin typeface="Calibri" pitchFamily="34" charset="0"/>
              <a:cs typeface="Calibri" pitchFamily="34" charset="0"/>
            </a:endParaRPr>
          </a:p>
        </p:txBody>
      </p:sp>
    </p:spTree>
    <p:extLst>
      <p:ext uri="{BB962C8B-B14F-4D97-AF65-F5344CB8AC3E}">
        <p14:creationId xmlns:p14="http://schemas.microsoft.com/office/powerpoint/2010/main" val="26732371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334962"/>
          </a:xfrm>
        </p:spPr>
        <p:txBody>
          <a:bodyPr>
            <a:normAutofit fontScale="90000"/>
          </a:bodyPr>
          <a:lstStyle/>
          <a:p>
            <a:r>
              <a:rPr lang="en-IN" sz="2000" dirty="0">
                <a:effectLst/>
              </a:rPr>
              <a:t>Threaded Binary Tree</a:t>
            </a:r>
          </a:p>
        </p:txBody>
      </p:sp>
      <p:sp>
        <p:nvSpPr>
          <p:cNvPr id="5" name="Content Placeholder 4"/>
          <p:cNvSpPr>
            <a:spLocks noGrp="1"/>
          </p:cNvSpPr>
          <p:nvPr>
            <p:ph idx="1"/>
          </p:nvPr>
        </p:nvSpPr>
        <p:spPr>
          <a:xfrm>
            <a:off x="457200" y="762000"/>
            <a:ext cx="8229600" cy="5245291"/>
          </a:xfrm>
        </p:spPr>
        <p:txBody>
          <a:bodyPr>
            <a:normAutofit/>
          </a:bodyPr>
          <a:lstStyle/>
          <a:p>
            <a:r>
              <a:rPr lang="en-US" sz="1800" dirty="0">
                <a:latin typeface="Calibri" pitchFamily="34" charset="0"/>
                <a:cs typeface="Calibri" pitchFamily="34" charset="0"/>
              </a:rPr>
              <a:t>To understand this, let’s look at an example of a Threaded Binary Tree</a:t>
            </a:r>
            <a:r>
              <a:rPr lang="en-US" sz="1800" dirty="0" smtClean="0">
                <a:latin typeface="Calibri" pitchFamily="34" charset="0"/>
                <a:cs typeface="Calibri" pitchFamily="34" charset="0"/>
              </a:rPr>
              <a:t>.</a:t>
            </a:r>
          </a:p>
          <a:p>
            <a:endParaRPr lang="en-IN" sz="1800" dirty="0">
              <a:latin typeface="Calibri" pitchFamily="34" charset="0"/>
              <a:cs typeface="Calibri" pitchFamily="34" charset="0"/>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295400"/>
            <a:ext cx="628650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71807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334962"/>
          </a:xfrm>
        </p:spPr>
        <p:txBody>
          <a:bodyPr>
            <a:normAutofit fontScale="90000"/>
          </a:bodyPr>
          <a:lstStyle/>
          <a:p>
            <a:r>
              <a:rPr lang="en-IN" sz="2000" dirty="0">
                <a:effectLst/>
              </a:rPr>
              <a:t>Threaded Binary Tree</a:t>
            </a:r>
          </a:p>
        </p:txBody>
      </p:sp>
      <p:sp>
        <p:nvSpPr>
          <p:cNvPr id="5" name="Content Placeholder 4"/>
          <p:cNvSpPr>
            <a:spLocks noGrp="1"/>
          </p:cNvSpPr>
          <p:nvPr>
            <p:ph idx="1"/>
          </p:nvPr>
        </p:nvSpPr>
        <p:spPr>
          <a:xfrm>
            <a:off x="457200" y="762000"/>
            <a:ext cx="8229600" cy="5245291"/>
          </a:xfrm>
        </p:spPr>
        <p:txBody>
          <a:bodyPr>
            <a:normAutofit/>
          </a:bodyPr>
          <a:lstStyle/>
          <a:p>
            <a:r>
              <a:rPr lang="en-US" sz="1800" dirty="0">
                <a:latin typeface="Calibri" pitchFamily="34" charset="0"/>
                <a:cs typeface="Calibri" pitchFamily="34" charset="0"/>
              </a:rPr>
              <a:t>In the above-given figure, the right pointer of node value 6 points to 9. </a:t>
            </a:r>
          </a:p>
          <a:p>
            <a:endParaRPr lang="en-US" sz="1800" dirty="0">
              <a:latin typeface="Calibri" pitchFamily="34" charset="0"/>
              <a:cs typeface="Calibri" pitchFamily="34" charset="0"/>
            </a:endParaRPr>
          </a:p>
          <a:p>
            <a:r>
              <a:rPr lang="en-US" sz="1800" dirty="0">
                <a:latin typeface="Calibri" pitchFamily="34" charset="0"/>
                <a:cs typeface="Calibri" pitchFamily="34" charset="0"/>
              </a:rPr>
              <a:t>Now, we will check the left pointer of node 9, and if it is NULL, then we modify the reference to the predecessor of the node, which is 6.</a:t>
            </a:r>
          </a:p>
          <a:p>
            <a:r>
              <a:rPr lang="en-US" sz="1800" dirty="0">
                <a:latin typeface="Calibri" pitchFamily="34" charset="0"/>
                <a:cs typeface="Calibri" pitchFamily="34" charset="0"/>
              </a:rPr>
              <a:t>Then, we will check for the right pointer, and if it is also NULL, we will point it to the successor node, which is 10. Thus, it will point to 10.</a:t>
            </a:r>
          </a:p>
          <a:p>
            <a:r>
              <a:rPr lang="en-US" sz="1800" dirty="0">
                <a:latin typeface="Calibri" pitchFamily="34" charset="0"/>
                <a:cs typeface="Calibri" pitchFamily="34" charset="0"/>
              </a:rPr>
              <a:t>We point to in-order predecessors/successors in left/right pointers using threads (denoted by dotted lines) as shown in the figure above, and that is why it is known as a Threaded Binary Tree. </a:t>
            </a:r>
          </a:p>
          <a:p>
            <a:r>
              <a:rPr lang="en-US" sz="1800" dirty="0">
                <a:latin typeface="Calibri" pitchFamily="34" charset="0"/>
                <a:cs typeface="Calibri" pitchFamily="34" charset="0"/>
              </a:rPr>
              <a:t>Since the leftmost pointer of this tree is the left pointer of node value 5 and the rightmost pointer of this tree is the right pointer of node value 20, they both point to NULL.</a:t>
            </a:r>
          </a:p>
          <a:p>
            <a:r>
              <a:rPr lang="en-US" sz="1800" dirty="0">
                <a:latin typeface="Calibri" pitchFamily="34" charset="0"/>
                <a:cs typeface="Calibri" pitchFamily="34" charset="0"/>
              </a:rPr>
              <a:t> </a:t>
            </a:r>
          </a:p>
          <a:p>
            <a:r>
              <a:rPr lang="en-US" sz="1800" dirty="0">
                <a:latin typeface="Calibri" pitchFamily="34" charset="0"/>
                <a:cs typeface="Calibri" pitchFamily="34" charset="0"/>
              </a:rPr>
              <a:t>The main idea behind setting such a structure is to make the </a:t>
            </a:r>
            <a:r>
              <a:rPr lang="en-US" sz="1800" dirty="0" err="1">
                <a:latin typeface="Calibri" pitchFamily="34" charset="0"/>
                <a:cs typeface="Calibri" pitchFamily="34" charset="0"/>
              </a:rPr>
              <a:t>inorder</a:t>
            </a:r>
            <a:r>
              <a:rPr lang="en-US" sz="1800" dirty="0">
                <a:latin typeface="Calibri" pitchFamily="34" charset="0"/>
                <a:cs typeface="Calibri" pitchFamily="34" charset="0"/>
              </a:rPr>
              <a:t> and preorder traversal of a binary tree faster without using any additional data structure (e.g. auxiliary stack) or memory for its traversal.</a:t>
            </a:r>
            <a:endParaRPr lang="en-IN" sz="1800" dirty="0">
              <a:latin typeface="Calibri" pitchFamily="34" charset="0"/>
              <a:cs typeface="Calibri" pitchFamily="34" charset="0"/>
            </a:endParaRPr>
          </a:p>
        </p:txBody>
      </p:sp>
    </p:spTree>
    <p:extLst>
      <p:ext uri="{BB962C8B-B14F-4D97-AF65-F5344CB8AC3E}">
        <p14:creationId xmlns:p14="http://schemas.microsoft.com/office/powerpoint/2010/main" val="20040500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334962"/>
          </a:xfrm>
        </p:spPr>
        <p:txBody>
          <a:bodyPr>
            <a:normAutofit fontScale="90000"/>
          </a:bodyPr>
          <a:lstStyle/>
          <a:p>
            <a:r>
              <a:rPr lang="en-IN" sz="2000" dirty="0">
                <a:effectLst/>
              </a:rPr>
              <a:t>Threaded Binary Tree</a:t>
            </a:r>
          </a:p>
        </p:txBody>
      </p:sp>
      <p:sp>
        <p:nvSpPr>
          <p:cNvPr id="5" name="Content Placeholder 4"/>
          <p:cNvSpPr>
            <a:spLocks noGrp="1"/>
          </p:cNvSpPr>
          <p:nvPr>
            <p:ph idx="1"/>
          </p:nvPr>
        </p:nvSpPr>
        <p:spPr>
          <a:xfrm>
            <a:off x="457200" y="762000"/>
            <a:ext cx="8229600" cy="5245291"/>
          </a:xfrm>
        </p:spPr>
        <p:txBody>
          <a:bodyPr>
            <a:normAutofit lnSpcReduction="10000"/>
          </a:bodyPr>
          <a:lstStyle/>
          <a:p>
            <a:r>
              <a:rPr lang="en-US" sz="1800" b="1" dirty="0">
                <a:latin typeface="Calibri" pitchFamily="34" charset="0"/>
                <a:cs typeface="Calibri" pitchFamily="34" charset="0"/>
              </a:rPr>
              <a:t>Types of Threaded Binary tree</a:t>
            </a:r>
          </a:p>
          <a:p>
            <a:r>
              <a:rPr lang="en-US" sz="1800" dirty="0">
                <a:solidFill>
                  <a:srgbClr val="000000"/>
                </a:solidFill>
                <a:latin typeface="Calibri" pitchFamily="34" charset="0"/>
                <a:cs typeface="Calibri" pitchFamily="34" charset="0"/>
              </a:rPr>
              <a:t>There are two types of Threaded Binary Trees:</a:t>
            </a:r>
            <a:endParaRPr lang="en-US" sz="1800" dirty="0">
              <a:solidFill>
                <a:srgbClr val="616161"/>
              </a:solidFill>
              <a:latin typeface="Calibri" pitchFamily="34" charset="0"/>
              <a:cs typeface="Calibri" pitchFamily="34" charset="0"/>
            </a:endParaRPr>
          </a:p>
          <a:p>
            <a:pPr>
              <a:buFont typeface="+mj-lt"/>
              <a:buAutoNum type="arabicPeriod"/>
            </a:pPr>
            <a:r>
              <a:rPr lang="en-US" sz="1800" b="1" dirty="0">
                <a:solidFill>
                  <a:srgbClr val="000000"/>
                </a:solidFill>
                <a:latin typeface="Calibri" pitchFamily="34" charset="0"/>
                <a:cs typeface="Calibri" pitchFamily="34" charset="0"/>
              </a:rPr>
              <a:t>Single-Threaded Binary Tree </a:t>
            </a:r>
            <a:r>
              <a:rPr lang="en-US" sz="1800" dirty="0">
                <a:solidFill>
                  <a:srgbClr val="616161"/>
                </a:solidFill>
                <a:latin typeface="Calibri" pitchFamily="34" charset="0"/>
                <a:cs typeface="Calibri" pitchFamily="34" charset="0"/>
              </a:rPr>
              <a:t/>
            </a:r>
            <a:br>
              <a:rPr lang="en-US" sz="1800" dirty="0">
                <a:solidFill>
                  <a:srgbClr val="616161"/>
                </a:solidFill>
                <a:latin typeface="Calibri" pitchFamily="34" charset="0"/>
                <a:cs typeface="Calibri" pitchFamily="34" charset="0"/>
              </a:rPr>
            </a:br>
            <a:r>
              <a:rPr lang="en-US" sz="1800" dirty="0">
                <a:solidFill>
                  <a:srgbClr val="616161"/>
                </a:solidFill>
                <a:latin typeface="Calibri" pitchFamily="34" charset="0"/>
                <a:cs typeface="Calibri" pitchFamily="34" charset="0"/>
              </a:rPr>
              <a:t> </a:t>
            </a:r>
          </a:p>
          <a:p>
            <a:r>
              <a:rPr lang="en-US" sz="1800" dirty="0">
                <a:solidFill>
                  <a:srgbClr val="000000"/>
                </a:solidFill>
                <a:latin typeface="Calibri" pitchFamily="34" charset="0"/>
                <a:cs typeface="Calibri" pitchFamily="34" charset="0"/>
              </a:rPr>
              <a:t>In this type, if a node has a right null pointer, then this right pointer is threaded towards the in-order successor’s node if it exists. </a:t>
            </a:r>
            <a:endParaRPr lang="en-US" sz="1800" dirty="0">
              <a:solidFill>
                <a:srgbClr val="616161"/>
              </a:solidFill>
              <a:latin typeface="Calibri" pitchFamily="34" charset="0"/>
              <a:cs typeface="Calibri" pitchFamily="34" charset="0"/>
            </a:endParaRPr>
          </a:p>
          <a:p>
            <a:r>
              <a:rPr lang="en-US" sz="1800" dirty="0">
                <a:latin typeface="Calibri" pitchFamily="34" charset="0"/>
                <a:cs typeface="Calibri" pitchFamily="34" charset="0"/>
              </a:rPr>
              <a:t>Node Structure of Single-Threaded Binary Trees: The structure of a node in a binary threaded tree is quite similar to that of a binary tree, but with some modifications. In threaded binary trees, we need to use extra </a:t>
            </a:r>
            <a:r>
              <a:rPr lang="en-US" sz="1800" dirty="0" err="1">
                <a:latin typeface="Calibri" pitchFamily="34" charset="0"/>
                <a:cs typeface="Calibri" pitchFamily="34" charset="0"/>
              </a:rPr>
              <a:t>boolean</a:t>
            </a:r>
            <a:r>
              <a:rPr lang="en-US" sz="1800" dirty="0">
                <a:latin typeface="Calibri" pitchFamily="34" charset="0"/>
                <a:cs typeface="Calibri" pitchFamily="34" charset="0"/>
              </a:rPr>
              <a:t> variables in the node structure. For single-threaded binary trees, we use only the </a:t>
            </a:r>
            <a:r>
              <a:rPr lang="en-US" sz="1800" dirty="0" err="1">
                <a:latin typeface="Calibri" pitchFamily="34" charset="0"/>
                <a:cs typeface="Calibri" pitchFamily="34" charset="0"/>
              </a:rPr>
              <a:t>rightThread</a:t>
            </a:r>
            <a:r>
              <a:rPr lang="en-US" sz="1800" dirty="0">
                <a:latin typeface="Calibri" pitchFamily="34" charset="0"/>
                <a:cs typeface="Calibri" pitchFamily="34" charset="0"/>
              </a:rPr>
              <a:t> variable.</a:t>
            </a:r>
            <a:br>
              <a:rPr lang="en-US" sz="1800" dirty="0">
                <a:latin typeface="Calibri" pitchFamily="34" charset="0"/>
                <a:cs typeface="Calibri" pitchFamily="34" charset="0"/>
              </a:rPr>
            </a:br>
            <a:r>
              <a:rPr lang="en-US" sz="1800" dirty="0">
                <a:latin typeface="Calibri" pitchFamily="34" charset="0"/>
                <a:cs typeface="Calibri" pitchFamily="34" charset="0"/>
              </a:rPr>
              <a:t/>
            </a:r>
            <a:br>
              <a:rPr lang="en-US" sz="1800" dirty="0">
                <a:latin typeface="Calibri" pitchFamily="34" charset="0"/>
                <a:cs typeface="Calibri" pitchFamily="34" charset="0"/>
              </a:rPr>
            </a:br>
            <a:r>
              <a:rPr lang="en-US" sz="1800" dirty="0" err="1">
                <a:latin typeface="Calibri" pitchFamily="34" charset="0"/>
                <a:cs typeface="Calibri" pitchFamily="34" charset="0"/>
              </a:rPr>
              <a:t>struct</a:t>
            </a:r>
            <a:r>
              <a:rPr lang="en-US" sz="1800" dirty="0">
                <a:latin typeface="Calibri" pitchFamily="34" charset="0"/>
                <a:cs typeface="Calibri" pitchFamily="34" charset="0"/>
              </a:rPr>
              <a:t> Node{</a:t>
            </a:r>
          </a:p>
          <a:p>
            <a:r>
              <a:rPr lang="en-US" sz="1800" dirty="0">
                <a:latin typeface="Calibri" pitchFamily="34" charset="0"/>
                <a:cs typeface="Calibri" pitchFamily="34" charset="0"/>
              </a:rPr>
              <a:t>    </a:t>
            </a:r>
            <a:r>
              <a:rPr lang="en-US" sz="1800" dirty="0" err="1">
                <a:latin typeface="Calibri" pitchFamily="34" charset="0"/>
                <a:cs typeface="Calibri" pitchFamily="34" charset="0"/>
              </a:rPr>
              <a:t>int</a:t>
            </a:r>
            <a:r>
              <a:rPr lang="en-US" sz="1800" dirty="0">
                <a:latin typeface="Calibri" pitchFamily="34" charset="0"/>
                <a:cs typeface="Calibri" pitchFamily="34" charset="0"/>
              </a:rPr>
              <a:t> value;</a:t>
            </a:r>
          </a:p>
          <a:p>
            <a:r>
              <a:rPr lang="en-US" sz="1800" dirty="0">
                <a:latin typeface="Calibri" pitchFamily="34" charset="0"/>
                <a:cs typeface="Calibri" pitchFamily="34" charset="0"/>
              </a:rPr>
              <a:t>    Node* left;</a:t>
            </a:r>
          </a:p>
          <a:p>
            <a:r>
              <a:rPr lang="en-US" sz="1800" dirty="0">
                <a:latin typeface="Calibri" pitchFamily="34" charset="0"/>
                <a:cs typeface="Calibri" pitchFamily="34" charset="0"/>
              </a:rPr>
              <a:t>    Node* right;</a:t>
            </a:r>
          </a:p>
          <a:p>
            <a:r>
              <a:rPr lang="en-US" sz="1800" dirty="0">
                <a:latin typeface="Calibri" pitchFamily="34" charset="0"/>
                <a:cs typeface="Calibri" pitchFamily="34" charset="0"/>
              </a:rPr>
              <a:t>    </a:t>
            </a:r>
            <a:r>
              <a:rPr lang="en-US" sz="1800" dirty="0" err="1">
                <a:latin typeface="Calibri" pitchFamily="34" charset="0"/>
                <a:cs typeface="Calibri" pitchFamily="34" charset="0"/>
              </a:rPr>
              <a:t>bool</a:t>
            </a:r>
            <a:r>
              <a:rPr lang="en-US" sz="1800" dirty="0">
                <a:latin typeface="Calibri" pitchFamily="34" charset="0"/>
                <a:cs typeface="Calibri" pitchFamily="34" charset="0"/>
              </a:rPr>
              <a:t> </a:t>
            </a:r>
            <a:r>
              <a:rPr lang="en-US" sz="1800" dirty="0" err="1">
                <a:latin typeface="Calibri" pitchFamily="34" charset="0"/>
                <a:cs typeface="Calibri" pitchFamily="34" charset="0"/>
              </a:rPr>
              <a:t>rightThread</a:t>
            </a:r>
            <a:r>
              <a:rPr lang="en-US" sz="1800" dirty="0">
                <a:latin typeface="Calibri" pitchFamily="34" charset="0"/>
                <a:cs typeface="Calibri" pitchFamily="34" charset="0"/>
              </a:rPr>
              <a:t>;</a:t>
            </a:r>
          </a:p>
          <a:p>
            <a:r>
              <a:rPr lang="en-US" sz="1800" dirty="0">
                <a:latin typeface="Calibri" pitchFamily="34" charset="0"/>
                <a:cs typeface="Calibri" pitchFamily="34" charset="0"/>
              </a:rPr>
              <a:t> }</a:t>
            </a:r>
            <a:endParaRPr lang="en-IN" sz="1800" dirty="0">
              <a:latin typeface="Calibri" pitchFamily="34" charset="0"/>
              <a:cs typeface="Calibri" pitchFamily="34" charset="0"/>
            </a:endParaRPr>
          </a:p>
        </p:txBody>
      </p:sp>
    </p:spTree>
    <p:extLst>
      <p:ext uri="{BB962C8B-B14F-4D97-AF65-F5344CB8AC3E}">
        <p14:creationId xmlns:p14="http://schemas.microsoft.com/office/powerpoint/2010/main" val="40233930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334962"/>
          </a:xfrm>
        </p:spPr>
        <p:txBody>
          <a:bodyPr>
            <a:normAutofit fontScale="90000"/>
          </a:bodyPr>
          <a:lstStyle/>
          <a:p>
            <a:r>
              <a:rPr lang="en-IN" sz="2000" dirty="0">
                <a:effectLst/>
              </a:rPr>
              <a:t>Threaded Binary Tree</a:t>
            </a:r>
          </a:p>
        </p:txBody>
      </p:sp>
      <p:sp>
        <p:nvSpPr>
          <p:cNvPr id="5" name="Content Placeholder 4"/>
          <p:cNvSpPr>
            <a:spLocks noGrp="1"/>
          </p:cNvSpPr>
          <p:nvPr>
            <p:ph idx="1"/>
          </p:nvPr>
        </p:nvSpPr>
        <p:spPr>
          <a:xfrm>
            <a:off x="457200" y="762000"/>
            <a:ext cx="8229600" cy="5245291"/>
          </a:xfrm>
        </p:spPr>
        <p:txBody>
          <a:bodyPr>
            <a:normAutofit/>
          </a:bodyPr>
          <a:lstStyle/>
          <a:p>
            <a:r>
              <a:rPr lang="en-US" sz="1800" dirty="0">
                <a:latin typeface="Calibri" pitchFamily="34" charset="0"/>
                <a:cs typeface="Calibri" pitchFamily="34" charset="0"/>
              </a:rPr>
              <a:t>The following diagram depicts an example of a Single-Threaded Binary Tree. Dotted lines represent threads</a:t>
            </a:r>
            <a:r>
              <a:rPr lang="en-US" sz="1800" dirty="0" smtClean="0">
                <a:latin typeface="Calibri" pitchFamily="34" charset="0"/>
                <a:cs typeface="Calibri" pitchFamily="34" charset="0"/>
              </a:rPr>
              <a:t>.</a:t>
            </a:r>
          </a:p>
          <a:p>
            <a:endParaRPr lang="en-IN" sz="1800" dirty="0">
              <a:latin typeface="Calibri" pitchFamily="34" charset="0"/>
              <a:cs typeface="Calibri" pitchFamily="34" charset="0"/>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507361"/>
            <a:ext cx="3248025"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457200" y="3944878"/>
            <a:ext cx="8229600" cy="1477328"/>
          </a:xfrm>
          <a:prstGeom prst="rect">
            <a:avLst/>
          </a:prstGeom>
        </p:spPr>
        <p:txBody>
          <a:bodyPr wrap="square">
            <a:spAutoFit/>
          </a:bodyPr>
          <a:lstStyle/>
          <a:p>
            <a:r>
              <a:rPr lang="en-US" dirty="0"/>
              <a:t>In the figure given above, you can observe the node value 20 does not have any child nodes. So, the right pointer of node value 20 is null and therefore, it is pointing to its in-order successor (node value 30) through a thread. Similarly, the other nodes of this tree containing a right null pointer refer to their in-order successor, as shown.</a:t>
            </a:r>
            <a:endParaRPr lang="en-IN" dirty="0"/>
          </a:p>
        </p:txBody>
      </p:sp>
    </p:spTree>
    <p:extLst>
      <p:ext uri="{BB962C8B-B14F-4D97-AF65-F5344CB8AC3E}">
        <p14:creationId xmlns:p14="http://schemas.microsoft.com/office/powerpoint/2010/main" val="7865991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334962"/>
          </a:xfrm>
        </p:spPr>
        <p:txBody>
          <a:bodyPr>
            <a:normAutofit fontScale="90000"/>
          </a:bodyPr>
          <a:lstStyle/>
          <a:p>
            <a:r>
              <a:rPr lang="en-IN" sz="2000" dirty="0">
                <a:effectLst/>
              </a:rPr>
              <a:t>Threaded Binary Tree</a:t>
            </a:r>
          </a:p>
        </p:txBody>
      </p:sp>
      <p:sp>
        <p:nvSpPr>
          <p:cNvPr id="5" name="Content Placeholder 4"/>
          <p:cNvSpPr>
            <a:spLocks noGrp="1"/>
          </p:cNvSpPr>
          <p:nvPr>
            <p:ph idx="1"/>
          </p:nvPr>
        </p:nvSpPr>
        <p:spPr>
          <a:xfrm>
            <a:off x="457200" y="762000"/>
            <a:ext cx="8229600" cy="5245291"/>
          </a:xfrm>
        </p:spPr>
        <p:txBody>
          <a:bodyPr>
            <a:normAutofit/>
          </a:bodyPr>
          <a:lstStyle/>
          <a:p>
            <a:r>
              <a:rPr lang="en-US" sz="1800" dirty="0">
                <a:latin typeface="Calibri" pitchFamily="34" charset="0"/>
                <a:cs typeface="Calibri" pitchFamily="34" charset="0"/>
              </a:rPr>
              <a:t>2. Double-Threaded Binary </a:t>
            </a:r>
            <a:r>
              <a:rPr lang="en-US" sz="1800" dirty="0" smtClean="0">
                <a:latin typeface="Calibri" pitchFamily="34" charset="0"/>
                <a:cs typeface="Calibri" pitchFamily="34" charset="0"/>
              </a:rPr>
              <a:t>Tree</a:t>
            </a:r>
          </a:p>
          <a:p>
            <a:r>
              <a:rPr lang="en-US" sz="1800" dirty="0" smtClean="0">
                <a:latin typeface="Calibri" pitchFamily="34" charset="0"/>
                <a:cs typeface="Calibri" pitchFamily="34" charset="0"/>
              </a:rPr>
              <a:t>In </a:t>
            </a:r>
            <a:r>
              <a:rPr lang="en-US" sz="1800" dirty="0">
                <a:latin typeface="Calibri" pitchFamily="34" charset="0"/>
                <a:cs typeface="Calibri" pitchFamily="34" charset="0"/>
              </a:rPr>
              <a:t>this type, the left null pointer of a node is made to point towards the in-order predecessor node and the right null pointer is made to point towards the in-order successor node. </a:t>
            </a:r>
            <a:endParaRPr lang="en-US" sz="1800" dirty="0" smtClean="0">
              <a:latin typeface="Calibri" pitchFamily="34" charset="0"/>
              <a:cs typeface="Calibri" pitchFamily="34" charset="0"/>
            </a:endParaRPr>
          </a:p>
          <a:p>
            <a:r>
              <a:rPr lang="en-US" sz="1800" dirty="0" smtClean="0">
                <a:latin typeface="Calibri" pitchFamily="34" charset="0"/>
                <a:cs typeface="Calibri" pitchFamily="34" charset="0"/>
              </a:rPr>
              <a:t>Node </a:t>
            </a:r>
            <a:r>
              <a:rPr lang="en-US" sz="1800" dirty="0">
                <a:latin typeface="Calibri" pitchFamily="34" charset="0"/>
                <a:cs typeface="Calibri" pitchFamily="34" charset="0"/>
              </a:rPr>
              <a:t>Structure of Double-Threaded Binary Trees: For the double-threaded binary tree, we use two </a:t>
            </a:r>
            <a:r>
              <a:rPr lang="en-US" sz="1800" dirty="0" err="1">
                <a:latin typeface="Calibri" pitchFamily="34" charset="0"/>
                <a:cs typeface="Calibri" pitchFamily="34" charset="0"/>
              </a:rPr>
              <a:t>boolean</a:t>
            </a:r>
            <a:r>
              <a:rPr lang="en-US" sz="1800" dirty="0">
                <a:latin typeface="Calibri" pitchFamily="34" charset="0"/>
                <a:cs typeface="Calibri" pitchFamily="34" charset="0"/>
              </a:rPr>
              <a:t> variables: </a:t>
            </a:r>
            <a:r>
              <a:rPr lang="en-US" sz="1800" dirty="0" err="1">
                <a:latin typeface="Calibri" pitchFamily="34" charset="0"/>
                <a:cs typeface="Calibri" pitchFamily="34" charset="0"/>
              </a:rPr>
              <a:t>rightThread</a:t>
            </a:r>
            <a:r>
              <a:rPr lang="en-US" sz="1800" dirty="0">
                <a:latin typeface="Calibri" pitchFamily="34" charset="0"/>
                <a:cs typeface="Calibri" pitchFamily="34" charset="0"/>
              </a:rPr>
              <a:t> and </a:t>
            </a:r>
            <a:r>
              <a:rPr lang="en-US" sz="1800" dirty="0" err="1">
                <a:latin typeface="Calibri" pitchFamily="34" charset="0"/>
                <a:cs typeface="Calibri" pitchFamily="34" charset="0"/>
              </a:rPr>
              <a:t>leftThread</a:t>
            </a:r>
            <a:r>
              <a:rPr lang="en-US" sz="1800" dirty="0" smtClean="0">
                <a:latin typeface="Calibri" pitchFamily="34" charset="0"/>
                <a:cs typeface="Calibri" pitchFamily="34" charset="0"/>
              </a:rPr>
              <a:t>.</a:t>
            </a:r>
          </a:p>
          <a:p>
            <a:r>
              <a:rPr lang="en-US" sz="1800" dirty="0" err="1">
                <a:latin typeface="Calibri" pitchFamily="34" charset="0"/>
                <a:cs typeface="Calibri" pitchFamily="34" charset="0"/>
              </a:rPr>
              <a:t>struct</a:t>
            </a:r>
            <a:r>
              <a:rPr lang="en-US" sz="1800" dirty="0">
                <a:latin typeface="Calibri" pitchFamily="34" charset="0"/>
                <a:cs typeface="Calibri" pitchFamily="34" charset="0"/>
              </a:rPr>
              <a:t> Node{</a:t>
            </a:r>
          </a:p>
          <a:p>
            <a:r>
              <a:rPr lang="en-US" sz="1800" dirty="0">
                <a:latin typeface="Calibri" pitchFamily="34" charset="0"/>
                <a:cs typeface="Calibri" pitchFamily="34" charset="0"/>
              </a:rPr>
              <a:t>    </a:t>
            </a:r>
            <a:r>
              <a:rPr lang="en-US" sz="1800" dirty="0" err="1">
                <a:latin typeface="Calibri" pitchFamily="34" charset="0"/>
                <a:cs typeface="Calibri" pitchFamily="34" charset="0"/>
              </a:rPr>
              <a:t>int</a:t>
            </a:r>
            <a:r>
              <a:rPr lang="en-US" sz="1800" dirty="0">
                <a:latin typeface="Calibri" pitchFamily="34" charset="0"/>
                <a:cs typeface="Calibri" pitchFamily="34" charset="0"/>
              </a:rPr>
              <a:t> value;</a:t>
            </a:r>
          </a:p>
          <a:p>
            <a:r>
              <a:rPr lang="en-US" sz="1800" dirty="0">
                <a:latin typeface="Calibri" pitchFamily="34" charset="0"/>
                <a:cs typeface="Calibri" pitchFamily="34" charset="0"/>
              </a:rPr>
              <a:t>    Node* left;</a:t>
            </a:r>
          </a:p>
          <a:p>
            <a:r>
              <a:rPr lang="en-US" sz="1800" dirty="0">
                <a:latin typeface="Calibri" pitchFamily="34" charset="0"/>
                <a:cs typeface="Calibri" pitchFamily="34" charset="0"/>
              </a:rPr>
              <a:t>    Node* right;</a:t>
            </a:r>
          </a:p>
          <a:p>
            <a:r>
              <a:rPr lang="en-US" sz="1800" dirty="0">
                <a:latin typeface="Calibri" pitchFamily="34" charset="0"/>
                <a:cs typeface="Calibri" pitchFamily="34" charset="0"/>
              </a:rPr>
              <a:t>    </a:t>
            </a:r>
            <a:r>
              <a:rPr lang="en-US" sz="1800" dirty="0" err="1">
                <a:latin typeface="Calibri" pitchFamily="34" charset="0"/>
                <a:cs typeface="Calibri" pitchFamily="34" charset="0"/>
              </a:rPr>
              <a:t>bool</a:t>
            </a:r>
            <a:r>
              <a:rPr lang="en-US" sz="1800" dirty="0">
                <a:latin typeface="Calibri" pitchFamily="34" charset="0"/>
                <a:cs typeface="Calibri" pitchFamily="34" charset="0"/>
              </a:rPr>
              <a:t> </a:t>
            </a:r>
            <a:r>
              <a:rPr lang="en-US" sz="1800" dirty="0" err="1">
                <a:latin typeface="Calibri" pitchFamily="34" charset="0"/>
                <a:cs typeface="Calibri" pitchFamily="34" charset="0"/>
              </a:rPr>
              <a:t>rightThread</a:t>
            </a:r>
            <a:r>
              <a:rPr lang="en-US" sz="1800" dirty="0">
                <a:latin typeface="Calibri" pitchFamily="34" charset="0"/>
                <a:cs typeface="Calibri" pitchFamily="34" charset="0"/>
              </a:rPr>
              <a:t>;</a:t>
            </a:r>
          </a:p>
          <a:p>
            <a:r>
              <a:rPr lang="en-US" sz="1800" dirty="0">
                <a:latin typeface="Calibri" pitchFamily="34" charset="0"/>
                <a:cs typeface="Calibri" pitchFamily="34" charset="0"/>
              </a:rPr>
              <a:t>    </a:t>
            </a:r>
            <a:r>
              <a:rPr lang="en-US" sz="1800" dirty="0" err="1">
                <a:latin typeface="Calibri" pitchFamily="34" charset="0"/>
                <a:cs typeface="Calibri" pitchFamily="34" charset="0"/>
              </a:rPr>
              <a:t>bool</a:t>
            </a:r>
            <a:r>
              <a:rPr lang="en-US" sz="1800" dirty="0">
                <a:latin typeface="Calibri" pitchFamily="34" charset="0"/>
                <a:cs typeface="Calibri" pitchFamily="34" charset="0"/>
              </a:rPr>
              <a:t> </a:t>
            </a:r>
            <a:r>
              <a:rPr lang="en-US" sz="1800" dirty="0" err="1">
                <a:latin typeface="Calibri" pitchFamily="34" charset="0"/>
                <a:cs typeface="Calibri" pitchFamily="34" charset="0"/>
              </a:rPr>
              <a:t>leftThread</a:t>
            </a:r>
            <a:r>
              <a:rPr lang="en-US" sz="1800" dirty="0">
                <a:latin typeface="Calibri" pitchFamily="34" charset="0"/>
                <a:cs typeface="Calibri" pitchFamily="34" charset="0"/>
              </a:rPr>
              <a:t>;</a:t>
            </a:r>
          </a:p>
          <a:p>
            <a:r>
              <a:rPr lang="en-US" sz="1800" dirty="0">
                <a:latin typeface="Calibri" pitchFamily="34" charset="0"/>
                <a:cs typeface="Calibri" pitchFamily="34" charset="0"/>
              </a:rPr>
              <a:t> }</a:t>
            </a:r>
            <a:endParaRPr lang="en-IN" sz="1800" dirty="0">
              <a:latin typeface="Calibri" pitchFamily="34" charset="0"/>
              <a:cs typeface="Calibri" pitchFamily="34" charset="0"/>
            </a:endParaRPr>
          </a:p>
        </p:txBody>
      </p:sp>
    </p:spTree>
    <p:extLst>
      <p:ext uri="{BB962C8B-B14F-4D97-AF65-F5344CB8AC3E}">
        <p14:creationId xmlns:p14="http://schemas.microsoft.com/office/powerpoint/2010/main" val="15363082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334962"/>
          </a:xfrm>
        </p:spPr>
        <p:txBody>
          <a:bodyPr>
            <a:normAutofit fontScale="90000"/>
          </a:bodyPr>
          <a:lstStyle/>
          <a:p>
            <a:r>
              <a:rPr lang="en-IN" sz="2000" dirty="0">
                <a:effectLst/>
              </a:rPr>
              <a:t>Threaded Binary Tree</a:t>
            </a:r>
          </a:p>
        </p:txBody>
      </p:sp>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81200" y="685800"/>
            <a:ext cx="548640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52400" y="3429000"/>
            <a:ext cx="8991600" cy="1477328"/>
          </a:xfrm>
          <a:prstGeom prst="rect">
            <a:avLst/>
          </a:prstGeom>
        </p:spPr>
        <p:txBody>
          <a:bodyPr wrap="square">
            <a:spAutoFit/>
          </a:bodyPr>
          <a:lstStyle/>
          <a:p>
            <a:r>
              <a:rPr lang="en-US" dirty="0">
                <a:latin typeface="Calibri" pitchFamily="34" charset="0"/>
                <a:cs typeface="Calibri" pitchFamily="34" charset="0"/>
              </a:rPr>
              <a:t>This is how a Double-Threaded Binary Tree looks like. You can observe here that node value 40 have no left and right child. So, its left pointer points to its in-order predecessor (node value 30) and it's right pointer points towards its in-order successor (node value 50). Similarly, the other nodes of this tree with a left/right null pointer refers to their in-order predecessor/successor using threads</a:t>
            </a:r>
            <a:r>
              <a:rPr lang="en-US" dirty="0"/>
              <a:t>. </a:t>
            </a:r>
            <a:endParaRPr lang="en-IN" dirty="0"/>
          </a:p>
        </p:txBody>
      </p:sp>
    </p:spTree>
    <p:extLst>
      <p:ext uri="{BB962C8B-B14F-4D97-AF65-F5344CB8AC3E}">
        <p14:creationId xmlns:p14="http://schemas.microsoft.com/office/powerpoint/2010/main" val="29798826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334962"/>
          </a:xfrm>
        </p:spPr>
        <p:txBody>
          <a:bodyPr>
            <a:normAutofit fontScale="90000"/>
          </a:bodyPr>
          <a:lstStyle/>
          <a:p>
            <a:r>
              <a:rPr lang="en-IN" sz="2000" dirty="0">
                <a:effectLst/>
              </a:rPr>
              <a:t>Threaded Binary Tree</a:t>
            </a:r>
          </a:p>
        </p:txBody>
      </p:sp>
      <p:sp>
        <p:nvSpPr>
          <p:cNvPr id="4" name="Content Placeholder 3"/>
          <p:cNvSpPr>
            <a:spLocks noGrp="1"/>
          </p:cNvSpPr>
          <p:nvPr>
            <p:ph idx="1"/>
          </p:nvPr>
        </p:nvSpPr>
        <p:spPr>
          <a:xfrm>
            <a:off x="457200" y="762000"/>
            <a:ext cx="8229600" cy="5245291"/>
          </a:xfrm>
        </p:spPr>
        <p:txBody>
          <a:bodyPr>
            <a:normAutofit/>
          </a:bodyPr>
          <a:lstStyle/>
          <a:p>
            <a:r>
              <a:rPr lang="en-US" sz="1800" dirty="0">
                <a:latin typeface="Calibri" pitchFamily="34" charset="0"/>
                <a:cs typeface="Calibri" pitchFamily="34" charset="0"/>
              </a:rPr>
              <a:t>Advantages of Threaded Binary Tree</a:t>
            </a:r>
          </a:p>
          <a:p>
            <a:r>
              <a:rPr lang="en-US" sz="1800" dirty="0">
                <a:latin typeface="Calibri" pitchFamily="34" charset="0"/>
                <a:cs typeface="Calibri" pitchFamily="34" charset="0"/>
              </a:rPr>
              <a:t>Let’s discuss some advantages of a Threaded Binary tree.</a:t>
            </a:r>
          </a:p>
          <a:p>
            <a:endParaRPr lang="en-US" sz="1800" dirty="0">
              <a:latin typeface="Calibri" pitchFamily="34" charset="0"/>
              <a:cs typeface="Calibri" pitchFamily="34" charset="0"/>
            </a:endParaRPr>
          </a:p>
          <a:p>
            <a:r>
              <a:rPr lang="en-US" sz="1800" dirty="0">
                <a:latin typeface="Calibri" pitchFamily="34" charset="0"/>
                <a:cs typeface="Calibri" pitchFamily="34" charset="0"/>
              </a:rPr>
              <a:t>No need for stacks or recursion: Unlike binary trees, threaded binary trees do not require a stack or recursion for their traversal. </a:t>
            </a:r>
          </a:p>
          <a:p>
            <a:r>
              <a:rPr lang="en-US" sz="1800" dirty="0">
                <a:latin typeface="Calibri" pitchFamily="34" charset="0"/>
                <a:cs typeface="Calibri" pitchFamily="34" charset="0"/>
              </a:rPr>
              <a:t>Optimal memory usage: Another advantage of threaded binary tree data structure is that it decreases memory wastage. In normal binary trees, whenever a node’s left/right pointer is NULL, memory is wasted. But with threaded binary trees, we are overcoming this problem by storing its </a:t>
            </a:r>
            <a:r>
              <a:rPr lang="en-US" sz="1800" dirty="0" err="1">
                <a:latin typeface="Calibri" pitchFamily="34" charset="0"/>
                <a:cs typeface="Calibri" pitchFamily="34" charset="0"/>
              </a:rPr>
              <a:t>inorder</a:t>
            </a:r>
            <a:r>
              <a:rPr lang="en-US" sz="1800" dirty="0">
                <a:latin typeface="Calibri" pitchFamily="34" charset="0"/>
                <a:cs typeface="Calibri" pitchFamily="34" charset="0"/>
              </a:rPr>
              <a:t> predecessor/successor.</a:t>
            </a:r>
          </a:p>
          <a:p>
            <a:r>
              <a:rPr lang="en-US" sz="1800" dirty="0">
                <a:latin typeface="Calibri" pitchFamily="34" charset="0"/>
                <a:cs typeface="Calibri" pitchFamily="34" charset="0"/>
              </a:rPr>
              <a:t>Time complexity: In-order traversal in a threaded binary tree is fast because we get the next node in O(1) time than a normal binary tree that takes O(Height). But insertion and deletion operations take more time for the threaded binary tree.</a:t>
            </a:r>
          </a:p>
          <a:p>
            <a:r>
              <a:rPr lang="en-US" sz="1800" dirty="0">
                <a:latin typeface="Calibri" pitchFamily="34" charset="0"/>
                <a:cs typeface="Calibri" pitchFamily="34" charset="0"/>
              </a:rPr>
              <a:t>Backward traversal: In a double-threaded binary tree, we can even do a backward traversal</a:t>
            </a:r>
            <a:r>
              <a:rPr lang="en-US" dirty="0"/>
              <a:t>.</a:t>
            </a:r>
            <a:endParaRPr lang="en-IN" dirty="0"/>
          </a:p>
        </p:txBody>
      </p:sp>
    </p:spTree>
    <p:extLst>
      <p:ext uri="{BB962C8B-B14F-4D97-AF65-F5344CB8AC3E}">
        <p14:creationId xmlns:p14="http://schemas.microsoft.com/office/powerpoint/2010/main" val="30467961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334962"/>
          </a:xfrm>
        </p:spPr>
        <p:txBody>
          <a:bodyPr>
            <a:normAutofit fontScale="90000"/>
          </a:bodyPr>
          <a:lstStyle/>
          <a:p>
            <a:r>
              <a:rPr lang="en-IN" sz="1800" dirty="0">
                <a:effectLst/>
              </a:rPr>
              <a:t> Binary Search Tree</a:t>
            </a:r>
          </a:p>
        </p:txBody>
      </p:sp>
      <p:sp>
        <p:nvSpPr>
          <p:cNvPr id="4" name="Content Placeholder 3"/>
          <p:cNvSpPr>
            <a:spLocks noGrp="1"/>
          </p:cNvSpPr>
          <p:nvPr>
            <p:ph idx="1"/>
          </p:nvPr>
        </p:nvSpPr>
        <p:spPr>
          <a:xfrm>
            <a:off x="457200" y="762000"/>
            <a:ext cx="8229600" cy="5245291"/>
          </a:xfrm>
        </p:spPr>
        <p:txBody>
          <a:bodyPr>
            <a:normAutofit/>
          </a:bodyPr>
          <a:lstStyle/>
          <a:p>
            <a:r>
              <a:rPr lang="en-US" sz="1600" dirty="0">
                <a:latin typeface="Calibri" pitchFamily="34" charset="0"/>
                <a:cs typeface="Calibri" pitchFamily="34" charset="0"/>
              </a:rPr>
              <a:t>The binary search tree is an advanced algorithm used for analyzing the node, its left and right branches, which are modeled in a tree structure and returning the value. The BST is devised on the architecture of a basic binary search algorithm; hence it enables faster lookups, insertions, and removals of nodes. This makes the program really fast and </a:t>
            </a:r>
            <a:r>
              <a:rPr lang="en-US" sz="1600" dirty="0" smtClean="0">
                <a:latin typeface="Calibri" pitchFamily="34" charset="0"/>
                <a:cs typeface="Calibri" pitchFamily="34" charset="0"/>
              </a:rPr>
              <a:t>accurate.</a:t>
            </a:r>
          </a:p>
          <a:p>
            <a:r>
              <a:rPr lang="en-US" sz="1600" dirty="0">
                <a:latin typeface="Calibri" pitchFamily="34" charset="0"/>
                <a:cs typeface="Calibri" pitchFamily="34" charset="0"/>
              </a:rPr>
              <a:t>A BST is made of multiple nodes and consists of the following attributes</a:t>
            </a:r>
            <a:r>
              <a:rPr lang="en-US" sz="1600" dirty="0" smtClean="0">
                <a:latin typeface="Calibri" pitchFamily="34" charset="0"/>
                <a:cs typeface="Calibri" pitchFamily="34" charset="0"/>
              </a:rPr>
              <a:t>:</a:t>
            </a:r>
          </a:p>
          <a:p>
            <a:r>
              <a:rPr lang="en-US" sz="1600" dirty="0">
                <a:latin typeface="Calibri" pitchFamily="34" charset="0"/>
                <a:cs typeface="Calibri" pitchFamily="34" charset="0"/>
              </a:rPr>
              <a:t>Nodes of the tree are represented in a parent-child relationship</a:t>
            </a:r>
          </a:p>
          <a:p>
            <a:r>
              <a:rPr lang="en-US" sz="1600" dirty="0">
                <a:latin typeface="Calibri" pitchFamily="34" charset="0"/>
                <a:cs typeface="Calibri" pitchFamily="34" charset="0"/>
              </a:rPr>
              <a:t>Each parent node can have zero child nodes or a maximum of two </a:t>
            </a:r>
            <a:r>
              <a:rPr lang="en-US" sz="1600" dirty="0" err="1">
                <a:latin typeface="Calibri" pitchFamily="34" charset="0"/>
                <a:cs typeface="Calibri" pitchFamily="34" charset="0"/>
              </a:rPr>
              <a:t>subnodes</a:t>
            </a:r>
            <a:r>
              <a:rPr lang="en-US" sz="1600" dirty="0">
                <a:latin typeface="Calibri" pitchFamily="34" charset="0"/>
                <a:cs typeface="Calibri" pitchFamily="34" charset="0"/>
              </a:rPr>
              <a:t> or </a:t>
            </a:r>
            <a:r>
              <a:rPr lang="en-US" sz="1600" dirty="0" err="1">
                <a:latin typeface="Calibri" pitchFamily="34" charset="0"/>
                <a:cs typeface="Calibri" pitchFamily="34" charset="0"/>
              </a:rPr>
              <a:t>subtrees</a:t>
            </a:r>
            <a:r>
              <a:rPr lang="en-US" sz="1600" dirty="0">
                <a:latin typeface="Calibri" pitchFamily="34" charset="0"/>
                <a:cs typeface="Calibri" pitchFamily="34" charset="0"/>
              </a:rPr>
              <a:t> on the left and right sides.</a:t>
            </a:r>
          </a:p>
          <a:p>
            <a:r>
              <a:rPr lang="en-US" sz="1600" dirty="0">
                <a:latin typeface="Calibri" pitchFamily="34" charset="0"/>
                <a:cs typeface="Calibri" pitchFamily="34" charset="0"/>
              </a:rPr>
              <a:t>Every sub-tree, also known as a binary search tree, has sub-branches on the right and left of </a:t>
            </a:r>
            <a:r>
              <a:rPr lang="en-US" sz="1600" dirty="0" smtClean="0">
                <a:latin typeface="Calibri" pitchFamily="34" charset="0"/>
                <a:cs typeface="Calibri" pitchFamily="34" charset="0"/>
              </a:rPr>
              <a:t>themselves.</a:t>
            </a:r>
          </a:p>
          <a:p>
            <a:r>
              <a:rPr lang="en-US" sz="1600" dirty="0" smtClean="0">
                <a:latin typeface="Calibri" pitchFamily="34" charset="0"/>
                <a:cs typeface="Calibri" pitchFamily="34" charset="0"/>
              </a:rPr>
              <a:t>All </a:t>
            </a:r>
            <a:r>
              <a:rPr lang="en-US" sz="1600" dirty="0">
                <a:latin typeface="Calibri" pitchFamily="34" charset="0"/>
                <a:cs typeface="Calibri" pitchFamily="34" charset="0"/>
              </a:rPr>
              <a:t>nodes of left </a:t>
            </a:r>
            <a:r>
              <a:rPr lang="en-US" sz="1600" dirty="0" err="1">
                <a:latin typeface="Calibri" pitchFamily="34" charset="0"/>
                <a:cs typeface="Calibri" pitchFamily="34" charset="0"/>
              </a:rPr>
              <a:t>subtree</a:t>
            </a:r>
            <a:r>
              <a:rPr lang="en-US" sz="1600" dirty="0">
                <a:latin typeface="Calibri" pitchFamily="34" charset="0"/>
                <a:cs typeface="Calibri" pitchFamily="34" charset="0"/>
              </a:rPr>
              <a:t> are less than the root node</a:t>
            </a:r>
          </a:p>
          <a:p>
            <a:r>
              <a:rPr lang="en-US" sz="1600" dirty="0">
                <a:latin typeface="Calibri" pitchFamily="34" charset="0"/>
                <a:cs typeface="Calibri" pitchFamily="34" charset="0"/>
              </a:rPr>
              <a:t>All nodes of right </a:t>
            </a:r>
            <a:r>
              <a:rPr lang="en-US" sz="1600" dirty="0" err="1">
                <a:latin typeface="Calibri" pitchFamily="34" charset="0"/>
                <a:cs typeface="Calibri" pitchFamily="34" charset="0"/>
              </a:rPr>
              <a:t>subtree</a:t>
            </a:r>
            <a:r>
              <a:rPr lang="en-US" sz="1600" dirty="0">
                <a:latin typeface="Calibri" pitchFamily="34" charset="0"/>
                <a:cs typeface="Calibri" pitchFamily="34" charset="0"/>
              </a:rPr>
              <a:t> are more than the root node</a:t>
            </a:r>
          </a:p>
          <a:p>
            <a:r>
              <a:rPr lang="en-US" sz="1600" dirty="0">
                <a:latin typeface="Calibri" pitchFamily="34" charset="0"/>
                <a:cs typeface="Calibri" pitchFamily="34" charset="0"/>
              </a:rPr>
              <a:t>Both </a:t>
            </a:r>
            <a:r>
              <a:rPr lang="en-US" sz="1600" dirty="0" err="1">
                <a:latin typeface="Calibri" pitchFamily="34" charset="0"/>
                <a:cs typeface="Calibri" pitchFamily="34" charset="0"/>
              </a:rPr>
              <a:t>subtrees</a:t>
            </a:r>
            <a:r>
              <a:rPr lang="en-US" sz="1600" dirty="0">
                <a:latin typeface="Calibri" pitchFamily="34" charset="0"/>
                <a:cs typeface="Calibri" pitchFamily="34" charset="0"/>
              </a:rPr>
              <a:t> of each node are also BSTs i.e. they have the above two properties</a:t>
            </a:r>
          </a:p>
          <a:p>
            <a:r>
              <a:rPr lang="en-US" sz="1600" dirty="0"/>
              <a:t/>
            </a:r>
            <a:br>
              <a:rPr lang="en-US" sz="1600" dirty="0"/>
            </a:br>
            <a:endParaRPr lang="en-IN" sz="1600" dirty="0">
              <a:latin typeface="Calibri" pitchFamily="34" charset="0"/>
              <a:cs typeface="Calibri" pitchFamily="34" charset="0"/>
            </a:endParaRPr>
          </a:p>
        </p:txBody>
      </p:sp>
    </p:spTree>
    <p:extLst>
      <p:ext uri="{BB962C8B-B14F-4D97-AF65-F5344CB8AC3E}">
        <p14:creationId xmlns:p14="http://schemas.microsoft.com/office/powerpoint/2010/main" val="39722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334962"/>
          </a:xfrm>
        </p:spPr>
        <p:txBody>
          <a:bodyPr>
            <a:normAutofit fontScale="90000"/>
          </a:bodyPr>
          <a:lstStyle/>
          <a:p>
            <a:r>
              <a:rPr lang="en-IN" sz="1800" dirty="0">
                <a:effectLst/>
              </a:rPr>
              <a:t> Binary Search Tree</a:t>
            </a:r>
          </a:p>
        </p:txBody>
      </p:sp>
      <p:pic>
        <p:nvPicPr>
          <p:cNvPr id="10243"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228600"/>
            <a:ext cx="7374893"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381000" y="4876800"/>
            <a:ext cx="8382000" cy="646331"/>
          </a:xfrm>
          <a:prstGeom prst="rect">
            <a:avLst/>
          </a:prstGeom>
        </p:spPr>
        <p:txBody>
          <a:bodyPr wrap="square">
            <a:spAutoFit/>
          </a:bodyPr>
          <a:lstStyle/>
          <a:p>
            <a:r>
              <a:rPr lang="en-US" dirty="0"/>
              <a:t>The binary tree on the right isn't a binary search tree because the right </a:t>
            </a:r>
            <a:r>
              <a:rPr lang="en-US" dirty="0" err="1"/>
              <a:t>subtree</a:t>
            </a:r>
            <a:r>
              <a:rPr lang="en-US" dirty="0"/>
              <a:t> of the node "3" contains a value smaller than it.</a:t>
            </a:r>
            <a:endParaRPr lang="en-IN" dirty="0"/>
          </a:p>
        </p:txBody>
      </p:sp>
    </p:spTree>
    <p:extLst>
      <p:ext uri="{BB962C8B-B14F-4D97-AF65-F5344CB8AC3E}">
        <p14:creationId xmlns:p14="http://schemas.microsoft.com/office/powerpoint/2010/main" val="35446071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334962"/>
          </a:xfrm>
        </p:spPr>
        <p:txBody>
          <a:bodyPr>
            <a:normAutofit fontScale="90000"/>
          </a:bodyPr>
          <a:lstStyle/>
          <a:p>
            <a:r>
              <a:rPr lang="en-IN" sz="1800" dirty="0">
                <a:effectLst/>
              </a:rPr>
              <a:t> Binary Search Tree</a:t>
            </a:r>
          </a:p>
        </p:txBody>
      </p:sp>
      <p:sp>
        <p:nvSpPr>
          <p:cNvPr id="2" name="Content Placeholder 1"/>
          <p:cNvSpPr>
            <a:spLocks noGrp="1"/>
          </p:cNvSpPr>
          <p:nvPr>
            <p:ph idx="1"/>
          </p:nvPr>
        </p:nvSpPr>
        <p:spPr>
          <a:xfrm>
            <a:off x="304800" y="838200"/>
            <a:ext cx="8382000" cy="5169091"/>
          </a:xfrm>
        </p:spPr>
        <p:txBody>
          <a:bodyPr>
            <a:normAutofit fontScale="92500" lnSpcReduction="20000"/>
          </a:bodyPr>
          <a:lstStyle/>
          <a:p>
            <a:r>
              <a:rPr lang="en-IN" sz="2400" b="1" dirty="0">
                <a:latin typeface="Calibri" pitchFamily="34" charset="0"/>
                <a:cs typeface="Calibri" pitchFamily="34" charset="0"/>
              </a:rPr>
              <a:t>Search </a:t>
            </a:r>
            <a:r>
              <a:rPr lang="en-IN" sz="2400" b="1" dirty="0" smtClean="0">
                <a:latin typeface="Calibri" pitchFamily="34" charset="0"/>
                <a:cs typeface="Calibri" pitchFamily="34" charset="0"/>
              </a:rPr>
              <a:t>Operation</a:t>
            </a:r>
          </a:p>
          <a:p>
            <a:r>
              <a:rPr lang="en-US" sz="2000" dirty="0">
                <a:latin typeface="Calibri" pitchFamily="34" charset="0"/>
                <a:cs typeface="Calibri" pitchFamily="34" charset="0"/>
              </a:rPr>
              <a:t>The algorithm depends on the property of BST that if each left </a:t>
            </a:r>
            <a:r>
              <a:rPr lang="en-US" sz="2000" dirty="0" err="1">
                <a:latin typeface="Calibri" pitchFamily="34" charset="0"/>
                <a:cs typeface="Calibri" pitchFamily="34" charset="0"/>
              </a:rPr>
              <a:t>subtree</a:t>
            </a:r>
            <a:r>
              <a:rPr lang="en-US" sz="2000" dirty="0">
                <a:latin typeface="Calibri" pitchFamily="34" charset="0"/>
                <a:cs typeface="Calibri" pitchFamily="34" charset="0"/>
              </a:rPr>
              <a:t> has values below root and each right </a:t>
            </a:r>
            <a:r>
              <a:rPr lang="en-US" sz="2000" dirty="0" err="1">
                <a:latin typeface="Calibri" pitchFamily="34" charset="0"/>
                <a:cs typeface="Calibri" pitchFamily="34" charset="0"/>
              </a:rPr>
              <a:t>subtree</a:t>
            </a:r>
            <a:r>
              <a:rPr lang="en-US" sz="2000" dirty="0">
                <a:latin typeface="Calibri" pitchFamily="34" charset="0"/>
                <a:cs typeface="Calibri" pitchFamily="34" charset="0"/>
              </a:rPr>
              <a:t> has values above the </a:t>
            </a:r>
            <a:r>
              <a:rPr lang="en-US" sz="2000" dirty="0" smtClean="0">
                <a:latin typeface="Calibri" pitchFamily="34" charset="0"/>
                <a:cs typeface="Calibri" pitchFamily="34" charset="0"/>
              </a:rPr>
              <a:t>root.</a:t>
            </a:r>
          </a:p>
          <a:p>
            <a:r>
              <a:rPr lang="en-US" sz="2000" dirty="0" smtClean="0">
                <a:latin typeface="Calibri" pitchFamily="34" charset="0"/>
                <a:cs typeface="Calibri" pitchFamily="34" charset="0"/>
              </a:rPr>
              <a:t>If </a:t>
            </a:r>
            <a:r>
              <a:rPr lang="en-US" sz="2000" dirty="0">
                <a:latin typeface="Calibri" pitchFamily="34" charset="0"/>
                <a:cs typeface="Calibri" pitchFamily="34" charset="0"/>
              </a:rPr>
              <a:t>the value is below the root, we can say for sure that the value is not in the right </a:t>
            </a:r>
            <a:r>
              <a:rPr lang="en-US" sz="2000" dirty="0" err="1">
                <a:latin typeface="Calibri" pitchFamily="34" charset="0"/>
                <a:cs typeface="Calibri" pitchFamily="34" charset="0"/>
              </a:rPr>
              <a:t>subtree</a:t>
            </a:r>
            <a:r>
              <a:rPr lang="en-US" sz="2000" dirty="0">
                <a:latin typeface="Calibri" pitchFamily="34" charset="0"/>
                <a:cs typeface="Calibri" pitchFamily="34" charset="0"/>
              </a:rPr>
              <a:t>; we need to only search in the left </a:t>
            </a:r>
            <a:r>
              <a:rPr lang="en-US" sz="2000" dirty="0" err="1">
                <a:latin typeface="Calibri" pitchFamily="34" charset="0"/>
                <a:cs typeface="Calibri" pitchFamily="34" charset="0"/>
              </a:rPr>
              <a:t>subtree</a:t>
            </a:r>
            <a:r>
              <a:rPr lang="en-US" sz="2000" dirty="0">
                <a:latin typeface="Calibri" pitchFamily="34" charset="0"/>
                <a:cs typeface="Calibri" pitchFamily="34" charset="0"/>
              </a:rPr>
              <a:t> and if the value is above the root, we can say for sure that the value is not in the left </a:t>
            </a:r>
            <a:r>
              <a:rPr lang="en-US" sz="2000" dirty="0" err="1">
                <a:latin typeface="Calibri" pitchFamily="34" charset="0"/>
                <a:cs typeface="Calibri" pitchFamily="34" charset="0"/>
              </a:rPr>
              <a:t>subtree</a:t>
            </a:r>
            <a:r>
              <a:rPr lang="en-US" sz="2000" dirty="0">
                <a:latin typeface="Calibri" pitchFamily="34" charset="0"/>
                <a:cs typeface="Calibri" pitchFamily="34" charset="0"/>
              </a:rPr>
              <a:t>; we need </a:t>
            </a:r>
            <a:r>
              <a:rPr lang="en-US" sz="2000" dirty="0" smtClean="0">
                <a:latin typeface="Calibri" pitchFamily="34" charset="0"/>
                <a:cs typeface="Calibri" pitchFamily="34" charset="0"/>
              </a:rPr>
              <a:t>to </a:t>
            </a:r>
            <a:r>
              <a:rPr lang="en-US" sz="2000" dirty="0">
                <a:latin typeface="Calibri" pitchFamily="34" charset="0"/>
                <a:cs typeface="Calibri" pitchFamily="34" charset="0"/>
              </a:rPr>
              <a:t>only search in the right </a:t>
            </a:r>
            <a:r>
              <a:rPr lang="en-US" sz="2000" dirty="0" err="1">
                <a:latin typeface="Calibri" pitchFamily="34" charset="0"/>
                <a:cs typeface="Calibri" pitchFamily="34" charset="0"/>
              </a:rPr>
              <a:t>subtree</a:t>
            </a:r>
            <a:r>
              <a:rPr lang="en-US" sz="2000" dirty="0" smtClean="0">
                <a:latin typeface="Calibri" pitchFamily="34" charset="0"/>
                <a:cs typeface="Calibri" pitchFamily="34" charset="0"/>
              </a:rPr>
              <a:t>.</a:t>
            </a:r>
          </a:p>
          <a:p>
            <a:r>
              <a:rPr lang="en-US" sz="2000" dirty="0">
                <a:latin typeface="Calibri" pitchFamily="34" charset="0"/>
                <a:cs typeface="Calibri" pitchFamily="34" charset="0"/>
              </a:rPr>
              <a:t>Algorithm:</a:t>
            </a:r>
          </a:p>
          <a:p>
            <a:endParaRPr lang="en-US" sz="2000" dirty="0">
              <a:latin typeface="Calibri" pitchFamily="34" charset="0"/>
              <a:cs typeface="Calibri" pitchFamily="34" charset="0"/>
            </a:endParaRPr>
          </a:p>
          <a:p>
            <a:r>
              <a:rPr lang="en-US" sz="2000" dirty="0">
                <a:latin typeface="Calibri" pitchFamily="34" charset="0"/>
                <a:cs typeface="Calibri" pitchFamily="34" charset="0"/>
              </a:rPr>
              <a:t>If root == NULL </a:t>
            </a:r>
          </a:p>
          <a:p>
            <a:r>
              <a:rPr lang="en-US" sz="2000" dirty="0">
                <a:latin typeface="Calibri" pitchFamily="34" charset="0"/>
                <a:cs typeface="Calibri" pitchFamily="34" charset="0"/>
              </a:rPr>
              <a:t>    return NULL;</a:t>
            </a:r>
          </a:p>
          <a:p>
            <a:r>
              <a:rPr lang="en-US" sz="2000" dirty="0">
                <a:latin typeface="Calibri" pitchFamily="34" charset="0"/>
                <a:cs typeface="Calibri" pitchFamily="34" charset="0"/>
              </a:rPr>
              <a:t>If number == root-&gt;data </a:t>
            </a:r>
          </a:p>
          <a:p>
            <a:r>
              <a:rPr lang="en-US" sz="2000" dirty="0">
                <a:latin typeface="Calibri" pitchFamily="34" charset="0"/>
                <a:cs typeface="Calibri" pitchFamily="34" charset="0"/>
              </a:rPr>
              <a:t>    return root-&gt;data;</a:t>
            </a:r>
          </a:p>
          <a:p>
            <a:r>
              <a:rPr lang="en-US" sz="2000" dirty="0">
                <a:latin typeface="Calibri" pitchFamily="34" charset="0"/>
                <a:cs typeface="Calibri" pitchFamily="34" charset="0"/>
              </a:rPr>
              <a:t>If number &lt; root-&gt;data </a:t>
            </a:r>
          </a:p>
          <a:p>
            <a:r>
              <a:rPr lang="en-US" sz="2000" dirty="0">
                <a:latin typeface="Calibri" pitchFamily="34" charset="0"/>
                <a:cs typeface="Calibri" pitchFamily="34" charset="0"/>
              </a:rPr>
              <a:t>    return search(root-&gt;left)</a:t>
            </a:r>
          </a:p>
          <a:p>
            <a:r>
              <a:rPr lang="en-US" sz="2000" dirty="0">
                <a:latin typeface="Calibri" pitchFamily="34" charset="0"/>
                <a:cs typeface="Calibri" pitchFamily="34" charset="0"/>
              </a:rPr>
              <a:t>If number &gt; root-&gt;data </a:t>
            </a:r>
          </a:p>
          <a:p>
            <a:r>
              <a:rPr lang="en-US" sz="2000" dirty="0">
                <a:latin typeface="Calibri" pitchFamily="34" charset="0"/>
                <a:cs typeface="Calibri" pitchFamily="34" charset="0"/>
              </a:rPr>
              <a:t>    return search(root-&gt;right)</a:t>
            </a:r>
            <a:endParaRPr lang="en-US" sz="2000" dirty="0" smtClean="0">
              <a:latin typeface="Calibri" pitchFamily="34" charset="0"/>
              <a:cs typeface="Calibri" pitchFamily="34" charset="0"/>
            </a:endParaRPr>
          </a:p>
        </p:txBody>
      </p:sp>
    </p:spTree>
    <p:extLst>
      <p:ext uri="{BB962C8B-B14F-4D97-AF65-F5344CB8AC3E}">
        <p14:creationId xmlns:p14="http://schemas.microsoft.com/office/powerpoint/2010/main" val="12545553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334962"/>
          </a:xfrm>
        </p:spPr>
        <p:txBody>
          <a:bodyPr>
            <a:normAutofit fontScale="90000"/>
          </a:bodyPr>
          <a:lstStyle/>
          <a:p>
            <a:r>
              <a:rPr lang="en-IN" sz="1800" dirty="0">
                <a:effectLst/>
              </a:rPr>
              <a:t> Binary Search Tree</a:t>
            </a:r>
          </a:p>
        </p:txBody>
      </p:sp>
      <p:sp>
        <p:nvSpPr>
          <p:cNvPr id="2" name="Content Placeholder 1"/>
          <p:cNvSpPr>
            <a:spLocks noGrp="1"/>
          </p:cNvSpPr>
          <p:nvPr>
            <p:ph idx="1"/>
          </p:nvPr>
        </p:nvSpPr>
        <p:spPr>
          <a:xfrm>
            <a:off x="304800" y="838200"/>
            <a:ext cx="8382000" cy="5169091"/>
          </a:xfrm>
        </p:spPr>
        <p:txBody>
          <a:bodyPr>
            <a:normAutofit/>
          </a:bodyPr>
          <a:lstStyle/>
          <a:p>
            <a:r>
              <a:rPr lang="en-US" sz="2000" b="1" dirty="0">
                <a:latin typeface="Calibri" pitchFamily="34" charset="0"/>
                <a:cs typeface="Calibri" pitchFamily="34" charset="0"/>
              </a:rPr>
              <a:t>Insert Operation</a:t>
            </a:r>
          </a:p>
          <a:p>
            <a:r>
              <a:rPr lang="en-US" sz="2000" dirty="0">
                <a:latin typeface="Calibri" pitchFamily="34" charset="0"/>
                <a:cs typeface="Calibri" pitchFamily="34" charset="0"/>
              </a:rPr>
              <a:t>Inserting a value in the correct position is similar to searching because we try to maintain the rule that the left </a:t>
            </a:r>
            <a:r>
              <a:rPr lang="en-US" sz="2000" dirty="0" err="1">
                <a:latin typeface="Calibri" pitchFamily="34" charset="0"/>
                <a:cs typeface="Calibri" pitchFamily="34" charset="0"/>
              </a:rPr>
              <a:t>subtree</a:t>
            </a:r>
            <a:r>
              <a:rPr lang="en-US" sz="2000" dirty="0">
                <a:latin typeface="Calibri" pitchFamily="34" charset="0"/>
                <a:cs typeface="Calibri" pitchFamily="34" charset="0"/>
              </a:rPr>
              <a:t> is lesser than root and the right </a:t>
            </a:r>
            <a:r>
              <a:rPr lang="en-US" sz="2000" dirty="0" err="1">
                <a:latin typeface="Calibri" pitchFamily="34" charset="0"/>
                <a:cs typeface="Calibri" pitchFamily="34" charset="0"/>
              </a:rPr>
              <a:t>subtree</a:t>
            </a:r>
            <a:r>
              <a:rPr lang="en-US" sz="2000" dirty="0">
                <a:latin typeface="Calibri" pitchFamily="34" charset="0"/>
                <a:cs typeface="Calibri" pitchFamily="34" charset="0"/>
              </a:rPr>
              <a:t> is larger than root.</a:t>
            </a:r>
          </a:p>
          <a:p>
            <a:r>
              <a:rPr lang="en-US" sz="2000" dirty="0">
                <a:latin typeface="Calibri" pitchFamily="34" charset="0"/>
                <a:cs typeface="Calibri" pitchFamily="34" charset="0"/>
              </a:rPr>
              <a:t>Algorithm:</a:t>
            </a:r>
          </a:p>
          <a:p>
            <a:endParaRPr lang="en-US" sz="2000" dirty="0">
              <a:latin typeface="Calibri" pitchFamily="34" charset="0"/>
              <a:cs typeface="Calibri" pitchFamily="34" charset="0"/>
            </a:endParaRPr>
          </a:p>
          <a:p>
            <a:r>
              <a:rPr lang="en-US" sz="2000" dirty="0">
                <a:latin typeface="Calibri" pitchFamily="34" charset="0"/>
                <a:cs typeface="Calibri" pitchFamily="34" charset="0"/>
              </a:rPr>
              <a:t>If node == NULL </a:t>
            </a:r>
          </a:p>
          <a:p>
            <a:r>
              <a:rPr lang="en-US" sz="2000" dirty="0">
                <a:latin typeface="Calibri" pitchFamily="34" charset="0"/>
                <a:cs typeface="Calibri" pitchFamily="34" charset="0"/>
              </a:rPr>
              <a:t>    return </a:t>
            </a:r>
            <a:r>
              <a:rPr lang="en-US" sz="2000" dirty="0" err="1">
                <a:latin typeface="Calibri" pitchFamily="34" charset="0"/>
                <a:cs typeface="Calibri" pitchFamily="34" charset="0"/>
              </a:rPr>
              <a:t>createNode</a:t>
            </a:r>
            <a:r>
              <a:rPr lang="en-US" sz="2000" dirty="0">
                <a:latin typeface="Calibri" pitchFamily="34" charset="0"/>
                <a:cs typeface="Calibri" pitchFamily="34" charset="0"/>
              </a:rPr>
              <a:t>(data)</a:t>
            </a:r>
          </a:p>
          <a:p>
            <a:r>
              <a:rPr lang="en-US" sz="2000" dirty="0">
                <a:latin typeface="Calibri" pitchFamily="34" charset="0"/>
                <a:cs typeface="Calibri" pitchFamily="34" charset="0"/>
              </a:rPr>
              <a:t>if (data &lt; node-&gt;data)</a:t>
            </a:r>
          </a:p>
          <a:p>
            <a:r>
              <a:rPr lang="en-US" sz="2000" dirty="0">
                <a:latin typeface="Calibri" pitchFamily="34" charset="0"/>
                <a:cs typeface="Calibri" pitchFamily="34" charset="0"/>
              </a:rPr>
              <a:t>    node-&gt;left  = insert(node-&gt;left, data);</a:t>
            </a:r>
          </a:p>
          <a:p>
            <a:r>
              <a:rPr lang="en-US" sz="2000" dirty="0">
                <a:latin typeface="Calibri" pitchFamily="34" charset="0"/>
                <a:cs typeface="Calibri" pitchFamily="34" charset="0"/>
              </a:rPr>
              <a:t>else if (data &gt; node-&gt;data)</a:t>
            </a:r>
          </a:p>
          <a:p>
            <a:r>
              <a:rPr lang="en-US" sz="2000" dirty="0">
                <a:latin typeface="Calibri" pitchFamily="34" charset="0"/>
                <a:cs typeface="Calibri" pitchFamily="34" charset="0"/>
              </a:rPr>
              <a:t>    node-&gt;right = insert(node-&gt;right, data);  </a:t>
            </a:r>
          </a:p>
          <a:p>
            <a:r>
              <a:rPr lang="en-US" sz="2000" dirty="0">
                <a:latin typeface="Calibri" pitchFamily="34" charset="0"/>
                <a:cs typeface="Calibri" pitchFamily="34" charset="0"/>
              </a:rPr>
              <a:t>return node;</a:t>
            </a:r>
            <a:endParaRPr lang="en-US" sz="2000" dirty="0" smtClean="0">
              <a:latin typeface="Calibri" pitchFamily="34" charset="0"/>
              <a:cs typeface="Calibri" pitchFamily="34" charset="0"/>
            </a:endParaRPr>
          </a:p>
        </p:txBody>
      </p:sp>
    </p:spTree>
    <p:extLst>
      <p:ext uri="{BB962C8B-B14F-4D97-AF65-F5344CB8AC3E}">
        <p14:creationId xmlns:p14="http://schemas.microsoft.com/office/powerpoint/2010/main" val="765097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334962"/>
          </a:xfrm>
        </p:spPr>
        <p:txBody>
          <a:bodyPr>
            <a:normAutofit fontScale="90000"/>
          </a:bodyPr>
          <a:lstStyle/>
          <a:p>
            <a:r>
              <a:rPr lang="en-IN" sz="1800" dirty="0">
                <a:effectLst/>
              </a:rPr>
              <a:t> Binary Search Tree</a:t>
            </a:r>
          </a:p>
        </p:txBody>
      </p:sp>
      <p:sp>
        <p:nvSpPr>
          <p:cNvPr id="2" name="Content Placeholder 1"/>
          <p:cNvSpPr>
            <a:spLocks noGrp="1"/>
          </p:cNvSpPr>
          <p:nvPr>
            <p:ph idx="1"/>
          </p:nvPr>
        </p:nvSpPr>
        <p:spPr>
          <a:xfrm>
            <a:off x="304800" y="838200"/>
            <a:ext cx="8382000" cy="5169091"/>
          </a:xfrm>
        </p:spPr>
        <p:txBody>
          <a:bodyPr>
            <a:normAutofit lnSpcReduction="10000"/>
          </a:bodyPr>
          <a:lstStyle/>
          <a:p>
            <a:r>
              <a:rPr lang="en-US" sz="2000" b="1" dirty="0">
                <a:latin typeface="Calibri" pitchFamily="34" charset="0"/>
                <a:cs typeface="Calibri" pitchFamily="34" charset="0"/>
              </a:rPr>
              <a:t>Deletion Operation</a:t>
            </a:r>
          </a:p>
          <a:p>
            <a:r>
              <a:rPr lang="en-US" sz="2000" dirty="0">
                <a:latin typeface="Calibri" pitchFamily="34" charset="0"/>
                <a:cs typeface="Calibri" pitchFamily="34" charset="0"/>
              </a:rPr>
              <a:t>There are three cases for deleting a node from a binary search tree.</a:t>
            </a:r>
          </a:p>
          <a:p>
            <a:r>
              <a:rPr lang="en-US" sz="2000" b="1" dirty="0">
                <a:latin typeface="Calibri" pitchFamily="34" charset="0"/>
                <a:cs typeface="Calibri" pitchFamily="34" charset="0"/>
              </a:rPr>
              <a:t>Case I</a:t>
            </a:r>
          </a:p>
          <a:p>
            <a:r>
              <a:rPr lang="en-US" sz="2000" dirty="0">
                <a:latin typeface="Calibri" pitchFamily="34" charset="0"/>
                <a:cs typeface="Calibri" pitchFamily="34" charset="0"/>
              </a:rPr>
              <a:t>In the first case, the node to be deleted is the leaf node. In such a case, simply delete the node from the tree</a:t>
            </a:r>
            <a:r>
              <a:rPr lang="en-US" sz="2000" dirty="0" smtClean="0">
                <a:latin typeface="Calibri" pitchFamily="34" charset="0"/>
                <a:cs typeface="Calibri" pitchFamily="34" charset="0"/>
              </a:rPr>
              <a:t>.</a:t>
            </a:r>
          </a:p>
          <a:p>
            <a:r>
              <a:rPr lang="en-US" sz="2000" b="1" dirty="0">
                <a:latin typeface="Calibri" pitchFamily="34" charset="0"/>
                <a:cs typeface="Calibri" pitchFamily="34" charset="0"/>
              </a:rPr>
              <a:t>Case II</a:t>
            </a:r>
          </a:p>
          <a:p>
            <a:r>
              <a:rPr lang="en-US" sz="2000" dirty="0">
                <a:latin typeface="Calibri" pitchFamily="34" charset="0"/>
                <a:cs typeface="Calibri" pitchFamily="34" charset="0"/>
              </a:rPr>
              <a:t>In the second case, the node to be deleted lies has a single child node. In such a case follow the steps below:</a:t>
            </a:r>
          </a:p>
          <a:p>
            <a:r>
              <a:rPr lang="en-US" sz="2000" dirty="0">
                <a:latin typeface="Calibri" pitchFamily="34" charset="0"/>
                <a:cs typeface="Calibri" pitchFamily="34" charset="0"/>
              </a:rPr>
              <a:t>Replace that node with its child node.</a:t>
            </a:r>
          </a:p>
          <a:p>
            <a:r>
              <a:rPr lang="en-US" sz="2000" dirty="0">
                <a:latin typeface="Calibri" pitchFamily="34" charset="0"/>
                <a:cs typeface="Calibri" pitchFamily="34" charset="0"/>
              </a:rPr>
              <a:t>Remove the child node from its original position.</a:t>
            </a:r>
          </a:p>
          <a:p>
            <a:r>
              <a:rPr lang="en-US" sz="2000" b="1" dirty="0">
                <a:latin typeface="Calibri" pitchFamily="34" charset="0"/>
                <a:cs typeface="Calibri" pitchFamily="34" charset="0"/>
              </a:rPr>
              <a:t>Case III</a:t>
            </a:r>
          </a:p>
          <a:p>
            <a:r>
              <a:rPr lang="en-US" sz="2000" dirty="0">
                <a:latin typeface="Calibri" pitchFamily="34" charset="0"/>
                <a:cs typeface="Calibri" pitchFamily="34" charset="0"/>
              </a:rPr>
              <a:t>In the third case, the node to be deleted has two children. In such a case follow the steps below:</a:t>
            </a:r>
          </a:p>
          <a:p>
            <a:r>
              <a:rPr lang="en-US" sz="2000" dirty="0">
                <a:latin typeface="Calibri" pitchFamily="34" charset="0"/>
                <a:cs typeface="Calibri" pitchFamily="34" charset="0"/>
              </a:rPr>
              <a:t>Get the </a:t>
            </a:r>
            <a:r>
              <a:rPr lang="en-US" sz="2000" dirty="0" err="1">
                <a:latin typeface="Calibri" pitchFamily="34" charset="0"/>
                <a:cs typeface="Calibri" pitchFamily="34" charset="0"/>
              </a:rPr>
              <a:t>inorder</a:t>
            </a:r>
            <a:r>
              <a:rPr lang="en-US" sz="2000" dirty="0">
                <a:latin typeface="Calibri" pitchFamily="34" charset="0"/>
                <a:cs typeface="Calibri" pitchFamily="34" charset="0"/>
              </a:rPr>
              <a:t> successor of that node.</a:t>
            </a:r>
          </a:p>
          <a:p>
            <a:r>
              <a:rPr lang="en-US" sz="2000" dirty="0">
                <a:latin typeface="Calibri" pitchFamily="34" charset="0"/>
                <a:cs typeface="Calibri" pitchFamily="34" charset="0"/>
              </a:rPr>
              <a:t>Replace the node with the </a:t>
            </a:r>
            <a:r>
              <a:rPr lang="en-US" sz="2000" dirty="0" err="1">
                <a:latin typeface="Calibri" pitchFamily="34" charset="0"/>
                <a:cs typeface="Calibri" pitchFamily="34" charset="0"/>
              </a:rPr>
              <a:t>inorder</a:t>
            </a:r>
            <a:r>
              <a:rPr lang="en-US" sz="2000" dirty="0">
                <a:latin typeface="Calibri" pitchFamily="34" charset="0"/>
                <a:cs typeface="Calibri" pitchFamily="34" charset="0"/>
              </a:rPr>
              <a:t> successor.</a:t>
            </a:r>
          </a:p>
          <a:p>
            <a:r>
              <a:rPr lang="en-US" sz="2000" dirty="0">
                <a:latin typeface="Calibri" pitchFamily="34" charset="0"/>
                <a:cs typeface="Calibri" pitchFamily="34" charset="0"/>
              </a:rPr>
              <a:t>Remove the </a:t>
            </a:r>
            <a:r>
              <a:rPr lang="en-US" sz="2000" dirty="0" err="1">
                <a:latin typeface="Calibri" pitchFamily="34" charset="0"/>
                <a:cs typeface="Calibri" pitchFamily="34" charset="0"/>
              </a:rPr>
              <a:t>inorder</a:t>
            </a:r>
            <a:r>
              <a:rPr lang="en-US" sz="2000" dirty="0">
                <a:latin typeface="Calibri" pitchFamily="34" charset="0"/>
                <a:cs typeface="Calibri" pitchFamily="34" charset="0"/>
              </a:rPr>
              <a:t> successor from its original position.</a:t>
            </a:r>
          </a:p>
          <a:p>
            <a:endParaRPr lang="en-US" sz="2000" dirty="0" smtClean="0">
              <a:latin typeface="Calibri" pitchFamily="34" charset="0"/>
              <a:cs typeface="Calibri" pitchFamily="34" charset="0"/>
            </a:endParaRPr>
          </a:p>
        </p:txBody>
      </p:sp>
    </p:spTree>
    <p:extLst>
      <p:ext uri="{BB962C8B-B14F-4D97-AF65-F5344CB8AC3E}">
        <p14:creationId xmlns:p14="http://schemas.microsoft.com/office/powerpoint/2010/main" val="8822411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334962"/>
          </a:xfrm>
        </p:spPr>
        <p:txBody>
          <a:bodyPr>
            <a:normAutofit fontScale="90000"/>
          </a:bodyPr>
          <a:lstStyle/>
          <a:p>
            <a:r>
              <a:rPr lang="en-IN" sz="1600" dirty="0">
                <a:effectLst/>
              </a:rPr>
              <a:t>Balanced Binary Tree</a:t>
            </a:r>
          </a:p>
        </p:txBody>
      </p:sp>
      <p:sp>
        <p:nvSpPr>
          <p:cNvPr id="2" name="Content Placeholder 1"/>
          <p:cNvSpPr>
            <a:spLocks noGrp="1"/>
          </p:cNvSpPr>
          <p:nvPr>
            <p:ph idx="1"/>
          </p:nvPr>
        </p:nvSpPr>
        <p:spPr>
          <a:xfrm>
            <a:off x="304800" y="685800"/>
            <a:ext cx="8382000" cy="5562600"/>
          </a:xfrm>
        </p:spPr>
        <p:txBody>
          <a:bodyPr>
            <a:normAutofit/>
          </a:bodyPr>
          <a:lstStyle/>
          <a:p>
            <a:r>
              <a:rPr lang="en-US" sz="2000" dirty="0">
                <a:latin typeface="Calibri" pitchFamily="34" charset="0"/>
                <a:cs typeface="Calibri" pitchFamily="34" charset="0"/>
              </a:rPr>
              <a:t>A balanced binary tree, also referred to as a height-balanced binary tree, is defined as a binary tree in which the height of the left and right </a:t>
            </a:r>
            <a:r>
              <a:rPr lang="en-US" sz="2000" dirty="0" err="1">
                <a:latin typeface="Calibri" pitchFamily="34" charset="0"/>
                <a:cs typeface="Calibri" pitchFamily="34" charset="0"/>
              </a:rPr>
              <a:t>subtree</a:t>
            </a:r>
            <a:r>
              <a:rPr lang="en-US" sz="2000" dirty="0">
                <a:latin typeface="Calibri" pitchFamily="34" charset="0"/>
                <a:cs typeface="Calibri" pitchFamily="34" charset="0"/>
              </a:rPr>
              <a:t> of any node differ by not more than 1</a:t>
            </a:r>
            <a:r>
              <a:rPr lang="en-US" sz="2000" dirty="0" smtClean="0">
                <a:latin typeface="Calibri" pitchFamily="34" charset="0"/>
                <a:cs typeface="Calibri" pitchFamily="34" charset="0"/>
              </a:rPr>
              <a:t>.</a:t>
            </a:r>
          </a:p>
          <a:p>
            <a:r>
              <a:rPr lang="en-US" sz="2000" dirty="0">
                <a:latin typeface="Calibri" pitchFamily="34" charset="0"/>
                <a:cs typeface="Calibri" pitchFamily="34" charset="0"/>
              </a:rPr>
              <a:t>To learn more about the height of a tree/node, visit Tree Data </a:t>
            </a:r>
            <a:r>
              <a:rPr lang="en-US" sz="2000" dirty="0" err="1">
                <a:latin typeface="Calibri" pitchFamily="34" charset="0"/>
                <a:cs typeface="Calibri" pitchFamily="34" charset="0"/>
              </a:rPr>
              <a:t>Structure.Following</a:t>
            </a:r>
            <a:r>
              <a:rPr lang="en-US" sz="2000" dirty="0">
                <a:latin typeface="Calibri" pitchFamily="34" charset="0"/>
                <a:cs typeface="Calibri" pitchFamily="34" charset="0"/>
              </a:rPr>
              <a:t> are the conditions for a height-balanced binary tree:</a:t>
            </a:r>
          </a:p>
          <a:p>
            <a:endParaRPr lang="en-US" sz="2000" dirty="0">
              <a:latin typeface="Calibri" pitchFamily="34" charset="0"/>
              <a:cs typeface="Calibri" pitchFamily="34" charset="0"/>
            </a:endParaRPr>
          </a:p>
          <a:p>
            <a:r>
              <a:rPr lang="en-US" sz="2000" dirty="0">
                <a:latin typeface="Calibri" pitchFamily="34" charset="0"/>
                <a:cs typeface="Calibri" pitchFamily="34" charset="0"/>
              </a:rPr>
              <a:t>difference between the left and the right </a:t>
            </a:r>
            <a:r>
              <a:rPr lang="en-US" sz="2000" dirty="0" err="1">
                <a:latin typeface="Calibri" pitchFamily="34" charset="0"/>
                <a:cs typeface="Calibri" pitchFamily="34" charset="0"/>
              </a:rPr>
              <a:t>subtree</a:t>
            </a:r>
            <a:r>
              <a:rPr lang="en-US" sz="2000" dirty="0">
                <a:latin typeface="Calibri" pitchFamily="34" charset="0"/>
                <a:cs typeface="Calibri" pitchFamily="34" charset="0"/>
              </a:rPr>
              <a:t> for any node is not more than one</a:t>
            </a:r>
          </a:p>
          <a:p>
            <a:r>
              <a:rPr lang="en-US" sz="2000" dirty="0">
                <a:latin typeface="Calibri" pitchFamily="34" charset="0"/>
                <a:cs typeface="Calibri" pitchFamily="34" charset="0"/>
              </a:rPr>
              <a:t>the left </a:t>
            </a:r>
            <a:r>
              <a:rPr lang="en-US" sz="2000" dirty="0" err="1">
                <a:latin typeface="Calibri" pitchFamily="34" charset="0"/>
                <a:cs typeface="Calibri" pitchFamily="34" charset="0"/>
              </a:rPr>
              <a:t>subtree</a:t>
            </a:r>
            <a:r>
              <a:rPr lang="en-US" sz="2000" dirty="0">
                <a:latin typeface="Calibri" pitchFamily="34" charset="0"/>
                <a:cs typeface="Calibri" pitchFamily="34" charset="0"/>
              </a:rPr>
              <a:t> is balanced</a:t>
            </a:r>
          </a:p>
          <a:p>
            <a:r>
              <a:rPr lang="en-US" sz="2000" dirty="0">
                <a:latin typeface="Calibri" pitchFamily="34" charset="0"/>
                <a:cs typeface="Calibri" pitchFamily="34" charset="0"/>
              </a:rPr>
              <a:t>the right </a:t>
            </a:r>
            <a:r>
              <a:rPr lang="en-US" sz="2000" dirty="0" err="1">
                <a:latin typeface="Calibri" pitchFamily="34" charset="0"/>
                <a:cs typeface="Calibri" pitchFamily="34" charset="0"/>
              </a:rPr>
              <a:t>subtree</a:t>
            </a:r>
            <a:r>
              <a:rPr lang="en-US" sz="2000" dirty="0">
                <a:latin typeface="Calibri" pitchFamily="34" charset="0"/>
                <a:cs typeface="Calibri" pitchFamily="34" charset="0"/>
              </a:rPr>
              <a:t> is </a:t>
            </a:r>
            <a:r>
              <a:rPr lang="en-US" sz="2000" dirty="0" smtClean="0">
                <a:latin typeface="Calibri" pitchFamily="34" charset="0"/>
                <a:cs typeface="Calibri" pitchFamily="34" charset="0"/>
              </a:rPr>
              <a:t>balanced</a:t>
            </a:r>
          </a:p>
          <a:p>
            <a:endParaRPr lang="en-US" sz="2000" dirty="0" smtClean="0">
              <a:latin typeface="Calibri" pitchFamily="34" charset="0"/>
              <a:cs typeface="Calibri" pitchFamily="34"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4038600"/>
            <a:ext cx="4343400" cy="2044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402840" y="6083162"/>
            <a:ext cx="6680200" cy="369332"/>
          </a:xfrm>
          <a:prstGeom prst="rect">
            <a:avLst/>
          </a:prstGeom>
        </p:spPr>
        <p:txBody>
          <a:bodyPr wrap="square">
            <a:spAutoFit/>
          </a:bodyPr>
          <a:lstStyle/>
          <a:p>
            <a:r>
              <a:rPr lang="en-US" dirty="0"/>
              <a:t>Balanced Binary Tree with depth at each level</a:t>
            </a:r>
            <a:endParaRPr lang="en-IN" dirty="0"/>
          </a:p>
        </p:txBody>
      </p:sp>
    </p:spTree>
    <p:extLst>
      <p:ext uri="{BB962C8B-B14F-4D97-AF65-F5344CB8AC3E}">
        <p14:creationId xmlns:p14="http://schemas.microsoft.com/office/powerpoint/2010/main" val="37530229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138</TotalTime>
  <Words>2274</Words>
  <Application>Microsoft Office PowerPoint</Application>
  <PresentationFormat>On-screen Show (4:3)</PresentationFormat>
  <Paragraphs>271</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Concourse</vt:lpstr>
      <vt:lpstr>Trees and Binary Trees</vt:lpstr>
      <vt:lpstr>Trees and Binary Trees</vt:lpstr>
      <vt:lpstr>Trees and Binary Trees</vt:lpstr>
      <vt:lpstr>Trees and Binary Trees</vt:lpstr>
      <vt:lpstr>Trees and Binary Trees</vt:lpstr>
      <vt:lpstr>Trees and Binary Trees</vt:lpstr>
      <vt:lpstr>Trees and Binary Trees</vt:lpstr>
      <vt:lpstr>Trees and Binary Trees</vt:lpstr>
      <vt:lpstr>Trees and Binary Trees</vt:lpstr>
      <vt:lpstr>Trees and Binary Trees</vt:lpstr>
      <vt:lpstr>Trees and Binary Trees</vt:lpstr>
      <vt:lpstr>Trees and Binary Trees</vt:lpstr>
      <vt:lpstr>Trees and Binary Trees</vt:lpstr>
      <vt:lpstr>Trees and Binary Trees</vt:lpstr>
      <vt:lpstr>Threaded Binary Tree</vt:lpstr>
      <vt:lpstr>Threaded Binary Tree</vt:lpstr>
      <vt:lpstr>Threaded Binary Tree</vt:lpstr>
      <vt:lpstr>Threaded Binary Tree</vt:lpstr>
      <vt:lpstr>Threaded Binary Tree</vt:lpstr>
      <vt:lpstr>Threaded Binary Tree</vt:lpstr>
      <vt:lpstr>Threaded Binary Tree</vt:lpstr>
      <vt:lpstr>Threaded Binary Tree</vt:lpstr>
      <vt:lpstr>Threaded Binary Tree</vt:lpstr>
      <vt:lpstr> Binary Search Tree</vt:lpstr>
      <vt:lpstr> Binary Search Tree</vt:lpstr>
      <vt:lpstr> Binary Search Tree</vt:lpstr>
      <vt:lpstr> Binary Search Tree</vt:lpstr>
      <vt:lpstr> Binary Search Tree</vt:lpstr>
      <vt:lpstr>Balanced Binary Tree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Trees and Binary Trees</dc:title>
  <dc:creator>Student</dc:creator>
  <cp:lastModifiedBy>student</cp:lastModifiedBy>
  <cp:revision>23</cp:revision>
  <dcterms:created xsi:type="dcterms:W3CDTF">2006-08-16T00:00:00Z</dcterms:created>
  <dcterms:modified xsi:type="dcterms:W3CDTF">2022-11-26T07:28:34Z</dcterms:modified>
</cp:coreProperties>
</file>