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</p:sldIdLst>
  <p:sldSz cy="6858000" cx="9144000"/>
  <p:notesSz cx="9144000" cy="6858000"/>
  <p:embeddedFontLst>
    <p:embeddedFont>
      <p:font typeface="Noto Sans Symbols"/>
      <p:regular r:id="rId140"/>
      <p:bold r:id="rId1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823ECC-F2BC-4FCE-8E25-B9D967D01759}">
  <a:tblStyle styleId="{D2823ECC-F2BC-4FCE-8E25-B9D967D017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1" Type="http://schemas.openxmlformats.org/officeDocument/2006/relationships/font" Target="fonts/NotoSansSymbols-bold.fntdata"/><Relationship Id="rId140" Type="http://schemas.openxmlformats.org/officeDocument/2006/relationships/font" Target="fonts/NotoSansSymbol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5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6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6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6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6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7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7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7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7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8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8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8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8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8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8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8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9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9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9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9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9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9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9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9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9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0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0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0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0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0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0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0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0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0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0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1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1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1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1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1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2080005" y="1968754"/>
            <a:ext cx="6266815" cy="3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2541269" y="169925"/>
            <a:ext cx="406146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080005" y="1968754"/>
            <a:ext cx="6266815" cy="38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jpg"/><Relationship Id="rId4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8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8.jpg"/><Relationship Id="rId4" Type="http://schemas.openxmlformats.org/officeDocument/2006/relationships/image" Target="../media/image2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jpg"/><Relationship Id="rId4" Type="http://schemas.openxmlformats.org/officeDocument/2006/relationships/image" Target="../media/image3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3.jpg"/><Relationship Id="rId4" Type="http://schemas.openxmlformats.org/officeDocument/2006/relationships/image" Target="../media/image2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5.jpg"/><Relationship Id="rId4" Type="http://schemas.openxmlformats.org/officeDocument/2006/relationships/image" Target="../media/image5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6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0.jpg"/><Relationship Id="rId4" Type="http://schemas.openxmlformats.org/officeDocument/2006/relationships/image" Target="../media/image31.jpg"/><Relationship Id="rId5" Type="http://schemas.openxmlformats.org/officeDocument/2006/relationships/image" Target="../media/image4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8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2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8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6.png"/><Relationship Id="rId4" Type="http://schemas.openxmlformats.org/officeDocument/2006/relationships/image" Target="../media/image4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4.jp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5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7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4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2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6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3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57.jpg"/><Relationship Id="rId4" Type="http://schemas.openxmlformats.org/officeDocument/2006/relationships/image" Target="../media/image5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67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67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60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63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62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9.jp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75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65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59.jp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74.png"/><Relationship Id="rId4" Type="http://schemas.openxmlformats.org/officeDocument/2006/relationships/image" Target="../media/image68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8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62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82.png"/><Relationship Id="rId4" Type="http://schemas.openxmlformats.org/officeDocument/2006/relationships/image" Target="../media/image64.png"/><Relationship Id="rId5" Type="http://schemas.openxmlformats.org/officeDocument/2006/relationships/image" Target="../media/image83.png"/><Relationship Id="rId6" Type="http://schemas.openxmlformats.org/officeDocument/2006/relationships/image" Target="../media/image86.png"/><Relationship Id="rId7" Type="http://schemas.openxmlformats.org/officeDocument/2006/relationships/image" Target="../media/image85.png"/><Relationship Id="rId8" Type="http://schemas.openxmlformats.org/officeDocument/2006/relationships/image" Target="../media/image70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78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72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69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77.jp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4.png"/><Relationship Id="rId6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552704" y="2321128"/>
            <a:ext cx="7951470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US" sz="4600">
                <a:latin typeface="Times New Roman"/>
                <a:ea typeface="Times New Roman"/>
                <a:cs typeface="Times New Roman"/>
                <a:sym typeface="Times New Roman"/>
              </a:rPr>
              <a:t>MEMORY MANAGEMENT</a:t>
            </a:r>
            <a:r>
              <a:rPr b="1" lang="en-US" sz="4900"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4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56794" y="3483214"/>
            <a:ext cx="8706206" cy="1139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213233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30425" marR="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Prof.Abhijit H.Khadke</a:t>
            </a:r>
            <a:endParaRPr b="0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22961" y="5934252"/>
            <a:ext cx="2921635" cy="954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635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US" sz="19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(SEM-III)  </a:t>
            </a:r>
            <a:r>
              <a:rPr b="1" i="0" lang="en-US" sz="19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	</a:t>
            </a: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i="0" lang="en-US" sz="19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288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" name="Google Shape;46;p7"/>
          <p:cNvGrpSpPr/>
          <p:nvPr/>
        </p:nvGrpSpPr>
        <p:grpSpPr>
          <a:xfrm>
            <a:off x="0" y="0"/>
            <a:ext cx="9144228" cy="6838950"/>
            <a:chOff x="0" y="0"/>
            <a:chExt cx="9144228" cy="6838950"/>
          </a:xfrm>
        </p:grpSpPr>
        <p:sp>
          <p:nvSpPr>
            <p:cNvPr id="47" name="Google Shape;47;p7"/>
            <p:cNvSpPr/>
            <p:nvPr/>
          </p:nvSpPr>
          <p:spPr>
            <a:xfrm>
              <a:off x="5308" y="1853056"/>
              <a:ext cx="9138920" cy="3831590"/>
            </a:xfrm>
            <a:custGeom>
              <a:rect b="b" l="l" r="r" t="t"/>
              <a:pathLst>
                <a:path extrusionOk="0" h="3831590" w="9138920">
                  <a:moveTo>
                    <a:pt x="9138679" y="3755364"/>
                  </a:moveTo>
                  <a:lnTo>
                    <a:pt x="0" y="3755364"/>
                  </a:lnTo>
                  <a:lnTo>
                    <a:pt x="0" y="3831564"/>
                  </a:lnTo>
                  <a:lnTo>
                    <a:pt x="9138679" y="3831564"/>
                  </a:lnTo>
                  <a:lnTo>
                    <a:pt x="9138679" y="3755364"/>
                  </a:lnTo>
                  <a:close/>
                </a:path>
                <a:path extrusionOk="0" h="3831590" w="9138920">
                  <a:moveTo>
                    <a:pt x="9138679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38679" y="76200"/>
                  </a:lnTo>
                  <a:lnTo>
                    <a:pt x="91386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0" y="6838918"/>
              <a:ext cx="9144000" cy="0"/>
            </a:xfrm>
            <a:custGeom>
              <a:rect b="b" l="l" r="r" t="t"/>
              <a:pathLst>
                <a:path extrusionOk="0" h="120000"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5320" y="0"/>
              <a:ext cx="0" cy="6838950"/>
            </a:xfrm>
            <a:custGeom>
              <a:rect b="b" l="l" r="r" t="t"/>
              <a:pathLst>
                <a:path extrusionOk="0" h="6838950" w="120000">
                  <a:moveTo>
                    <a:pt x="0" y="6838919"/>
                  </a:moveTo>
                  <a:lnTo>
                    <a:pt x="0" y="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0" y="19050"/>
              <a:ext cx="9144000" cy="0"/>
            </a:xfrm>
            <a:custGeom>
              <a:rect b="b" l="l" r="r" t="t"/>
              <a:pathLst>
                <a:path extrusionOk="0" h="120000"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1996567" y="3345637"/>
            <a:ext cx="514223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Memory Management</a:t>
            </a:r>
            <a:endParaRPr sz="4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76200" y="913002"/>
            <a:ext cx="8839200" cy="4420997"/>
            <a:chOff x="76200" y="913002"/>
            <a:chExt cx="8839200" cy="4420997"/>
          </a:xfrm>
        </p:grpSpPr>
        <p:pic>
          <p:nvPicPr>
            <p:cNvPr id="57" name="Google Shape;5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" y="913002"/>
              <a:ext cx="8839200" cy="4420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8"/>
            <p:cNvSpPr/>
            <p:nvPr/>
          </p:nvSpPr>
          <p:spPr>
            <a:xfrm>
              <a:off x="1845055" y="1534388"/>
              <a:ext cx="1560195" cy="1043940"/>
            </a:xfrm>
            <a:custGeom>
              <a:rect b="b" l="l" r="r" t="t"/>
              <a:pathLst>
                <a:path extrusionOk="0" h="1043939" w="1560195">
                  <a:moveTo>
                    <a:pt x="0" y="1043584"/>
                  </a:moveTo>
                  <a:lnTo>
                    <a:pt x="1559814" y="1043584"/>
                  </a:lnTo>
                  <a:lnTo>
                    <a:pt x="1559814" y="0"/>
                  </a:lnTo>
                  <a:lnTo>
                    <a:pt x="0" y="0"/>
                  </a:lnTo>
                  <a:lnTo>
                    <a:pt x="0" y="1043584"/>
                  </a:lnTo>
                  <a:close/>
                </a:path>
              </a:pathLst>
            </a:custGeom>
            <a:noFill/>
            <a:ln cap="flat" cmpd="sng" w="25900">
              <a:solidFill>
                <a:srgbClr val="FF0000"/>
              </a:solidFill>
              <a:prstDash val="lg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71424" y="157987"/>
            <a:ext cx="211201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SYLLABUS 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71424" y="596727"/>
            <a:ext cx="8912225" cy="6062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5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	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	Management	concepts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	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	Management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80000"/>
              </a:lnSpc>
              <a:spcBef>
                <a:spcPts val="38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Partitioning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Fixed Partitioning, Dynamic Partitioning, Buddy  Systems Fragmentation, Paging, Segmentation, Address translation.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Strategies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First Fit, Best Fit, Next Fit and Worst Fit.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71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Memory (VM)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Concepts, Swapping, VM with Paging, Page  Table Structure, Inverted Page Table, Translation Look aside Buffer,  Page Size, VM with Segmentation, VM with Combined paging and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71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Replacement Policies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First In First Out (FIFO), Last Recently  Used(LRU), Optimal, Thrashing.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3649217" y="426212"/>
            <a:ext cx="184848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Content</a:t>
            </a:r>
            <a:endParaRPr sz="4400"/>
          </a:p>
        </p:txBody>
      </p:sp>
      <p:sp>
        <p:nvSpPr>
          <p:cNvPr id="70" name="Google Shape;70;p10"/>
          <p:cNvSpPr txBox="1"/>
          <p:nvPr/>
        </p:nvSpPr>
        <p:spPr>
          <a:xfrm>
            <a:off x="535635" y="1545716"/>
            <a:ext cx="5811520" cy="4507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management: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of Programming Model of Intel 80386,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Contiguous and non-contiguous,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Swapping,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Paging,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with Paging.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Memory: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paging,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replacement scheme-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FIFO,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LRU,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Thrashing.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9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Study: Memory Management in multi-cores OS.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340" y="2740405"/>
            <a:ext cx="3887089" cy="223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/>
        </p:nvSpPr>
        <p:spPr>
          <a:xfrm>
            <a:off x="535635" y="1582927"/>
            <a:ext cx="7957820" cy="424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seen how CPU can be shared by a set  of processes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system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management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to keep several process in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various techniques to manage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dependent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2013330" y="426212"/>
            <a:ext cx="511048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Memory management</a:t>
            </a:r>
            <a:endParaRPr sz="4400"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79" y="16764"/>
            <a:ext cx="1841119" cy="1417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2013330" y="426212"/>
            <a:ext cx="511048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Memory management</a:t>
            </a:r>
            <a:endParaRPr sz="4400"/>
          </a:p>
        </p:txBody>
      </p:sp>
      <p:sp>
        <p:nvSpPr>
          <p:cNvPr id="84" name="Google Shape;84;p12"/>
          <p:cNvSpPr txBox="1"/>
          <p:nvPr/>
        </p:nvSpPr>
        <p:spPr>
          <a:xfrm>
            <a:off x="459435" y="1329753"/>
            <a:ext cx="8046084" cy="4808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we going to learn?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9375" rtl="0" algn="l">
              <a:lnSpc>
                <a:spcPct val="108124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Memory Management: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vs.  physical address space, protection, contiguous  memory allocation, paging, segmentation,  segmentation with paging.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Memory: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background, demand paging,  performance, page replacement, page  replacement algorithms (FCFS, LRU), allocation  of frames, thrashing.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1106525" y="159511"/>
            <a:ext cx="691007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09240" lvl="0" marL="282130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 of Programming Model of  80386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455" y="1493519"/>
            <a:ext cx="487604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181857" y="183642"/>
            <a:ext cx="251396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11835" y="1360170"/>
            <a:ext cx="7313930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must be brought (from disk)	into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11835" y="1747495"/>
            <a:ext cx="4861560" cy="1202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Fetch-decode-execute cycle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11835" y="3457397"/>
            <a:ext cx="7649845" cy="256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unit only sees a stream of  addresses + read requests, or address + data  and write requests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29591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of memory addresses generated  by running program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2241804"/>
            <a:ext cx="931163" cy="62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020561" y="2242566"/>
            <a:ext cx="1066800" cy="730250"/>
          </a:xfrm>
          <a:prstGeom prst="rect">
            <a:avLst/>
          </a:pr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35250">
            <a:spAutoFit/>
          </a:bodyPr>
          <a:lstStyle/>
          <a:p>
            <a:pPr indent="0" lvl="0" marL="320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7087361" y="2362961"/>
            <a:ext cx="685800" cy="368935"/>
            <a:chOff x="7087361" y="2362961"/>
            <a:chExt cx="685800" cy="368935"/>
          </a:xfrm>
        </p:grpSpPr>
        <p:sp>
          <p:nvSpPr>
            <p:cNvPr id="102" name="Google Shape;102;p14"/>
            <p:cNvSpPr/>
            <p:nvPr/>
          </p:nvSpPr>
          <p:spPr>
            <a:xfrm>
              <a:off x="7087361" y="2362961"/>
              <a:ext cx="685800" cy="368935"/>
            </a:xfrm>
            <a:custGeom>
              <a:rect b="b" l="l" r="r" t="t"/>
              <a:pathLst>
                <a:path extrusionOk="0" h="368935" w="685800">
                  <a:moveTo>
                    <a:pt x="501396" y="0"/>
                  </a:moveTo>
                  <a:lnTo>
                    <a:pt x="501396" y="92201"/>
                  </a:lnTo>
                  <a:lnTo>
                    <a:pt x="0" y="92201"/>
                  </a:lnTo>
                  <a:lnTo>
                    <a:pt x="0" y="276605"/>
                  </a:lnTo>
                  <a:lnTo>
                    <a:pt x="501396" y="276605"/>
                  </a:lnTo>
                  <a:lnTo>
                    <a:pt x="501396" y="368808"/>
                  </a:lnTo>
                  <a:lnTo>
                    <a:pt x="685800" y="184403"/>
                  </a:lnTo>
                  <a:lnTo>
                    <a:pt x="501396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7087361" y="2362961"/>
              <a:ext cx="685800" cy="368935"/>
            </a:xfrm>
            <a:custGeom>
              <a:rect b="b" l="l" r="r" t="t"/>
              <a:pathLst>
                <a:path extrusionOk="0" h="368935" w="685800">
                  <a:moveTo>
                    <a:pt x="0" y="92201"/>
                  </a:moveTo>
                  <a:lnTo>
                    <a:pt x="501396" y="92201"/>
                  </a:lnTo>
                  <a:lnTo>
                    <a:pt x="501396" y="0"/>
                  </a:lnTo>
                  <a:lnTo>
                    <a:pt x="685800" y="184403"/>
                  </a:lnTo>
                  <a:lnTo>
                    <a:pt x="501396" y="368808"/>
                  </a:lnTo>
                  <a:lnTo>
                    <a:pt x="501396" y="276605"/>
                  </a:lnTo>
                  <a:lnTo>
                    <a:pt x="0" y="276605"/>
                  </a:lnTo>
                  <a:lnTo>
                    <a:pt x="0" y="92201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1446402" y="183642"/>
            <a:ext cx="6902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vs. Physical Address Space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1037" y="1364996"/>
            <a:ext cx="64458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Logical address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generated by the CPU; also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31037" y="1791716"/>
            <a:ext cx="4183379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referred to as </a:t>
            </a:r>
            <a:r>
              <a:rPr b="1"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virtual address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73532" y="2816479"/>
            <a:ext cx="7559675" cy="3030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69900" marR="2070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Physical address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address seen by the memory  unit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Logical address space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all logical  addresses generated by a program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17145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Physical address space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all  physical addresses generated by a program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1752600"/>
            <a:ext cx="838200" cy="5593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096761" y="1832610"/>
            <a:ext cx="960119" cy="588645"/>
          </a:xfrm>
          <a:prstGeom prst="rect">
            <a:avLst/>
          </a:pr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20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5"/>
          <p:cNvGrpSpPr/>
          <p:nvPr/>
        </p:nvGrpSpPr>
        <p:grpSpPr>
          <a:xfrm>
            <a:off x="7163561" y="1882902"/>
            <a:ext cx="617220" cy="299085"/>
            <a:chOff x="7163561" y="1882902"/>
            <a:chExt cx="617220" cy="299085"/>
          </a:xfrm>
        </p:grpSpPr>
        <p:sp>
          <p:nvSpPr>
            <p:cNvPr id="115" name="Google Shape;115;p15"/>
            <p:cNvSpPr/>
            <p:nvPr/>
          </p:nvSpPr>
          <p:spPr>
            <a:xfrm>
              <a:off x="7163561" y="1882902"/>
              <a:ext cx="617220" cy="299085"/>
            </a:xfrm>
            <a:custGeom>
              <a:rect b="b" l="l" r="r" t="t"/>
              <a:pathLst>
                <a:path extrusionOk="0" h="299085" w="617220">
                  <a:moveTo>
                    <a:pt x="467868" y="0"/>
                  </a:moveTo>
                  <a:lnTo>
                    <a:pt x="467868" y="74675"/>
                  </a:lnTo>
                  <a:lnTo>
                    <a:pt x="0" y="74675"/>
                  </a:lnTo>
                  <a:lnTo>
                    <a:pt x="0" y="224027"/>
                  </a:lnTo>
                  <a:lnTo>
                    <a:pt x="467868" y="224027"/>
                  </a:lnTo>
                  <a:lnTo>
                    <a:pt x="467868" y="298703"/>
                  </a:lnTo>
                  <a:lnTo>
                    <a:pt x="617220" y="149351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7163561" y="1882902"/>
              <a:ext cx="617220" cy="299085"/>
            </a:xfrm>
            <a:custGeom>
              <a:rect b="b" l="l" r="r" t="t"/>
              <a:pathLst>
                <a:path extrusionOk="0" h="299085" w="617220">
                  <a:moveTo>
                    <a:pt x="0" y="74675"/>
                  </a:moveTo>
                  <a:lnTo>
                    <a:pt x="467868" y="74675"/>
                  </a:lnTo>
                  <a:lnTo>
                    <a:pt x="467868" y="0"/>
                  </a:lnTo>
                  <a:lnTo>
                    <a:pt x="617220" y="149351"/>
                  </a:lnTo>
                  <a:lnTo>
                    <a:pt x="467868" y="298703"/>
                  </a:lnTo>
                  <a:lnTo>
                    <a:pt x="467868" y="224027"/>
                  </a:lnTo>
                  <a:lnTo>
                    <a:pt x="0" y="224027"/>
                  </a:lnTo>
                  <a:lnTo>
                    <a:pt x="0" y="74675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535635" y="2168398"/>
            <a:ext cx="7141209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 of memory required to ensure  correct operation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1212900" y="290339"/>
            <a:ext cx="6250305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8575">
            <a:spAutoFit/>
          </a:bodyPr>
          <a:lstStyle/>
          <a:p>
            <a:pPr indent="0" lvl="0" marL="4686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Background</a:t>
            </a:r>
            <a:endParaRPr sz="4400"/>
          </a:p>
          <a:p>
            <a:pPr indent="0" lvl="0" marL="1270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Multiple processes resides in memory</a:t>
            </a:r>
            <a:endParaRPr sz="3200"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053803"/>
            <a:ext cx="3048000" cy="334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611835" y="3966717"/>
            <a:ext cx="231584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6059" lvl="0" marL="238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 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059" lvl="0" marL="238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 user processes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2050795" y="183642"/>
            <a:ext cx="49739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 and Limit Registers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40435" y="1221994"/>
            <a:ext cx="6824345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pair of </a:t>
            </a: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base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limit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 define  the logical address space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872" y="2597594"/>
            <a:ext cx="3601212" cy="395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1511935" y="648715"/>
            <a:ext cx="611378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Hardware Address Protection with Base and Limit Registers</a:t>
            </a:r>
            <a:endParaRPr sz="2000"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563" y="2157348"/>
            <a:ext cx="6679311" cy="291884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35635" y="5607202"/>
            <a:ext cx="30314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loads the base &amp; limit reg.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Privileged instruction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2734817" y="426212"/>
            <a:ext cx="3665854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Address Binding</a:t>
            </a:r>
            <a:endParaRPr sz="4400"/>
          </a:p>
        </p:txBody>
      </p:sp>
      <p:sp>
        <p:nvSpPr>
          <p:cNvPr id="144" name="Google Shape;144;p19"/>
          <p:cNvSpPr txBox="1"/>
          <p:nvPr/>
        </p:nvSpPr>
        <p:spPr>
          <a:xfrm>
            <a:off x="307035" y="1268095"/>
            <a:ext cx="8596630" cy="4777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resides in main memory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each data element with memory address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634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Further, addresses represented in different ways at  different stages of a program’s life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code addresses usually symbolic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Compiled code addresses </a:t>
            </a:r>
            <a:r>
              <a:rPr b="1" i="0" lang="en-US" sz="26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bind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relocatable addresses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“14 bytes from beginning of this module”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Linker or loader will bind relocatable addresses to absolute  addresses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74014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45995" lvl="0" marL="31756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Multistep Processing of a User  Program</a:t>
            </a:r>
            <a:endParaRPr/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7832" y="1187196"/>
            <a:ext cx="2686812" cy="498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90495" lvl="0" marL="27730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Binding of Instructions and Data to  Memory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307035" y="1582928"/>
            <a:ext cx="8348980" cy="466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-342900" lvl="0" marL="355600" marR="5080" rtl="0" algn="l">
              <a:lnSpc>
                <a:spcPct val="106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binding of instructions and data to memory  addresses can happen at three different stages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113664" rtl="0" algn="l">
              <a:lnSpc>
                <a:spcPct val="107692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 time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If memory location known a priori,  </a:t>
            </a:r>
            <a:r>
              <a:rPr b="1" i="0" lang="en-US" sz="26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absolute code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generated; must recompile code if  starting location changes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273050" rtl="0" algn="l">
              <a:lnSpc>
                <a:spcPct val="107692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time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Must generate </a:t>
            </a:r>
            <a:r>
              <a:rPr b="1" i="0" lang="en-US" sz="26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relocatable code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memory  location is not known at compile time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262255" rtl="0" algn="l">
              <a:lnSpc>
                <a:spcPct val="108076"/>
              </a:lnSpc>
              <a:spcBef>
                <a:spcPts val="58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time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If the process can be moved during its  execution from one memory segment to another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Binding delayed until run 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14545"/>
              </a:lnSpc>
              <a:spcBef>
                <a:spcPts val="36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hardware support for address maps (e.g., base and limit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570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1446402" y="183642"/>
            <a:ext cx="6902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vs. Physical Address Space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631037" y="1306195"/>
            <a:ext cx="68973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Logical address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generated by the CPU; also referred 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631037" y="1598803"/>
            <a:ext cx="2205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virtual address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173532" y="2330958"/>
            <a:ext cx="6925309" cy="403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Physical address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address seen by the memory unit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212090" rtl="0" algn="l">
              <a:lnSpc>
                <a:spcPct val="95925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and physical addresses are the same in  compile-time and load-time address-binding  schemes;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16383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(virtual) and physical addresses differ in  execution-time address-binding scheme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494665" rtl="0" algn="l">
              <a:lnSpc>
                <a:spcPct val="95925"/>
              </a:lnSpc>
              <a:spcBef>
                <a:spcPts val="685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Logical address space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all logical  addresses generated by a program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127635" rtl="0" algn="l">
              <a:lnSpc>
                <a:spcPct val="95925"/>
              </a:lnSpc>
              <a:spcBef>
                <a:spcPts val="610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Physical address space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set of all physical  addresses generated by a program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1752600"/>
            <a:ext cx="838200" cy="55930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6096761" y="1832610"/>
            <a:ext cx="960119" cy="588645"/>
          </a:xfrm>
          <a:prstGeom prst="rect">
            <a:avLst/>
          </a:pr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5400">
            <a:spAutoFit/>
          </a:bodyPr>
          <a:lstStyle/>
          <a:p>
            <a:pPr indent="0" lvl="0" marL="320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22"/>
          <p:cNvGrpSpPr/>
          <p:nvPr/>
        </p:nvGrpSpPr>
        <p:grpSpPr>
          <a:xfrm>
            <a:off x="7163561" y="1882902"/>
            <a:ext cx="617220" cy="299085"/>
            <a:chOff x="7163561" y="1882902"/>
            <a:chExt cx="617220" cy="299085"/>
          </a:xfrm>
        </p:grpSpPr>
        <p:sp>
          <p:nvSpPr>
            <p:cNvPr id="168" name="Google Shape;168;p22"/>
            <p:cNvSpPr/>
            <p:nvPr/>
          </p:nvSpPr>
          <p:spPr>
            <a:xfrm>
              <a:off x="7163561" y="1882902"/>
              <a:ext cx="617220" cy="299085"/>
            </a:xfrm>
            <a:custGeom>
              <a:rect b="b" l="l" r="r" t="t"/>
              <a:pathLst>
                <a:path extrusionOk="0" h="299085" w="617220">
                  <a:moveTo>
                    <a:pt x="467868" y="0"/>
                  </a:moveTo>
                  <a:lnTo>
                    <a:pt x="467868" y="74675"/>
                  </a:lnTo>
                  <a:lnTo>
                    <a:pt x="0" y="74675"/>
                  </a:lnTo>
                  <a:lnTo>
                    <a:pt x="0" y="224027"/>
                  </a:lnTo>
                  <a:lnTo>
                    <a:pt x="467868" y="224027"/>
                  </a:lnTo>
                  <a:lnTo>
                    <a:pt x="467868" y="298703"/>
                  </a:lnTo>
                  <a:lnTo>
                    <a:pt x="617220" y="149351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7163561" y="1882902"/>
              <a:ext cx="617220" cy="299085"/>
            </a:xfrm>
            <a:custGeom>
              <a:rect b="b" l="l" r="r" t="t"/>
              <a:pathLst>
                <a:path extrusionOk="0" h="299085" w="617220">
                  <a:moveTo>
                    <a:pt x="0" y="74675"/>
                  </a:moveTo>
                  <a:lnTo>
                    <a:pt x="467868" y="74675"/>
                  </a:lnTo>
                  <a:lnTo>
                    <a:pt x="467868" y="0"/>
                  </a:lnTo>
                  <a:lnTo>
                    <a:pt x="617220" y="149351"/>
                  </a:lnTo>
                  <a:lnTo>
                    <a:pt x="467868" y="298703"/>
                  </a:lnTo>
                  <a:lnTo>
                    <a:pt x="467868" y="224027"/>
                  </a:lnTo>
                  <a:lnTo>
                    <a:pt x="0" y="224027"/>
                  </a:lnTo>
                  <a:lnTo>
                    <a:pt x="0" y="74675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1373505" y="183642"/>
            <a:ext cx="677037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Memory-Management Unit (</a:t>
            </a:r>
            <a:r>
              <a:rPr lang="en-US" sz="2200"/>
              <a:t>MMU</a:t>
            </a:r>
            <a:r>
              <a:rPr lang="en-US"/>
              <a:t>)</a:t>
            </a:r>
            <a:endParaRPr sz="2200"/>
          </a:p>
        </p:txBody>
      </p:sp>
      <p:sp>
        <p:nvSpPr>
          <p:cNvPr id="175" name="Google Shape;175;p23"/>
          <p:cNvSpPr txBox="1"/>
          <p:nvPr/>
        </p:nvSpPr>
        <p:spPr>
          <a:xfrm>
            <a:off x="611835" y="1316228"/>
            <a:ext cx="7719059" cy="4847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device that at run time maps virtual to physical address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methods possible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</a:pPr>
            <a:r>
              <a:t/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461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start, consider simple scheme where the value in the 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relocation register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added to every address generated by a user  process at the time it is sent to memory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relocation register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MS-DOS on Intel 80x86 used 4 relocation registers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678180" rtl="0" algn="l">
              <a:lnSpc>
                <a:spcPct val="8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program deals with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addresses (0 to max); it  never sees the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addresses (R to R+max)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the logical address 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7750"/>
              </a:lnSpc>
              <a:spcBef>
                <a:spcPts val="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Execution-time binding occurs when reference is made to location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6285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memory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bound to physical addresses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285235" y="162305"/>
            <a:ext cx="347599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58165" lvl="0" marL="57023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Dynamic relocation using a  relocation register</a:t>
            </a:r>
            <a:endParaRPr sz="2500"/>
          </a:p>
        </p:txBody>
      </p:sp>
      <p:grpSp>
        <p:nvGrpSpPr>
          <p:cNvPr id="181" name="Google Shape;181;p24"/>
          <p:cNvGrpSpPr/>
          <p:nvPr/>
        </p:nvGrpSpPr>
        <p:grpSpPr>
          <a:xfrm>
            <a:off x="1816607" y="1475232"/>
            <a:ext cx="5955793" cy="3936491"/>
            <a:chOff x="1816607" y="1475232"/>
            <a:chExt cx="5955793" cy="3936491"/>
          </a:xfrm>
        </p:grpSpPr>
        <p:pic>
          <p:nvPicPr>
            <p:cNvPr id="182" name="Google Shape;18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607" y="1475232"/>
              <a:ext cx="5358384" cy="39364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4"/>
            <p:cNvSpPr/>
            <p:nvPr/>
          </p:nvSpPr>
          <p:spPr>
            <a:xfrm>
              <a:off x="6172961" y="1677162"/>
              <a:ext cx="762000" cy="1143000"/>
            </a:xfrm>
            <a:custGeom>
              <a:rect b="b" l="l" r="r" t="t"/>
              <a:pathLst>
                <a:path extrusionOk="0" h="1143000" w="762000">
                  <a:moveTo>
                    <a:pt x="761999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761999" y="1143000"/>
                  </a:lnTo>
                  <a:lnTo>
                    <a:pt x="761999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6172961" y="1677162"/>
              <a:ext cx="762000" cy="1143000"/>
            </a:xfrm>
            <a:custGeom>
              <a:rect b="b" l="l" r="r" t="t"/>
              <a:pathLst>
                <a:path extrusionOk="0" h="1143000" w="762000">
                  <a:moveTo>
                    <a:pt x="0" y="1143000"/>
                  </a:moveTo>
                  <a:lnTo>
                    <a:pt x="761999" y="1143000"/>
                  </a:lnTo>
                  <a:lnTo>
                    <a:pt x="761999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5410200" y="1624710"/>
              <a:ext cx="2362200" cy="657225"/>
            </a:xfrm>
            <a:custGeom>
              <a:rect b="b" l="l" r="r" t="t"/>
              <a:pathLst>
                <a:path extrusionOk="0" h="657225" w="2362200">
                  <a:moveTo>
                    <a:pt x="609600" y="51689"/>
                  </a:moveTo>
                  <a:lnTo>
                    <a:pt x="520954" y="0"/>
                  </a:lnTo>
                  <a:lnTo>
                    <a:pt x="517144" y="1016"/>
                  </a:lnTo>
                  <a:lnTo>
                    <a:pt x="513588" y="7112"/>
                  </a:lnTo>
                  <a:lnTo>
                    <a:pt x="514604" y="10922"/>
                  </a:lnTo>
                  <a:lnTo>
                    <a:pt x="573532" y="45339"/>
                  </a:lnTo>
                  <a:lnTo>
                    <a:pt x="0" y="45339"/>
                  </a:lnTo>
                  <a:lnTo>
                    <a:pt x="0" y="58039"/>
                  </a:lnTo>
                  <a:lnTo>
                    <a:pt x="573532" y="58039"/>
                  </a:lnTo>
                  <a:lnTo>
                    <a:pt x="514604" y="92456"/>
                  </a:lnTo>
                  <a:lnTo>
                    <a:pt x="513588" y="96266"/>
                  </a:lnTo>
                  <a:lnTo>
                    <a:pt x="517144" y="102362"/>
                  </a:lnTo>
                  <a:lnTo>
                    <a:pt x="520954" y="103378"/>
                  </a:lnTo>
                  <a:lnTo>
                    <a:pt x="609600" y="51689"/>
                  </a:lnTo>
                  <a:close/>
                </a:path>
                <a:path extrusionOk="0" h="657225" w="2362200">
                  <a:moveTo>
                    <a:pt x="2362200" y="623189"/>
                  </a:moveTo>
                  <a:lnTo>
                    <a:pt x="2284984" y="555625"/>
                  </a:lnTo>
                  <a:lnTo>
                    <a:pt x="2280920" y="556006"/>
                  </a:lnTo>
                  <a:lnTo>
                    <a:pt x="2276348" y="561213"/>
                  </a:lnTo>
                  <a:lnTo>
                    <a:pt x="2276602" y="565277"/>
                  </a:lnTo>
                  <a:lnTo>
                    <a:pt x="2327910" y="610108"/>
                  </a:lnTo>
                  <a:lnTo>
                    <a:pt x="1372743" y="426466"/>
                  </a:lnTo>
                  <a:lnTo>
                    <a:pt x="1370457" y="438912"/>
                  </a:lnTo>
                  <a:lnTo>
                    <a:pt x="2325624" y="622554"/>
                  </a:lnTo>
                  <a:lnTo>
                    <a:pt x="2261235" y="645287"/>
                  </a:lnTo>
                  <a:lnTo>
                    <a:pt x="2259457" y="648843"/>
                  </a:lnTo>
                  <a:lnTo>
                    <a:pt x="2261743" y="655447"/>
                  </a:lnTo>
                  <a:lnTo>
                    <a:pt x="2265426" y="657225"/>
                  </a:lnTo>
                  <a:lnTo>
                    <a:pt x="2362200" y="623189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24"/>
          <p:cNvSpPr txBox="1"/>
          <p:nvPr/>
        </p:nvSpPr>
        <p:spPr>
          <a:xfrm>
            <a:off x="7624318" y="2366009"/>
            <a:ext cx="108775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Relocatable 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4574794" y="1478407"/>
            <a:ext cx="6045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053803"/>
            <a:ext cx="3048000" cy="334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5"/>
          <p:cNvSpPr txBox="1"/>
          <p:nvPr/>
        </p:nvSpPr>
        <p:spPr>
          <a:xfrm>
            <a:off x="945286" y="1777949"/>
            <a:ext cx="624014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Multiple processes resides in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2681732" y="281127"/>
            <a:ext cx="406209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Contiguous Allocation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2510154" y="183642"/>
            <a:ext cx="451612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Contiguous Allocation</a:t>
            </a:r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535635" y="1360170"/>
            <a:ext cx="7346315" cy="3404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6311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memory usually divided into two  partitions: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Resident operating system, usually held in low 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processes then held in high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27559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contained in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contiguous  section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1774063" y="183642"/>
            <a:ext cx="603313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Contiguous Allocation (Cont.)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834339" y="1086044"/>
            <a:ext cx="7513320" cy="3072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Multiple-partition allocation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memory into several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size partition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partition stores one process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07692"/>
              </a:lnSpc>
              <a:spcBef>
                <a:spcPts val="74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multiprogramming limited by number of  partitions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partition is free, load process from job queue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MFT (IBM OS/360)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1774063" y="183642"/>
            <a:ext cx="603313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Contiguous Allocation (Cont.)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834339" y="1005027"/>
            <a:ext cx="7348220" cy="319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Multiple-partition allocation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partition scheme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615950" rtl="0" algn="l">
              <a:lnSpc>
                <a:spcPct val="110500"/>
              </a:lnSpc>
              <a:spcBef>
                <a:spcPts val="13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 – block of available memory; holes of various size are  scattered throughout memory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7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Keeps a table of free memory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8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arrives, it is allocated memory from a hole large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6285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enough to accommodate 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713740" rtl="0" algn="l">
              <a:lnSpc>
                <a:spcPct val="8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exiting frees its partition, adjacent free partitions  combined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2" marL="286385" marR="1689735" rtl="0" algn="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 maintains information about: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809" lvl="3" marL="257809" marR="1687195" rtl="0" algn="r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lphaLcParenR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allocated partitions	b) free partitions (hole)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8"/>
          <p:cNvGraphicFramePr/>
          <p:nvPr/>
        </p:nvGraphicFramePr>
        <p:xfrm>
          <a:off x="2048065" y="4364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43000"/>
              </a:tblGrid>
              <a:tr h="362700">
                <a:tc>
                  <a:txBody>
                    <a:bodyPr/>
                    <a:lstStyle/>
                    <a:p>
                      <a:pPr indent="0" lvl="0" marL="0" marR="7556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6032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74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6159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8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250">
                <a:tc>
                  <a:txBody>
                    <a:bodyPr/>
                    <a:lstStyle/>
                    <a:p>
                      <a:pPr indent="0" lvl="0" marL="0" marR="6159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8"/>
          <p:cNvGraphicFramePr/>
          <p:nvPr/>
        </p:nvGraphicFramePr>
        <p:xfrm>
          <a:off x="3876865" y="4364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43000"/>
              </a:tblGrid>
              <a:tr h="362700">
                <a:tc>
                  <a:txBody>
                    <a:bodyPr/>
                    <a:lstStyle/>
                    <a:p>
                      <a:pPr indent="0" lvl="0" marL="0" marR="717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300">
                <a:tc>
                  <a:txBody>
                    <a:bodyPr/>
                    <a:lstStyle/>
                    <a:p>
                      <a:pPr indent="0" lvl="0" marL="0" marR="590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74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5778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" name="Google Shape;215;p28"/>
          <p:cNvGraphicFramePr/>
          <p:nvPr/>
        </p:nvGraphicFramePr>
        <p:xfrm>
          <a:off x="5705665" y="4364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43000"/>
              </a:tblGrid>
              <a:tr h="362700">
                <a:tc>
                  <a:txBody>
                    <a:bodyPr/>
                    <a:lstStyle/>
                    <a:p>
                      <a:pPr indent="0" lvl="0" marL="0" marR="7112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590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74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325">
                <a:tc>
                  <a:txBody>
                    <a:bodyPr/>
                    <a:lstStyle/>
                    <a:p>
                      <a:pPr indent="0" lvl="0" marL="0" marR="5715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41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5715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28"/>
          <p:cNvGraphicFramePr/>
          <p:nvPr/>
        </p:nvGraphicFramePr>
        <p:xfrm>
          <a:off x="7534465" y="43645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43000"/>
              </a:tblGrid>
              <a:tr h="362700">
                <a:tc>
                  <a:txBody>
                    <a:bodyPr/>
                    <a:lstStyle/>
                    <a:p>
                      <a:pPr indent="0" lvl="0" marL="0" marR="7048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950">
                <a:tc>
                  <a:txBody>
                    <a:bodyPr/>
                    <a:lstStyle/>
                    <a:p>
                      <a:pPr indent="0" lvl="0" marL="0" marR="5524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74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600">
                <a:tc>
                  <a:txBody>
                    <a:bodyPr/>
                    <a:lstStyle/>
                    <a:p>
                      <a:pPr indent="0" lvl="0" marL="0" marR="5651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9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41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25">
                <a:tc>
                  <a:txBody>
                    <a:bodyPr/>
                    <a:lstStyle/>
                    <a:p>
                      <a:pPr indent="0" lvl="0" marL="0" marR="590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5651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8"/>
          <p:cNvSpPr/>
          <p:nvPr/>
        </p:nvSpPr>
        <p:spPr>
          <a:xfrm>
            <a:off x="3276600" y="5516879"/>
            <a:ext cx="533400" cy="228600"/>
          </a:xfrm>
          <a:custGeom>
            <a:rect b="b" l="l" r="r" t="t"/>
            <a:pathLst>
              <a:path extrusionOk="0" h="228600" w="5334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5105400" y="5516879"/>
            <a:ext cx="533400" cy="228600"/>
          </a:xfrm>
          <a:custGeom>
            <a:rect b="b" l="l" r="r" t="t"/>
            <a:pathLst>
              <a:path extrusionOk="0" h="228600" w="5334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6934200" y="5516879"/>
            <a:ext cx="533400" cy="228600"/>
          </a:xfrm>
          <a:custGeom>
            <a:rect b="b" l="l" r="r" t="t"/>
            <a:pathLst>
              <a:path extrusionOk="0" h="228600" w="533400">
                <a:moveTo>
                  <a:pt x="0" y="57150"/>
                </a:moveTo>
                <a:lnTo>
                  <a:pt x="400050" y="57150"/>
                </a:lnTo>
                <a:lnTo>
                  <a:pt x="400050" y="0"/>
                </a:lnTo>
                <a:lnTo>
                  <a:pt x="533400" y="114300"/>
                </a:lnTo>
                <a:lnTo>
                  <a:pt x="400050" y="228600"/>
                </a:lnTo>
                <a:lnTo>
                  <a:pt x="4000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381000" y="4343400"/>
            <a:ext cx="11430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6223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381000" y="4724400"/>
            <a:ext cx="1143000" cy="175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3840" marR="0" rtl="0" algn="l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1016609" y="183642"/>
            <a:ext cx="75457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Dynamic Storage-Allocation Problem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840435" y="1021206"/>
            <a:ext cx="7279005" cy="307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42303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satisfy a request of size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a list of free holes?  Dynamic storage allocation problem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26719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First-fit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Allocate the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 that is big enough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426719" marR="0" rtl="0" algn="l">
              <a:lnSpc>
                <a:spcPct val="108000"/>
              </a:lnSpc>
              <a:spcBef>
                <a:spcPts val="1525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Best-fit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Allocate the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smallest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 that is big enough; must search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26719" marR="0" rtl="0" algn="l">
              <a:lnSpc>
                <a:spcPct val="105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list, unless ordered by size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829310" marR="0" rtl="0" algn="l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the smallest leftover hole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426719" marR="0" rtl="0" algn="l">
              <a:lnSpc>
                <a:spcPct val="119000"/>
              </a:lnSpc>
              <a:spcBef>
                <a:spcPts val="159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Worst-fit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Allocate the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hole; must also search entire list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829310" marR="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the largest leftover hole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2777998" y="150367"/>
            <a:ext cx="424370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905510" lvl="0" marL="91757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Hardware Support for Relocation  and Limit Registers</a:t>
            </a:r>
            <a:endParaRPr sz="2500"/>
          </a:p>
        </p:txBody>
      </p:sp>
      <p:pic>
        <p:nvPicPr>
          <p:cNvPr id="233" name="Google Shape;2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6623" y="3919677"/>
            <a:ext cx="5141976" cy="252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154330" y="1344295"/>
            <a:ext cx="8487410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1314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Relocation registers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protect user processes from each other, and from changing  operating-system code and data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Relocation register contains value of smallest physical address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register contains range of logical addresses – each logical address must be less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 the limit register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switch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MMU maps logical address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dynamically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244723" y="183642"/>
            <a:ext cx="30416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Fragmentation</a:t>
            </a:r>
            <a:endParaRPr/>
          </a:p>
        </p:txBody>
      </p:sp>
      <p:sp>
        <p:nvSpPr>
          <p:cNvPr id="240" name="Google Shape;240;p31"/>
          <p:cNvSpPr txBox="1"/>
          <p:nvPr/>
        </p:nvSpPr>
        <p:spPr>
          <a:xfrm>
            <a:off x="307035" y="1162879"/>
            <a:ext cx="7897495" cy="4622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loaded and removed from memory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is broken into little pieces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3350"/>
              <a:buFont typeface="Arial"/>
              <a:buNone/>
            </a:pPr>
            <a:r>
              <a:t/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6333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External Fragmentation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total memory space  exists to satisfy a request, but it is not contiguous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</a:pPr>
            <a:r>
              <a:t/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77875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fit analysis reveals that given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  allocated, 0.5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 lost to fragmentation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1/3 may be unusable -&gt; </a:t>
            </a:r>
            <a:r>
              <a:rPr b="1" i="0" lang="en-US" sz="26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50-percent rule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type="title"/>
          </p:nvPr>
        </p:nvSpPr>
        <p:spPr>
          <a:xfrm>
            <a:off x="2051430" y="426212"/>
            <a:ext cx="503809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Fragmentation (Cont.)</a:t>
            </a:r>
            <a:endParaRPr sz="4400"/>
          </a:p>
        </p:txBody>
      </p:sp>
      <p:sp>
        <p:nvSpPr>
          <p:cNvPr id="246" name="Google Shape;246;p32"/>
          <p:cNvSpPr txBox="1"/>
          <p:nvPr/>
        </p:nvSpPr>
        <p:spPr>
          <a:xfrm>
            <a:off x="307035" y="1479378"/>
            <a:ext cx="8101330" cy="5034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external fragmentation by </a:t>
            </a: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compaction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652145" rtl="0" algn="l">
              <a:lnSpc>
                <a:spcPct val="107692"/>
              </a:lnSpc>
              <a:spcBef>
                <a:spcPts val="77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Shuffle memory contents to place all free memory  together in one large block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408940" rtl="0" algn="l">
              <a:lnSpc>
                <a:spcPct val="108076"/>
              </a:lnSpc>
              <a:spcBef>
                <a:spcPts val="58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Compaction is possible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relocation is dynamic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and is done at execution time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relocation reg.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Internal Fragmentation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allocated memory may  be slightly larger than requested memory; this size  difference is memory internal to a partition, but  not being used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680" y="1828800"/>
            <a:ext cx="6753639" cy="459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736085" y="303021"/>
            <a:ext cx="151955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Paging</a:t>
            </a:r>
            <a:endParaRPr sz="4400"/>
          </a:p>
        </p:txBody>
      </p:sp>
      <p:sp>
        <p:nvSpPr>
          <p:cNvPr id="257" name="Google Shape;257;p34"/>
          <p:cNvSpPr txBox="1"/>
          <p:nvPr/>
        </p:nvSpPr>
        <p:spPr>
          <a:xfrm>
            <a:off x="459435" y="1317497"/>
            <a:ext cx="7150734" cy="473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 space of a process can be noncontiguous;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allocates physical memory whenever the latter is available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physical memory into fixed-sized blocks called </a:t>
            </a: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is power of 2, between 512 bytes and 16 Mbytes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logical memory into blocks of same size called </a:t>
            </a: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8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run a program of size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pages, need to find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frames and load  program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Backing store likewise split into pages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up a </a:t>
            </a: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table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translate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to </a:t>
            </a: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physical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keeps track of all free frames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8401" y="3614728"/>
            <a:ext cx="986180" cy="1299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title"/>
          </p:nvPr>
        </p:nvSpPr>
        <p:spPr>
          <a:xfrm>
            <a:off x="1624711" y="318592"/>
            <a:ext cx="5867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Paging Model of Logical and Physical Memory</a:t>
            </a:r>
            <a:endParaRPr sz="2500"/>
          </a:p>
        </p:txBody>
      </p:sp>
      <p:grpSp>
        <p:nvGrpSpPr>
          <p:cNvPr id="264" name="Google Shape;264;p35"/>
          <p:cNvGrpSpPr/>
          <p:nvPr/>
        </p:nvGrpSpPr>
        <p:grpSpPr>
          <a:xfrm>
            <a:off x="1929383" y="1203960"/>
            <a:ext cx="4937760" cy="4611624"/>
            <a:chOff x="1929383" y="1203960"/>
            <a:chExt cx="4937760" cy="4611624"/>
          </a:xfrm>
        </p:grpSpPr>
        <p:pic>
          <p:nvPicPr>
            <p:cNvPr id="265" name="Google Shape;26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9383" y="1203960"/>
              <a:ext cx="4937760" cy="4611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35"/>
            <p:cNvSpPr/>
            <p:nvPr/>
          </p:nvSpPr>
          <p:spPr>
            <a:xfrm>
              <a:off x="2894838" y="1898649"/>
              <a:ext cx="2973070" cy="430530"/>
            </a:xfrm>
            <a:custGeom>
              <a:rect b="b" l="l" r="r" t="t"/>
              <a:pathLst>
                <a:path extrusionOk="0" h="430530" w="2973070">
                  <a:moveTo>
                    <a:pt x="1067562" y="139700"/>
                  </a:moveTo>
                  <a:lnTo>
                    <a:pt x="986028" y="77343"/>
                  </a:lnTo>
                  <a:lnTo>
                    <a:pt x="982091" y="77978"/>
                  </a:lnTo>
                  <a:lnTo>
                    <a:pt x="977773" y="83566"/>
                  </a:lnTo>
                  <a:lnTo>
                    <a:pt x="978408" y="87503"/>
                  </a:lnTo>
                  <a:lnTo>
                    <a:pt x="1032510" y="128905"/>
                  </a:lnTo>
                  <a:lnTo>
                    <a:pt x="1524" y="0"/>
                  </a:lnTo>
                  <a:lnTo>
                    <a:pt x="0" y="12700"/>
                  </a:lnTo>
                  <a:lnTo>
                    <a:pt x="1031113" y="141478"/>
                  </a:lnTo>
                  <a:lnTo>
                    <a:pt x="968248" y="168275"/>
                  </a:lnTo>
                  <a:lnTo>
                    <a:pt x="966724" y="172085"/>
                  </a:lnTo>
                  <a:lnTo>
                    <a:pt x="969518" y="178562"/>
                  </a:lnTo>
                  <a:lnTo>
                    <a:pt x="973201" y="179959"/>
                  </a:lnTo>
                  <a:lnTo>
                    <a:pt x="976503" y="178689"/>
                  </a:lnTo>
                  <a:lnTo>
                    <a:pt x="1067562" y="139700"/>
                  </a:lnTo>
                  <a:close/>
                </a:path>
                <a:path extrusionOk="0" h="430530" w="2973070">
                  <a:moveTo>
                    <a:pt x="2972562" y="387350"/>
                  </a:moveTo>
                  <a:lnTo>
                    <a:pt x="2889504" y="327025"/>
                  </a:lnTo>
                  <a:lnTo>
                    <a:pt x="2885567" y="327660"/>
                  </a:lnTo>
                  <a:lnTo>
                    <a:pt x="2881503" y="333375"/>
                  </a:lnTo>
                  <a:lnTo>
                    <a:pt x="2882138" y="337312"/>
                  </a:lnTo>
                  <a:lnTo>
                    <a:pt x="2937129" y="377317"/>
                  </a:lnTo>
                  <a:lnTo>
                    <a:pt x="1830197" y="266700"/>
                  </a:lnTo>
                  <a:lnTo>
                    <a:pt x="1828927" y="279400"/>
                  </a:lnTo>
                  <a:lnTo>
                    <a:pt x="2936113" y="390144"/>
                  </a:lnTo>
                  <a:lnTo>
                    <a:pt x="2874010" y="418465"/>
                  </a:lnTo>
                  <a:lnTo>
                    <a:pt x="2872613" y="422148"/>
                  </a:lnTo>
                  <a:lnTo>
                    <a:pt x="2875534" y="428625"/>
                  </a:lnTo>
                  <a:lnTo>
                    <a:pt x="2879217" y="430022"/>
                  </a:lnTo>
                  <a:lnTo>
                    <a:pt x="2972562" y="38735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35"/>
          <p:cNvSpPr txBox="1"/>
          <p:nvPr/>
        </p:nvSpPr>
        <p:spPr>
          <a:xfrm>
            <a:off x="1221739" y="4729098"/>
            <a:ext cx="376364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table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translate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1869185" y="183642"/>
            <a:ext cx="576897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 Translation Scheme</a:t>
            </a:r>
            <a:endParaRPr/>
          </a:p>
        </p:txBody>
      </p:sp>
      <p:sp>
        <p:nvSpPr>
          <p:cNvPr id="273" name="Google Shape;273;p36"/>
          <p:cNvSpPr txBox="1"/>
          <p:nvPr/>
        </p:nvSpPr>
        <p:spPr>
          <a:xfrm>
            <a:off x="840435" y="1316228"/>
            <a:ext cx="7484745" cy="1691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generated by CPU is divided into: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500"/>
              </a:lnSpc>
              <a:spcBef>
                <a:spcPts val="5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number (</a:t>
            </a:r>
            <a:r>
              <a:rPr b="1" i="1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used as an index into a 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table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1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contains base address of each page in physical memory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75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offset (</a:t>
            </a:r>
            <a:r>
              <a:rPr b="1" i="1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offset within a page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7058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combined with base address to define the physical memory address that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5700" marR="0" rtl="0" algn="l">
              <a:lnSpc>
                <a:spcPct val="107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sent to the memory unit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36"/>
          <p:cNvGraphicFramePr/>
          <p:nvPr/>
        </p:nvGraphicFramePr>
        <p:xfrm>
          <a:off x="2366581" y="39288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633850"/>
                <a:gridCol w="1470650"/>
              </a:tblGrid>
              <a:tr h="32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777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page number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65100" marR="0" rtl="0" algn="l">
                        <a:lnSpc>
                          <a:spcPct val="869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page offset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00">
                <a:tc>
                  <a:txBody>
                    <a:bodyPr/>
                    <a:lstStyle/>
                    <a:p>
                      <a:pPr indent="0" lvl="0" marL="0" marR="20002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2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20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5" name="Google Shape;275;p36"/>
          <p:cNvSpPr txBox="1"/>
          <p:nvPr/>
        </p:nvSpPr>
        <p:spPr>
          <a:xfrm>
            <a:off x="1260728" y="4704290"/>
            <a:ext cx="5605780" cy="782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875">
            <a:spAutoFit/>
          </a:bodyPr>
          <a:lstStyle/>
          <a:p>
            <a:pPr indent="0" lvl="0" marL="16116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i="1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- n	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given logical address space 2</a:t>
            </a:r>
            <a:r>
              <a:rPr b="1" baseline="30000" i="1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page size </a:t>
            </a: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aseline="30000"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36"/>
          <p:cNvGraphicFramePr/>
          <p:nvPr/>
        </p:nvGraphicFramePr>
        <p:xfrm>
          <a:off x="6450520" y="3021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762000"/>
              </a:tblGrid>
              <a:tr h="56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87C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7CB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87CB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87CB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7944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77" name="Google Shape;277;p36"/>
          <p:cNvGrpSpPr/>
          <p:nvPr/>
        </p:nvGrpSpPr>
        <p:grpSpPr>
          <a:xfrm>
            <a:off x="6120510" y="3048000"/>
            <a:ext cx="103377" cy="566800"/>
            <a:chOff x="6120510" y="3048000"/>
            <a:chExt cx="103377" cy="566800"/>
          </a:xfrm>
        </p:grpSpPr>
        <p:pic>
          <p:nvPicPr>
            <p:cNvPr id="278" name="Google Shape;278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20510" y="3518662"/>
              <a:ext cx="103377" cy="961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36"/>
            <p:cNvSpPr/>
            <p:nvPr/>
          </p:nvSpPr>
          <p:spPr>
            <a:xfrm>
              <a:off x="6165849" y="3048000"/>
              <a:ext cx="12700" cy="530860"/>
            </a:xfrm>
            <a:custGeom>
              <a:rect b="b" l="l" r="r" t="t"/>
              <a:pathLst>
                <a:path extrusionOk="0" h="530860" w="12700">
                  <a:moveTo>
                    <a:pt x="0" y="530860"/>
                  </a:moveTo>
                  <a:lnTo>
                    <a:pt x="12700" y="53086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53086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36"/>
          <p:cNvSpPr txBox="1"/>
          <p:nvPr/>
        </p:nvSpPr>
        <p:spPr>
          <a:xfrm>
            <a:off x="5478271" y="3204464"/>
            <a:ext cx="5568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7548118" y="3389198"/>
            <a:ext cx="47625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type="title"/>
          </p:nvPr>
        </p:nvSpPr>
        <p:spPr>
          <a:xfrm>
            <a:off x="2961258" y="183642"/>
            <a:ext cx="350012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 Hardware</a:t>
            </a:r>
            <a:endParaRPr/>
          </a:p>
        </p:txBody>
      </p:sp>
      <p:pic>
        <p:nvPicPr>
          <p:cNvPr id="287" name="Google Shape;2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5483" y="914400"/>
            <a:ext cx="6772656" cy="404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/>
          <p:nvPr>
            <p:ph type="title"/>
          </p:nvPr>
        </p:nvSpPr>
        <p:spPr>
          <a:xfrm>
            <a:off x="2904870" y="151637"/>
            <a:ext cx="32283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 Example</a:t>
            </a:r>
            <a:endParaRPr/>
          </a:p>
        </p:txBody>
      </p:sp>
      <p:sp>
        <p:nvSpPr>
          <p:cNvPr id="293" name="Google Shape;293;p38"/>
          <p:cNvSpPr txBox="1"/>
          <p:nvPr/>
        </p:nvSpPr>
        <p:spPr>
          <a:xfrm>
            <a:off x="383235" y="5960465"/>
            <a:ext cx="266192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=2 and </a:t>
            </a: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=4	32-byte  memory and 4-byte pages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8588" y="1271028"/>
            <a:ext cx="3715385" cy="46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8"/>
          <p:cNvSpPr txBox="1"/>
          <p:nvPr/>
        </p:nvSpPr>
        <p:spPr>
          <a:xfrm>
            <a:off x="307035" y="1273555"/>
            <a:ext cx="1920239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= 16  Page size=4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memory=32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2136139" y="3814013"/>
            <a:ext cx="106616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User’s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6786118" y="822452"/>
            <a:ext cx="158051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0  (0*4+0)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address:  (5*4+0)=20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6786118" y="2194382"/>
            <a:ext cx="158559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(0*4+3)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2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address:  (5*4+0)=23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6786118" y="3566541"/>
            <a:ext cx="158051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4  (1*4+0)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address:  (6*4+0)=24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6786118" y="4938776"/>
            <a:ext cx="170243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13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(3*4+1)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39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address:  (2*4+1)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383235" y="4740655"/>
            <a:ext cx="23749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time address binding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812285" y="426212"/>
            <a:ext cx="152019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Paging</a:t>
            </a:r>
            <a:endParaRPr sz="4400"/>
          </a:p>
        </p:txBody>
      </p:sp>
      <p:sp>
        <p:nvSpPr>
          <p:cNvPr id="307" name="Google Shape;307;p39"/>
          <p:cNvSpPr txBox="1"/>
          <p:nvPr/>
        </p:nvSpPr>
        <p:spPr>
          <a:xfrm>
            <a:off x="535635" y="1372361"/>
            <a:ext cx="8108950" cy="5233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 fragmentation??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internal fragmentation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2,048 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size = 72,766 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 pages + 1,086 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fragmentation of 2,048 - 1,086 = 962 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97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small frame sizes desirable?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increases the page table size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Poor disk I/O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sizes growing over time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1894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Solaris supports two page sizes – 8 KB and 4 MB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9799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User’s view and physical memory now very different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1" marL="286385" marR="5080" rtl="0" algn="r">
              <a:lnSpc>
                <a:spcPct val="1193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view=&gt; process contains in single contiguous memory space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11430" rtl="0" algn="r">
              <a:lnSpc>
                <a:spcPct val="11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implementation process can only access its own memory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 txBox="1"/>
          <p:nvPr/>
        </p:nvSpPr>
        <p:spPr>
          <a:xfrm>
            <a:off x="510540" y="1482445"/>
            <a:ext cx="7491095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page table entry 4 bytes (32 bits) long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810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can point to 2</a:t>
            </a:r>
            <a:r>
              <a:rPr baseline="30000" lang="en-US" sz="3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frames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810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each frame is 4 KB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81000" marR="10033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can address 2</a:t>
            </a:r>
            <a:r>
              <a:rPr baseline="30000" lang="en-US" sz="3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 (16TB) of  physical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1069339" y="5033848"/>
            <a:ext cx="264350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address space 16MB.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size?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/>
        </p:nvSpPr>
        <p:spPr>
          <a:xfrm>
            <a:off x="535635" y="1482445"/>
            <a:ext cx="6591300" cy="2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P1 arrives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n pages =&gt; n frames must be  available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n frames to the process P1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page table for P1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67633" y="426212"/>
            <a:ext cx="280098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Free Frames</a:t>
            </a:r>
            <a:endParaRPr sz="4400"/>
          </a:p>
        </p:txBody>
      </p:sp>
      <p:sp>
        <p:nvSpPr>
          <p:cNvPr id="324" name="Google Shape;324;p42"/>
          <p:cNvSpPr txBox="1"/>
          <p:nvPr/>
        </p:nvSpPr>
        <p:spPr>
          <a:xfrm>
            <a:off x="5433186" y="5988507"/>
            <a:ext cx="1524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allocation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047" y="1360932"/>
            <a:ext cx="6202680" cy="445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2"/>
          <p:cNvSpPr txBox="1"/>
          <p:nvPr/>
        </p:nvSpPr>
        <p:spPr>
          <a:xfrm>
            <a:off x="2018538" y="5532526"/>
            <a:ext cx="1824989" cy="7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allocation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688035" y="764794"/>
            <a:ext cx="11398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2"/>
          <p:cNvSpPr txBox="1"/>
          <p:nvPr/>
        </p:nvSpPr>
        <p:spPr>
          <a:xfrm>
            <a:off x="7262876" y="5643473"/>
            <a:ext cx="4762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459435" y="4424298"/>
            <a:ext cx="96646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Use’s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7852918" y="4576698"/>
            <a:ext cx="1274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System’s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 txBox="1"/>
          <p:nvPr>
            <p:ph type="title"/>
          </p:nvPr>
        </p:nvSpPr>
        <p:spPr>
          <a:xfrm>
            <a:off x="1172057" y="426212"/>
            <a:ext cx="679704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Implementation of Page Table</a:t>
            </a:r>
            <a:endParaRPr sz="4400"/>
          </a:p>
        </p:txBody>
      </p:sp>
      <p:sp>
        <p:nvSpPr>
          <p:cNvPr id="336" name="Google Shape;336;p43"/>
          <p:cNvSpPr txBox="1"/>
          <p:nvPr/>
        </p:nvSpPr>
        <p:spPr>
          <a:xfrm>
            <a:off x="535635" y="1174876"/>
            <a:ext cx="8284845" cy="5121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process, Page table is kept in main memory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Page-table base register (PTBR)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points to the page table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58165" rtl="0" algn="l">
              <a:lnSpc>
                <a:spcPct val="107037"/>
              </a:lnSpc>
              <a:spcBef>
                <a:spcPts val="1645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Page-table length register (PTLR)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size of the  page table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7777"/>
              </a:lnSpc>
              <a:spcBef>
                <a:spcPts val="159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scheme every data/instruction access requires two  memory accesses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for the page table and one for the data / instruction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431800" rtl="0" algn="l">
              <a:lnSpc>
                <a:spcPct val="90000"/>
              </a:lnSpc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memory access problem can be solved by the  use of a special fast-lookup hardware cache called  </a:t>
            </a: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associative memory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translation look-aside buffers  (TLBs)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>
            <p:ph type="title"/>
          </p:nvPr>
        </p:nvSpPr>
        <p:spPr>
          <a:xfrm>
            <a:off x="2272410" y="426212"/>
            <a:ext cx="458724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Associative memory</a:t>
            </a:r>
            <a:endParaRPr sz="4400"/>
          </a:p>
        </p:txBody>
      </p:sp>
      <p:pic>
        <p:nvPicPr>
          <p:cNvPr id="342" name="Google Shape;34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864" y="2133600"/>
            <a:ext cx="4401311" cy="3867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type="title"/>
          </p:nvPr>
        </p:nvSpPr>
        <p:spPr>
          <a:xfrm>
            <a:off x="2257170" y="426212"/>
            <a:ext cx="461899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Associative Memory</a:t>
            </a:r>
            <a:endParaRPr sz="4400"/>
          </a:p>
        </p:txBody>
      </p:sp>
      <p:sp>
        <p:nvSpPr>
          <p:cNvPr id="348" name="Google Shape;348;p45"/>
          <p:cNvSpPr txBox="1"/>
          <p:nvPr/>
        </p:nvSpPr>
        <p:spPr>
          <a:xfrm>
            <a:off x="840435" y="1221994"/>
            <a:ext cx="547370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 memory – parallel search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840435" y="4515739"/>
            <a:ext cx="6820534" cy="11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translation (p, d)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 is in associative register, get frame # out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 get frame # from page table in memory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0" name="Google Shape;350;p45"/>
          <p:cNvGraphicFramePr/>
          <p:nvPr/>
        </p:nvGraphicFramePr>
        <p:xfrm>
          <a:off x="3050857" y="16474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447800"/>
                <a:gridCol w="1447800"/>
              </a:tblGrid>
              <a:tr h="457200">
                <a:tc>
                  <a:txBody>
                    <a:bodyPr/>
                    <a:lstStyle/>
                    <a:p>
                      <a:pPr indent="0" lvl="0" marL="396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Page #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175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20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Frame #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1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"/>
          <p:cNvSpPr txBox="1"/>
          <p:nvPr>
            <p:ph type="title"/>
          </p:nvPr>
        </p:nvSpPr>
        <p:spPr>
          <a:xfrm>
            <a:off x="1172057" y="426212"/>
            <a:ext cx="679704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Implementation of Page Table</a:t>
            </a:r>
            <a:endParaRPr sz="4400"/>
          </a:p>
        </p:txBody>
      </p:sp>
      <p:sp>
        <p:nvSpPr>
          <p:cNvPr id="356" name="Google Shape;356;p46"/>
          <p:cNvSpPr txBox="1"/>
          <p:nvPr/>
        </p:nvSpPr>
        <p:spPr>
          <a:xfrm>
            <a:off x="535635" y="1268095"/>
            <a:ext cx="8020050" cy="4938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process, Page table is kept in main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3366FF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Page-table base register (PTBR)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points to the page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3366FF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Page-table length register (PTLR)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size of the page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scheme every data/instruction access requires two memory accesses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for the page table and one for the data / instruction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two memory access problem can be solved by the use of a special fast-lookup  hardware cache called </a:t>
            </a: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associative memory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translation look-aside buffers (TLBs)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Calibri"/>
              <a:buNone/>
            </a:pPr>
            <a:r>
              <a:t/>
            </a:r>
            <a:endParaRPr sz="2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TLBs typically small (64 to 1,024 entries)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TLB miss, value is loaded into the TLB for faster access next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Replacement policies must be considered (LRU)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entries can be </a:t>
            </a:r>
            <a:r>
              <a:rPr b="1" i="0" lang="en-US" sz="15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wired down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permanent fast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8055"/>
              </a:lnSpc>
              <a:spcBef>
                <a:spcPts val="15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TLBs store </a:t>
            </a:r>
            <a:r>
              <a:rPr b="1" lang="en-US" sz="1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address-space identifiers (ASIDs)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 TLB entry – uniquely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each process (PID) to provide address-space protection for that process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2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 need to flush at every context switch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1548511" y="426212"/>
            <a:ext cx="60363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Paging Hardware With TLB</a:t>
            </a:r>
            <a:endParaRPr sz="4400"/>
          </a:p>
        </p:txBody>
      </p:sp>
      <p:pic>
        <p:nvPicPr>
          <p:cNvPr id="362" name="Google Shape;3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508" y="1362455"/>
            <a:ext cx="6100571" cy="461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2147442" y="426212"/>
            <a:ext cx="483679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Effective Access Time</a:t>
            </a:r>
            <a:endParaRPr sz="4400"/>
          </a:p>
        </p:txBody>
      </p:sp>
      <p:sp>
        <p:nvSpPr>
          <p:cNvPr id="368" name="Google Shape;368;p48"/>
          <p:cNvSpPr txBox="1"/>
          <p:nvPr/>
        </p:nvSpPr>
        <p:spPr>
          <a:xfrm>
            <a:off x="688035" y="1216913"/>
            <a:ext cx="7583170" cy="4720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Associative Lookup =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unit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&lt; 10% of memory access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8750"/>
              </a:lnSpc>
              <a:spcBef>
                <a:spcPts val="176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 ratio =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87019" lvl="1" marL="756285" marR="760095" rtl="0" algn="l">
              <a:lnSpc>
                <a:spcPct val="7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 ratio – percentage of times that a page number is found in the  associative registers; ratio related to size of TLB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80%,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20ns for TLB search, 100ns for memory access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7999"/>
              </a:lnSpc>
              <a:spcBef>
                <a:spcPts val="1775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Effective Access Time (EAT)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07772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 = (100 +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(200 +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)(1 –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9415" lvl="0" marL="411480" marR="0" rtl="0" algn="l">
              <a:lnSpc>
                <a:spcPct val="11875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80%,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20ns for TLB search, 100ns for memory access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 = 0.80 x 120 + 0.20 x 220 = 140ns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8250"/>
              </a:lnSpc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better hit ratio -&gt;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98%,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20ns for TLB search, 100ns for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access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 = 0.98 x 120 + 0.02 x 220 = 122ns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type="title"/>
          </p:nvPr>
        </p:nvSpPr>
        <p:spPr>
          <a:xfrm>
            <a:off x="2334895" y="426212"/>
            <a:ext cx="446849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Memory Protection</a:t>
            </a:r>
            <a:endParaRPr sz="4400"/>
          </a:p>
        </p:txBody>
      </p:sp>
      <p:sp>
        <p:nvSpPr>
          <p:cNvPr id="374" name="Google Shape;374;p49"/>
          <p:cNvSpPr txBox="1"/>
          <p:nvPr/>
        </p:nvSpPr>
        <p:spPr>
          <a:xfrm>
            <a:off x="840435" y="1321765"/>
            <a:ext cx="7482840" cy="3818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42900" lvl="0" marL="355600" marR="42545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protection implemented by associating protection bit  with each frame to indicate if read-only or read-write access is  allowed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just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add more bits to indicate page execute-only, and so 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890"/>
              </a:spcBef>
              <a:spcAft>
                <a:spcPts val="0"/>
              </a:spcAft>
              <a:buClr>
                <a:srgbClr val="3366FF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Valid-invalid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attached to each entry in the page table: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96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“valid” indicates that the associated page is in the process’ logical  address space, and is thus a legal page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3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“invalid” indicates that the page is not in the process’ logical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6285" marR="0" rtl="0" algn="l">
              <a:lnSpc>
                <a:spcPct val="11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space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use PTLR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violations result in a trap to the kernel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3375405" y="18034"/>
            <a:ext cx="264414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37160" lvl="0" marL="14986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Valid (v) or Invalid (i)  Bit In A Page Table</a:t>
            </a:r>
            <a:endParaRPr sz="2500"/>
          </a:p>
        </p:txBody>
      </p:sp>
      <p:pic>
        <p:nvPicPr>
          <p:cNvPr id="380" name="Google Shape;38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860" y="1341119"/>
            <a:ext cx="5504688" cy="477926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0"/>
          <p:cNvSpPr txBox="1"/>
          <p:nvPr/>
        </p:nvSpPr>
        <p:spPr>
          <a:xfrm>
            <a:off x="840435" y="1069975"/>
            <a:ext cx="3087370" cy="912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bit address space (0 to 16383)  Page size 2KB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P1 uses only 0 to 10468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50"/>
          <p:cNvGrpSpPr/>
          <p:nvPr/>
        </p:nvGrpSpPr>
        <p:grpSpPr>
          <a:xfrm>
            <a:off x="1139431" y="4876800"/>
            <a:ext cx="787794" cy="538734"/>
            <a:chOff x="1139431" y="4876800"/>
            <a:chExt cx="787794" cy="538734"/>
          </a:xfrm>
        </p:grpSpPr>
        <p:sp>
          <p:nvSpPr>
            <p:cNvPr id="383" name="Google Shape;383;p50"/>
            <p:cNvSpPr/>
            <p:nvPr/>
          </p:nvSpPr>
          <p:spPr>
            <a:xfrm>
              <a:off x="1139431" y="4891024"/>
              <a:ext cx="767080" cy="524510"/>
            </a:xfrm>
            <a:custGeom>
              <a:rect b="b" l="l" r="r" t="t"/>
              <a:pathLst>
                <a:path extrusionOk="0" h="524510" w="767080">
                  <a:moveTo>
                    <a:pt x="766965" y="0"/>
                  </a:moveTo>
                  <a:lnTo>
                    <a:pt x="754265" y="888"/>
                  </a:lnTo>
                  <a:lnTo>
                    <a:pt x="0" y="513969"/>
                  </a:lnTo>
                  <a:lnTo>
                    <a:pt x="7137" y="524382"/>
                  </a:lnTo>
                  <a:lnTo>
                    <a:pt x="761504" y="11302"/>
                  </a:lnTo>
                  <a:lnTo>
                    <a:pt x="766965" y="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4" name="Google Shape;38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2196" y="4876800"/>
              <a:ext cx="105029" cy="93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5" name="Google Shape;385;p50"/>
          <p:cNvSpPr txBox="1"/>
          <p:nvPr/>
        </p:nvSpPr>
        <p:spPr>
          <a:xfrm>
            <a:off x="383235" y="5567273"/>
            <a:ext cx="21012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fragmentation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0"/>
          <p:cNvSpPr txBox="1"/>
          <p:nvPr/>
        </p:nvSpPr>
        <p:spPr>
          <a:xfrm>
            <a:off x="3355975" y="5567273"/>
            <a:ext cx="18827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PTLR (length)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7" name="Google Shape;387;p50"/>
          <p:cNvGraphicFramePr/>
          <p:nvPr/>
        </p:nvGraphicFramePr>
        <p:xfrm>
          <a:off x="368300" y="22377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838200"/>
              </a:tblGrid>
              <a:tr h="3708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2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 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50"/>
          <p:cNvSpPr txBox="1"/>
          <p:nvPr/>
        </p:nvSpPr>
        <p:spPr>
          <a:xfrm>
            <a:off x="2822575" y="2213609"/>
            <a:ext cx="255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0"/>
          <p:cNvSpPr txBox="1"/>
          <p:nvPr/>
        </p:nvSpPr>
        <p:spPr>
          <a:xfrm>
            <a:off x="230530" y="1863978"/>
            <a:ext cx="25590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/>
          <p:nvPr/>
        </p:nvSpPr>
        <p:spPr>
          <a:xfrm>
            <a:off x="535635" y="1519173"/>
            <a:ext cx="7621905" cy="426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with 40 users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common text editor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editor contains 150KB code 50KB data (page size 50KB)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8000KB!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Shared code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13970" rtl="0" algn="l">
              <a:lnSpc>
                <a:spcPct val="108333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copy of read-only (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reentrant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code shared among  processes (i.e., text editors, compilers, window systems)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never changes during execution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one copy of the editor in the memory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memory consumption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40*50+150=2150KB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1"/>
          <p:cNvSpPr txBox="1"/>
          <p:nvPr>
            <p:ph type="title"/>
          </p:nvPr>
        </p:nvSpPr>
        <p:spPr>
          <a:xfrm>
            <a:off x="2031619" y="426212"/>
            <a:ext cx="50711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Shared Pages Example</a:t>
            </a:r>
            <a:endParaRPr sz="4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/>
          <p:nvPr>
            <p:ph type="title"/>
          </p:nvPr>
        </p:nvSpPr>
        <p:spPr>
          <a:xfrm>
            <a:off x="2528697" y="183642"/>
            <a:ext cx="459549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Shared Pages Example</a:t>
            </a:r>
            <a:endParaRPr/>
          </a:p>
        </p:txBody>
      </p:sp>
      <p:pic>
        <p:nvPicPr>
          <p:cNvPr id="401" name="Google Shape;40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010411"/>
            <a:ext cx="5221224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3"/>
          <p:cNvSpPr txBox="1"/>
          <p:nvPr>
            <p:ph type="title"/>
          </p:nvPr>
        </p:nvSpPr>
        <p:spPr>
          <a:xfrm>
            <a:off x="2246502" y="426212"/>
            <a:ext cx="464312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Data share: example</a:t>
            </a:r>
            <a:endParaRPr sz="4400"/>
          </a:p>
        </p:txBody>
      </p:sp>
      <p:sp>
        <p:nvSpPr>
          <p:cNvPr id="407" name="Google Shape;407;p53"/>
          <p:cNvSpPr/>
          <p:nvPr/>
        </p:nvSpPr>
        <p:spPr>
          <a:xfrm>
            <a:off x="152400" y="1905000"/>
            <a:ext cx="3962400" cy="2677795"/>
          </a:xfrm>
          <a:custGeom>
            <a:rect b="b" l="l" r="r" t="t"/>
            <a:pathLst>
              <a:path extrusionOk="0" h="2677795" w="3962400">
                <a:moveTo>
                  <a:pt x="0" y="2677668"/>
                </a:moveTo>
                <a:lnTo>
                  <a:pt x="3962400" y="2677668"/>
                </a:lnTo>
                <a:lnTo>
                  <a:pt x="3962400" y="0"/>
                </a:lnTo>
                <a:lnTo>
                  <a:pt x="0" y="0"/>
                </a:lnTo>
                <a:lnTo>
                  <a:pt x="0" y="2677668"/>
                </a:lnTo>
                <a:close/>
              </a:path>
            </a:pathLst>
          </a:custGeom>
          <a:noFill/>
          <a:ln cap="flat" cmpd="sng" w="9525">
            <a:solidFill>
              <a:srgbClr val="385D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3"/>
          <p:cNvSpPr txBox="1"/>
          <p:nvPr/>
        </p:nvSpPr>
        <p:spPr>
          <a:xfrm>
            <a:off x="230530" y="1920621"/>
            <a:ext cx="61912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3"/>
          <p:cNvSpPr txBox="1"/>
          <p:nvPr/>
        </p:nvSpPr>
        <p:spPr>
          <a:xfrm>
            <a:off x="509727" y="2469641"/>
            <a:ext cx="13957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shmid,f,key=3,i,pid;  char *ptr;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3"/>
          <p:cNvSpPr txBox="1"/>
          <p:nvPr/>
        </p:nvSpPr>
        <p:spPr>
          <a:xfrm>
            <a:off x="474675" y="3018282"/>
            <a:ext cx="3021965" cy="940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62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shmid=shmget((key_t)key,100,IPC_CREAT|0666);  ptr=shmat(shmid,NULL,0);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7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printf("shmid=%d ptr=%u\n",shmid, ptr);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7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strcpy(ptr,"hello");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i=shmdt((char*)ptr);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3"/>
          <p:cNvSpPr txBox="1"/>
          <p:nvPr/>
        </p:nvSpPr>
        <p:spPr>
          <a:xfrm>
            <a:off x="230530" y="4116070"/>
            <a:ext cx="736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3"/>
          <p:cNvSpPr/>
          <p:nvPr/>
        </p:nvSpPr>
        <p:spPr>
          <a:xfrm>
            <a:off x="4572000" y="2133600"/>
            <a:ext cx="3657600" cy="2400300"/>
          </a:xfrm>
          <a:custGeom>
            <a:rect b="b" l="l" r="r" t="t"/>
            <a:pathLst>
              <a:path extrusionOk="0" h="2400300" w="3657600">
                <a:moveTo>
                  <a:pt x="0" y="2400300"/>
                </a:moveTo>
                <a:lnTo>
                  <a:pt x="3657600" y="2400300"/>
                </a:lnTo>
                <a:lnTo>
                  <a:pt x="3657600" y="0"/>
                </a:lnTo>
                <a:lnTo>
                  <a:pt x="0" y="0"/>
                </a:lnTo>
                <a:lnTo>
                  <a:pt x="0" y="2400300"/>
                </a:lnTo>
                <a:close/>
              </a:path>
            </a:pathLst>
          </a:custGeom>
          <a:noFill/>
          <a:ln cap="flat" cmpd="sng" w="9525">
            <a:solidFill>
              <a:srgbClr val="385D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3"/>
          <p:cNvSpPr txBox="1"/>
          <p:nvPr/>
        </p:nvSpPr>
        <p:spPr>
          <a:xfrm>
            <a:off x="4651628" y="2149602"/>
            <a:ext cx="61785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3"/>
          <p:cNvSpPr txBox="1"/>
          <p:nvPr/>
        </p:nvSpPr>
        <p:spPr>
          <a:xfrm>
            <a:off x="4930902" y="2698241"/>
            <a:ext cx="139573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shmid,f,key=3,i,pid;  char *ptr;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3"/>
          <p:cNvSpPr txBox="1"/>
          <p:nvPr/>
        </p:nvSpPr>
        <p:spPr>
          <a:xfrm>
            <a:off x="4930902" y="3247135"/>
            <a:ext cx="298704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shmid=shmget((key_t)key,100,IPC_CREAT|0666);  ptr=shmat(shmid,NULL,0);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printf("shmid=%d ptr=%u\n",shmid, ptr);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printf("\nstr %s\n",ptr);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3"/>
          <p:cNvSpPr txBox="1"/>
          <p:nvPr/>
        </p:nvSpPr>
        <p:spPr>
          <a:xfrm>
            <a:off x="4651628" y="3978909"/>
            <a:ext cx="736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688035" y="1527175"/>
            <a:ext cx="6896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writer.c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3"/>
          <p:cNvSpPr txBox="1"/>
          <p:nvPr/>
        </p:nvSpPr>
        <p:spPr>
          <a:xfrm>
            <a:off x="5566409" y="1691385"/>
            <a:ext cx="8356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.c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3"/>
          <p:cNvSpPr/>
          <p:nvPr/>
        </p:nvSpPr>
        <p:spPr>
          <a:xfrm>
            <a:off x="2972561" y="5106161"/>
            <a:ext cx="2514600" cy="1066800"/>
          </a:xfrm>
          <a:custGeom>
            <a:rect b="b" l="l" r="r" t="t"/>
            <a:pathLst>
              <a:path extrusionOk="0" h="1066800" w="2514600">
                <a:moveTo>
                  <a:pt x="0" y="1066800"/>
                </a:moveTo>
                <a:lnTo>
                  <a:pt x="2514600" y="1066800"/>
                </a:lnTo>
                <a:lnTo>
                  <a:pt x="2514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3"/>
          <p:cNvSpPr txBox="1"/>
          <p:nvPr/>
        </p:nvSpPr>
        <p:spPr>
          <a:xfrm>
            <a:off x="3429761" y="5334761"/>
            <a:ext cx="457200" cy="368935"/>
          </a:xfrm>
          <a:prstGeom prst="rect">
            <a:avLst/>
          </a:prstGeom>
          <a:noFill/>
          <a:ln cap="flat" cmpd="sng" w="25900">
            <a:solidFill>
              <a:srgbClr val="385D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3"/>
          <p:cNvSpPr/>
          <p:nvPr/>
        </p:nvSpPr>
        <p:spPr>
          <a:xfrm>
            <a:off x="1062977" y="3728719"/>
            <a:ext cx="5109845" cy="1795780"/>
          </a:xfrm>
          <a:custGeom>
            <a:rect b="b" l="l" r="r" t="t"/>
            <a:pathLst>
              <a:path extrusionOk="0" h="1795779" w="5109845">
                <a:moveTo>
                  <a:pt x="2366022" y="1789938"/>
                </a:moveTo>
                <a:lnTo>
                  <a:pt x="2326525" y="1695323"/>
                </a:lnTo>
                <a:lnTo>
                  <a:pt x="2322715" y="1693799"/>
                </a:lnTo>
                <a:lnTo>
                  <a:pt x="2316365" y="1696466"/>
                </a:lnTo>
                <a:lnTo>
                  <a:pt x="2314841" y="1700149"/>
                </a:lnTo>
                <a:lnTo>
                  <a:pt x="2341003" y="1763141"/>
                </a:lnTo>
                <a:lnTo>
                  <a:pt x="7645" y="0"/>
                </a:lnTo>
                <a:lnTo>
                  <a:pt x="0" y="10160"/>
                </a:lnTo>
                <a:lnTo>
                  <a:pt x="2333256" y="1773301"/>
                </a:lnTo>
                <a:lnTo>
                  <a:pt x="2265692" y="1765173"/>
                </a:lnTo>
                <a:lnTo>
                  <a:pt x="2262517" y="1767713"/>
                </a:lnTo>
                <a:lnTo>
                  <a:pt x="2261616" y="1774571"/>
                </a:lnTo>
                <a:lnTo>
                  <a:pt x="2264168" y="1777746"/>
                </a:lnTo>
                <a:lnTo>
                  <a:pt x="2366022" y="1789938"/>
                </a:lnTo>
                <a:close/>
              </a:path>
              <a:path extrusionOk="0" h="1795779" w="5109845">
                <a:moveTo>
                  <a:pt x="5109222" y="309880"/>
                </a:moveTo>
                <a:lnTo>
                  <a:pt x="5006733" y="314579"/>
                </a:lnTo>
                <a:lnTo>
                  <a:pt x="5004066" y="317627"/>
                </a:lnTo>
                <a:lnTo>
                  <a:pt x="5004320" y="324612"/>
                </a:lnTo>
                <a:lnTo>
                  <a:pt x="5007368" y="327279"/>
                </a:lnTo>
                <a:lnTo>
                  <a:pt x="5075567" y="324104"/>
                </a:lnTo>
                <a:lnTo>
                  <a:pt x="2819793" y="1784604"/>
                </a:lnTo>
                <a:lnTo>
                  <a:pt x="2826651" y="1795272"/>
                </a:lnTo>
                <a:lnTo>
                  <a:pt x="5082298" y="334899"/>
                </a:lnTo>
                <a:lnTo>
                  <a:pt x="5051564" y="395732"/>
                </a:lnTo>
                <a:lnTo>
                  <a:pt x="5052834" y="399542"/>
                </a:lnTo>
                <a:lnTo>
                  <a:pt x="5059184" y="402717"/>
                </a:lnTo>
                <a:lnTo>
                  <a:pt x="5062994" y="401447"/>
                </a:lnTo>
                <a:lnTo>
                  <a:pt x="5109222" y="309880"/>
                </a:lnTo>
                <a:close/>
              </a:path>
            </a:pathLst>
          </a:custGeom>
          <a:solidFill>
            <a:srgbClr val="487CB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3"/>
          <p:cNvSpPr txBox="1"/>
          <p:nvPr/>
        </p:nvSpPr>
        <p:spPr>
          <a:xfrm>
            <a:off x="5718809" y="5523687"/>
            <a:ext cx="81026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>
            <p:ph type="title"/>
          </p:nvPr>
        </p:nvSpPr>
        <p:spPr>
          <a:xfrm>
            <a:off x="1495171" y="426212"/>
            <a:ext cx="614807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Structure of the Page Table</a:t>
            </a:r>
            <a:endParaRPr sz="4400"/>
          </a:p>
        </p:txBody>
      </p:sp>
      <p:sp>
        <p:nvSpPr>
          <p:cNvPr id="428" name="Google Shape;428;p54"/>
          <p:cNvSpPr txBox="1"/>
          <p:nvPr/>
        </p:nvSpPr>
        <p:spPr>
          <a:xfrm>
            <a:off x="320040" y="1321765"/>
            <a:ext cx="8120380" cy="49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1910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requirement for page table can get huge using straight-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19100" marR="0" rtl="0" algn="l">
              <a:lnSpc>
                <a:spcPct val="10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methods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32-bit logical address space as on modern computers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of 4 KB (2</a:t>
            </a:r>
            <a:r>
              <a:rPr b="0" baseline="3000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would have 1 million entries 2</a:t>
            </a:r>
            <a:r>
              <a:rPr b="0" baseline="3000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</a:t>
            </a:r>
            <a:r>
              <a:rPr b="0" baseline="3000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2</a:t>
            </a:r>
            <a:r>
              <a:rPr b="0" baseline="3000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8000"/>
              </a:lnSpc>
              <a:spcBef>
                <a:spcPts val="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each entry is 4 bytes -&gt; 4 MB of physical address space / memory for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19785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alone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219200" marR="0" rtl="0" algn="l">
              <a:lnSpc>
                <a:spcPct val="11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amount of memory used to cost a lot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219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want to allocate that contiguously in main memory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Paging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Hashed Page Tables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Inverted Page Tables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5"/>
          <p:cNvSpPr txBox="1"/>
          <p:nvPr>
            <p:ph type="title"/>
          </p:nvPr>
        </p:nvSpPr>
        <p:spPr>
          <a:xfrm>
            <a:off x="1841119" y="426212"/>
            <a:ext cx="545528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Hierarchical Page Tables</a:t>
            </a:r>
            <a:endParaRPr sz="4400"/>
          </a:p>
        </p:txBody>
      </p:sp>
      <p:sp>
        <p:nvSpPr>
          <p:cNvPr id="434" name="Google Shape;434;p55"/>
          <p:cNvSpPr txBox="1"/>
          <p:nvPr/>
        </p:nvSpPr>
        <p:spPr>
          <a:xfrm>
            <a:off x="840435" y="1321688"/>
            <a:ext cx="6650990" cy="460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55600" marR="191135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up the page table into multiple  pages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3850"/>
              <a:buFont typeface="Arial"/>
              <a:buNone/>
            </a:pPr>
            <a:r>
              <a:t/>
            </a:r>
            <a:endParaRPr sz="3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then page the page table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t/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3850"/>
              <a:buFont typeface="Arial"/>
              <a:buNone/>
            </a:pPr>
            <a:r>
              <a:t/>
            </a:r>
            <a:endParaRPr sz="3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simple technique is a two-level page  table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6"/>
          <p:cNvSpPr txBox="1"/>
          <p:nvPr>
            <p:ph type="title"/>
          </p:nvPr>
        </p:nvSpPr>
        <p:spPr>
          <a:xfrm>
            <a:off x="1173581" y="426212"/>
            <a:ext cx="678688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Two-Level Page-Table Scheme</a:t>
            </a:r>
            <a:endParaRPr sz="4400"/>
          </a:p>
        </p:txBody>
      </p:sp>
      <p:pic>
        <p:nvPicPr>
          <p:cNvPr id="440" name="Google Shape;44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385316"/>
            <a:ext cx="4823459" cy="510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7"/>
          <p:cNvSpPr txBox="1"/>
          <p:nvPr>
            <p:ph type="title"/>
          </p:nvPr>
        </p:nvSpPr>
        <p:spPr>
          <a:xfrm>
            <a:off x="2094738" y="183642"/>
            <a:ext cx="540321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Two-Level Paging Example</a:t>
            </a:r>
            <a:endParaRPr/>
          </a:p>
        </p:txBody>
      </p:sp>
      <p:sp>
        <p:nvSpPr>
          <p:cNvPr id="446" name="Google Shape;446;p57"/>
          <p:cNvSpPr txBox="1"/>
          <p:nvPr/>
        </p:nvSpPr>
        <p:spPr>
          <a:xfrm>
            <a:off x="878535" y="5798921"/>
            <a:ext cx="681799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displacement within the page of the inner page table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7" name="Google Shape;447;p57"/>
          <p:cNvGraphicFramePr/>
          <p:nvPr/>
        </p:nvGraphicFramePr>
        <p:xfrm>
          <a:off x="3058477" y="4282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838200"/>
                <a:gridCol w="795650"/>
                <a:gridCol w="1470650"/>
              </a:tblGrid>
              <a:tr h="3246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651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lang="en-US" sz="2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 number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165100" marR="0" rtl="0" algn="l">
                        <a:lnSpc>
                          <a:spcPct val="1030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page offset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00">
                <a:tc>
                  <a:txBody>
                    <a:bodyPr/>
                    <a:lstStyle/>
                    <a:p>
                      <a:pPr indent="0" lvl="0" marL="0" marR="2032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aseline="-2500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780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aseline="-2500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24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57"/>
          <p:cNvSpPr txBox="1"/>
          <p:nvPr/>
        </p:nvSpPr>
        <p:spPr>
          <a:xfrm>
            <a:off x="535635" y="902919"/>
            <a:ext cx="7810500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350">
            <a:spAutoFit/>
          </a:bodyPr>
          <a:lstStyle/>
          <a:p>
            <a:pPr indent="-342900" lvl="0" marL="355600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logical address (on 32-bit machine with 4KB page size) is  divided into: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965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page number consisting of 20 bits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1168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page offset consisting of 12 bits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09854" rtl="0" algn="l">
              <a:lnSpc>
                <a:spcPct val="70100"/>
              </a:lnSpc>
              <a:spcBef>
                <a:spcPts val="130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the page table is paged, the page number is further  divided into: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965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10-bit page number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640080" marR="0" rtl="0" algn="l">
              <a:lnSpc>
                <a:spcPct val="1168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10-bit page offset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a logical address is as follows: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7"/>
          <p:cNvSpPr txBox="1"/>
          <p:nvPr/>
        </p:nvSpPr>
        <p:spPr>
          <a:xfrm>
            <a:off x="3352291" y="5068951"/>
            <a:ext cx="21139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7"/>
          <p:cNvSpPr txBox="1"/>
          <p:nvPr/>
        </p:nvSpPr>
        <p:spPr>
          <a:xfrm>
            <a:off x="510235" y="5546242"/>
            <a:ext cx="8007984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i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-US" sz="24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an index into the outer page table, and </a:t>
            </a:r>
            <a:r>
              <a:rPr i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-US" sz="24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173581" y="426212"/>
            <a:ext cx="678688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Two-Level Page-Table Scheme</a:t>
            </a:r>
            <a:endParaRPr sz="4400"/>
          </a:p>
        </p:txBody>
      </p:sp>
      <p:grpSp>
        <p:nvGrpSpPr>
          <p:cNvPr id="456" name="Google Shape;456;p58"/>
          <p:cNvGrpSpPr/>
          <p:nvPr/>
        </p:nvGrpSpPr>
        <p:grpSpPr>
          <a:xfrm>
            <a:off x="1600200" y="1377696"/>
            <a:ext cx="5433059" cy="5099304"/>
            <a:chOff x="1600200" y="1377696"/>
            <a:chExt cx="5433059" cy="5099304"/>
          </a:xfrm>
        </p:grpSpPr>
        <p:pic>
          <p:nvPicPr>
            <p:cNvPr id="457" name="Google Shape;45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09800" y="1377696"/>
              <a:ext cx="4823459" cy="5099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58"/>
            <p:cNvSpPr/>
            <p:nvPr/>
          </p:nvSpPr>
          <p:spPr>
            <a:xfrm>
              <a:off x="1600200" y="2996310"/>
              <a:ext cx="609600" cy="103505"/>
            </a:xfrm>
            <a:custGeom>
              <a:rect b="b" l="l" r="r" t="t"/>
              <a:pathLst>
                <a:path extrusionOk="0" h="103505" w="609600">
                  <a:moveTo>
                    <a:pt x="609600" y="51689"/>
                  </a:moveTo>
                  <a:lnTo>
                    <a:pt x="598678" y="45339"/>
                  </a:lnTo>
                  <a:lnTo>
                    <a:pt x="584454" y="37045"/>
                  </a:lnTo>
                  <a:lnTo>
                    <a:pt x="584454" y="51689"/>
                  </a:lnTo>
                  <a:lnTo>
                    <a:pt x="579056" y="54851"/>
                  </a:lnTo>
                  <a:lnTo>
                    <a:pt x="579056" y="51689"/>
                  </a:lnTo>
                  <a:lnTo>
                    <a:pt x="579056" y="48539"/>
                  </a:lnTo>
                  <a:lnTo>
                    <a:pt x="584454" y="51689"/>
                  </a:lnTo>
                  <a:lnTo>
                    <a:pt x="584454" y="37045"/>
                  </a:lnTo>
                  <a:lnTo>
                    <a:pt x="520954" y="0"/>
                  </a:lnTo>
                  <a:lnTo>
                    <a:pt x="517144" y="1016"/>
                  </a:lnTo>
                  <a:lnTo>
                    <a:pt x="513588" y="7112"/>
                  </a:lnTo>
                  <a:lnTo>
                    <a:pt x="514604" y="10922"/>
                  </a:lnTo>
                  <a:lnTo>
                    <a:pt x="573570" y="45339"/>
                  </a:lnTo>
                  <a:lnTo>
                    <a:pt x="0" y="45339"/>
                  </a:lnTo>
                  <a:lnTo>
                    <a:pt x="0" y="51689"/>
                  </a:lnTo>
                  <a:lnTo>
                    <a:pt x="0" y="58039"/>
                  </a:lnTo>
                  <a:lnTo>
                    <a:pt x="573570" y="58039"/>
                  </a:lnTo>
                  <a:lnTo>
                    <a:pt x="514604" y="92456"/>
                  </a:lnTo>
                  <a:lnTo>
                    <a:pt x="513588" y="96266"/>
                  </a:lnTo>
                  <a:lnTo>
                    <a:pt x="517144" y="102362"/>
                  </a:lnTo>
                  <a:lnTo>
                    <a:pt x="520954" y="103378"/>
                  </a:lnTo>
                  <a:lnTo>
                    <a:pt x="598678" y="58039"/>
                  </a:lnTo>
                  <a:lnTo>
                    <a:pt x="609600" y="516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9" name="Google Shape;459;p58"/>
          <p:cNvSpPr txBox="1"/>
          <p:nvPr/>
        </p:nvSpPr>
        <p:spPr>
          <a:xfrm>
            <a:off x="1272794" y="2823209"/>
            <a:ext cx="274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8"/>
          <p:cNvSpPr txBox="1"/>
          <p:nvPr/>
        </p:nvSpPr>
        <p:spPr>
          <a:xfrm>
            <a:off x="3636009" y="3509264"/>
            <a:ext cx="274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8"/>
          <p:cNvSpPr/>
          <p:nvPr/>
        </p:nvSpPr>
        <p:spPr>
          <a:xfrm>
            <a:off x="2667000" y="1795017"/>
            <a:ext cx="1955800" cy="2022475"/>
          </a:xfrm>
          <a:custGeom>
            <a:rect b="b" l="l" r="r" t="t"/>
            <a:pathLst>
              <a:path extrusionOk="0" h="2022475" w="1955800">
                <a:moveTo>
                  <a:pt x="1752600" y="1970786"/>
                </a:moveTo>
                <a:lnTo>
                  <a:pt x="1663954" y="1919097"/>
                </a:lnTo>
                <a:lnTo>
                  <a:pt x="1660144" y="1920113"/>
                </a:lnTo>
                <a:lnTo>
                  <a:pt x="1656588" y="1926209"/>
                </a:lnTo>
                <a:lnTo>
                  <a:pt x="1657604" y="1930019"/>
                </a:lnTo>
                <a:lnTo>
                  <a:pt x="1716532" y="1964436"/>
                </a:lnTo>
                <a:lnTo>
                  <a:pt x="1219200" y="1964436"/>
                </a:lnTo>
                <a:lnTo>
                  <a:pt x="1219200" y="1977136"/>
                </a:lnTo>
                <a:lnTo>
                  <a:pt x="1716532" y="1977136"/>
                </a:lnTo>
                <a:lnTo>
                  <a:pt x="1657604" y="2011553"/>
                </a:lnTo>
                <a:lnTo>
                  <a:pt x="1656588" y="2015363"/>
                </a:lnTo>
                <a:lnTo>
                  <a:pt x="1660144" y="2021459"/>
                </a:lnTo>
                <a:lnTo>
                  <a:pt x="1663954" y="2022475"/>
                </a:lnTo>
                <a:lnTo>
                  <a:pt x="1752600" y="1970786"/>
                </a:lnTo>
                <a:close/>
              </a:path>
              <a:path extrusionOk="0" h="2022475" w="1955800">
                <a:moveTo>
                  <a:pt x="1955419" y="408559"/>
                </a:moveTo>
                <a:lnTo>
                  <a:pt x="36576" y="34417"/>
                </a:lnTo>
                <a:lnTo>
                  <a:pt x="101092" y="11938"/>
                </a:lnTo>
                <a:lnTo>
                  <a:pt x="102743" y="8382"/>
                </a:lnTo>
                <a:lnTo>
                  <a:pt x="100457" y="1778"/>
                </a:lnTo>
                <a:lnTo>
                  <a:pt x="96901" y="0"/>
                </a:lnTo>
                <a:lnTo>
                  <a:pt x="0" y="33782"/>
                </a:lnTo>
                <a:lnTo>
                  <a:pt x="77089" y="101473"/>
                </a:lnTo>
                <a:lnTo>
                  <a:pt x="81026" y="101219"/>
                </a:lnTo>
                <a:lnTo>
                  <a:pt x="85725" y="96012"/>
                </a:lnTo>
                <a:lnTo>
                  <a:pt x="85471" y="91948"/>
                </a:lnTo>
                <a:lnTo>
                  <a:pt x="34163" y="46990"/>
                </a:lnTo>
                <a:lnTo>
                  <a:pt x="1953006" y="421005"/>
                </a:lnTo>
                <a:lnTo>
                  <a:pt x="1955419" y="4085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110" y="2590800"/>
            <a:ext cx="10337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8"/>
          <p:cNvSpPr txBox="1"/>
          <p:nvPr/>
        </p:nvSpPr>
        <p:spPr>
          <a:xfrm>
            <a:off x="7319518" y="2518409"/>
            <a:ext cx="146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58"/>
          <p:cNvSpPr txBox="1"/>
          <p:nvPr/>
        </p:nvSpPr>
        <p:spPr>
          <a:xfrm>
            <a:off x="447649" y="1380871"/>
            <a:ext cx="222567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divided page table  size=2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*4bytes=4KB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=Page size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8"/>
          <p:cNvSpPr txBox="1"/>
          <p:nvPr/>
        </p:nvSpPr>
        <p:spPr>
          <a:xfrm>
            <a:off x="535635" y="6177483"/>
            <a:ext cx="95376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Pentium 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 txBox="1"/>
          <p:nvPr>
            <p:ph type="title"/>
          </p:nvPr>
        </p:nvSpPr>
        <p:spPr>
          <a:xfrm>
            <a:off x="1990089" y="183642"/>
            <a:ext cx="581279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Address-Translation Scheme</a:t>
            </a:r>
            <a:endParaRPr/>
          </a:p>
        </p:txBody>
      </p:sp>
      <p:pic>
        <p:nvPicPr>
          <p:cNvPr id="471" name="Google Shape;47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655" y="1748027"/>
            <a:ext cx="7097268" cy="29946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9"/>
          <p:cNvSpPr txBox="1"/>
          <p:nvPr/>
        </p:nvSpPr>
        <p:spPr>
          <a:xfrm>
            <a:off x="535635" y="6177483"/>
            <a:ext cx="95376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Pentium 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type="title"/>
          </p:nvPr>
        </p:nvSpPr>
        <p:spPr>
          <a:xfrm>
            <a:off x="1344294" y="426212"/>
            <a:ext cx="643953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64-bit Logical Address Space</a:t>
            </a:r>
            <a:endParaRPr sz="4400"/>
          </a:p>
        </p:txBody>
      </p:sp>
      <p:sp>
        <p:nvSpPr>
          <p:cNvPr id="478" name="Google Shape;478;p60"/>
          <p:cNvSpPr txBox="1"/>
          <p:nvPr/>
        </p:nvSpPr>
        <p:spPr>
          <a:xfrm>
            <a:off x="409549" y="1296416"/>
            <a:ext cx="8159115" cy="505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two-level paging scheme not sufficient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page size is 4 KB (2</a:t>
            </a:r>
            <a:r>
              <a:rPr baseline="30000" lang="en-US" sz="24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80708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page table has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807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two level scheme, inner page tables could be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4-byte entries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807085" marR="0" rtl="0" algn="l">
              <a:lnSpc>
                <a:spcPct val="11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would look like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20950" marR="0" rtl="0" algn="l">
              <a:lnSpc>
                <a:spcPct val="11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page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12215" marR="0" rtl="0" algn="l">
              <a:lnSpc>
                <a:spcPct val="115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outer 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266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	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	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1" marL="806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page table has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entries or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80645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solution is to add a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page table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80645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in the following example the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outer page table is still 2</a:t>
            </a:r>
            <a:r>
              <a:rPr b="0" baseline="30000" i="0" lang="en-US" sz="21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baseline="3000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6450" marR="0" rtl="0" algn="l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bytes in size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2" marL="1205865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possibly 4 memory access to get to one physical memory location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9" name="Google Shape;479;p60"/>
          <p:cNvGraphicFramePr/>
          <p:nvPr/>
        </p:nvGraphicFramePr>
        <p:xfrm>
          <a:off x="2233993" y="3352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838200"/>
                <a:gridCol w="795650"/>
                <a:gridCol w="1472575"/>
              </a:tblGrid>
              <a:tr h="324600">
                <a:tc gridSpan="2">
                  <a:txBody>
                    <a:bodyPr/>
                    <a:lstStyle/>
                    <a:p>
                      <a:pPr indent="0" lvl="0" marL="82550" marR="0" rtl="0" algn="l">
                        <a:lnSpc>
                          <a:spcPct val="10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170180" marR="0" rtl="0" algn="l">
                        <a:lnSpc>
                          <a:spcPct val="10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page offset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400">
                <a:tc>
                  <a:txBody>
                    <a:bodyPr/>
                    <a:lstStyle/>
                    <a:p>
                      <a:pPr indent="0" lvl="0" marL="0" marR="2095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aseline="-2500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2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780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r>
                        <a:rPr baseline="-25000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6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6228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1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1"/>
          <p:cNvSpPr txBox="1"/>
          <p:nvPr>
            <p:ph type="title"/>
          </p:nvPr>
        </p:nvSpPr>
        <p:spPr>
          <a:xfrm>
            <a:off x="2005710" y="183642"/>
            <a:ext cx="551751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Three-level Paging Scheme</a:t>
            </a:r>
            <a:endParaRPr/>
          </a:p>
        </p:txBody>
      </p:sp>
      <p:pic>
        <p:nvPicPr>
          <p:cNvPr id="485" name="Google Shape;48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644" y="1836801"/>
            <a:ext cx="6207252" cy="1346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1788" y="3925798"/>
            <a:ext cx="6446520" cy="121033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1"/>
          <p:cNvSpPr txBox="1"/>
          <p:nvPr/>
        </p:nvSpPr>
        <p:spPr>
          <a:xfrm>
            <a:off x="611835" y="5796483"/>
            <a:ext cx="74656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SPARC (32 bits), Motorola 68030 support three and four level paging respectively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2"/>
          <p:cNvSpPr txBox="1"/>
          <p:nvPr>
            <p:ph type="title"/>
          </p:nvPr>
        </p:nvSpPr>
        <p:spPr>
          <a:xfrm>
            <a:off x="2735072" y="183642"/>
            <a:ext cx="405384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Hashed Page Tables</a:t>
            </a:r>
            <a:endParaRPr/>
          </a:p>
        </p:txBody>
      </p:sp>
      <p:sp>
        <p:nvSpPr>
          <p:cNvPr id="493" name="Google Shape;493;p62"/>
          <p:cNvSpPr txBox="1"/>
          <p:nvPr/>
        </p:nvSpPr>
        <p:spPr>
          <a:xfrm>
            <a:off x="611835" y="1316228"/>
            <a:ext cx="7521575" cy="3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in virtual address spaces &gt; 32 bits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page number is hashed into a page table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775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page table contains a chain of elements hashing to the same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6285" marR="0" rtl="0" algn="l">
              <a:lnSpc>
                <a:spcPct val="10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2069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element contains (1) the page number (2) the value of the  mapped page frame (3) a pointer to the next element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150"/>
              <a:buFont typeface="Arial"/>
              <a:buNone/>
            </a:pPr>
            <a:r>
              <a:t/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page numbers are compared in this chain searching for 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7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match is found, the corresponding physical frame is extracted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/>
          <p:nvPr>
            <p:ph type="title"/>
          </p:nvPr>
        </p:nvSpPr>
        <p:spPr>
          <a:xfrm>
            <a:off x="2441575" y="426212"/>
            <a:ext cx="425894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Hashed Page Table</a:t>
            </a:r>
            <a:endParaRPr sz="4400"/>
          </a:p>
        </p:txBody>
      </p:sp>
      <p:pic>
        <p:nvPicPr>
          <p:cNvPr id="499" name="Google Shape;49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530095"/>
            <a:ext cx="6883907" cy="39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4"/>
          <p:cNvSpPr txBox="1"/>
          <p:nvPr>
            <p:ph type="title"/>
          </p:nvPr>
        </p:nvSpPr>
        <p:spPr>
          <a:xfrm>
            <a:off x="2684526" y="183642"/>
            <a:ext cx="403796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Inverted Page Table</a:t>
            </a:r>
            <a:endParaRPr/>
          </a:p>
        </p:txBody>
      </p:sp>
      <p:sp>
        <p:nvSpPr>
          <p:cNvPr id="505" name="Google Shape;505;p64"/>
          <p:cNvSpPr txBox="1"/>
          <p:nvPr/>
        </p:nvSpPr>
        <p:spPr>
          <a:xfrm>
            <a:off x="459435" y="1094359"/>
            <a:ext cx="8310245" cy="4596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342900" lvl="0" marL="355600" marR="45085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Rather than each process having a page table and  keeping track of all possible logical pages, </a:t>
            </a:r>
            <a:r>
              <a:rPr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track all frames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3050"/>
              <a:buFont typeface="Arial"/>
              <a:buNone/>
            </a:pPr>
            <a:r>
              <a:t/>
            </a:r>
            <a:endParaRPr sz="3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entry for each frame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7037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consists the page number stored in that frame, with  information about the process that owns that page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Decreases memory needed to store each page table,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756285" marR="289560" rtl="0" algn="l">
              <a:lnSpc>
                <a:spcPct val="107916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increases time needed to search the table when a page  reference occurs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"/>
          <p:cNvSpPr txBox="1"/>
          <p:nvPr>
            <p:ph type="title"/>
          </p:nvPr>
        </p:nvSpPr>
        <p:spPr>
          <a:xfrm>
            <a:off x="1433325" y="183650"/>
            <a:ext cx="7345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Inverted Page Table Architecture</a:t>
            </a:r>
            <a:endParaRPr/>
          </a:p>
        </p:txBody>
      </p:sp>
      <p:pic>
        <p:nvPicPr>
          <p:cNvPr id="511" name="Google Shape;51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539" y="1296924"/>
            <a:ext cx="6502908" cy="449884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65"/>
          <p:cNvSpPr txBox="1"/>
          <p:nvPr/>
        </p:nvSpPr>
        <p:spPr>
          <a:xfrm>
            <a:off x="459435" y="1069975"/>
            <a:ext cx="25927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 bit UltraSPARC, PowerPC,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3" name="Google Shape;513;p65"/>
          <p:cNvGrpSpPr/>
          <p:nvPr/>
        </p:nvGrpSpPr>
        <p:grpSpPr>
          <a:xfrm>
            <a:off x="2667000" y="4566030"/>
            <a:ext cx="688213" cy="255651"/>
            <a:chOff x="2667000" y="4566030"/>
            <a:chExt cx="688213" cy="255651"/>
          </a:xfrm>
        </p:grpSpPr>
        <p:pic>
          <p:nvPicPr>
            <p:cNvPr id="514" name="Google Shape;514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67000" y="4723256"/>
              <a:ext cx="105156" cy="98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65"/>
            <p:cNvSpPr/>
            <p:nvPr/>
          </p:nvSpPr>
          <p:spPr>
            <a:xfrm>
              <a:off x="2680208" y="4566030"/>
              <a:ext cx="675005" cy="229235"/>
            </a:xfrm>
            <a:custGeom>
              <a:rect b="b" l="l" r="r" t="t"/>
              <a:pathLst>
                <a:path extrusionOk="0" h="229235" w="675004">
                  <a:moveTo>
                    <a:pt x="674624" y="11938"/>
                  </a:moveTo>
                  <a:lnTo>
                    <a:pt x="670560" y="0"/>
                  </a:lnTo>
                  <a:lnTo>
                    <a:pt x="19050" y="217043"/>
                  </a:lnTo>
                  <a:lnTo>
                    <a:pt x="12573" y="224409"/>
                  </a:lnTo>
                  <a:lnTo>
                    <a:pt x="0" y="224409"/>
                  </a:lnTo>
                  <a:lnTo>
                    <a:pt x="10668" y="226568"/>
                  </a:lnTo>
                  <a:lnTo>
                    <a:pt x="22987" y="229235"/>
                  </a:lnTo>
                  <a:lnTo>
                    <a:pt x="674624" y="11938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65"/>
          <p:cNvSpPr txBox="1"/>
          <p:nvPr/>
        </p:nvSpPr>
        <p:spPr>
          <a:xfrm>
            <a:off x="993139" y="4588255"/>
            <a:ext cx="15855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 space ID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6"/>
          <p:cNvSpPr txBox="1"/>
          <p:nvPr>
            <p:ph type="title"/>
          </p:nvPr>
        </p:nvSpPr>
        <p:spPr>
          <a:xfrm>
            <a:off x="2748533" y="379933"/>
            <a:ext cx="3187700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Segmentation</a:t>
            </a:r>
            <a:endParaRPr sz="4400"/>
          </a:p>
        </p:txBody>
      </p:sp>
      <p:sp>
        <p:nvSpPr>
          <p:cNvPr id="522" name="Google Shape;522;p66"/>
          <p:cNvSpPr txBox="1"/>
          <p:nvPr/>
        </p:nvSpPr>
        <p:spPr>
          <a:xfrm>
            <a:off x="2064511" y="2711653"/>
            <a:ext cx="4285615" cy="376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050">
            <a:spAutoFit/>
          </a:bodyPr>
          <a:lstStyle/>
          <a:p>
            <a:pPr indent="0" lvl="0" marL="12700" marR="2334895" rtl="0" algn="l">
              <a:lnSpc>
                <a:spcPct val="108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program  procedure  function  method  object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987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variables, global variables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223135" rtl="0" algn="l">
              <a:lnSpc>
                <a:spcPct val="101481"/>
              </a:lnSpc>
              <a:spcBef>
                <a:spcPts val="34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block  stack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2510155" rtl="0" algn="l">
              <a:lnSpc>
                <a:spcPct val="107777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 table  arrays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66"/>
          <p:cNvSpPr txBox="1"/>
          <p:nvPr/>
        </p:nvSpPr>
        <p:spPr>
          <a:xfrm>
            <a:off x="230530" y="1275715"/>
            <a:ext cx="8457565" cy="1694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875">
            <a:spAutoFit/>
          </a:bodyPr>
          <a:lstStyle/>
          <a:p>
            <a:pPr indent="-343535" lvl="0" marL="355600" marR="120014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Memory-management scheme that supports </a:t>
            </a:r>
            <a:r>
              <a:rPr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view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 memory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12222"/>
              </a:lnSpc>
              <a:spcBef>
                <a:spcPts val="11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program is a collection of segments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segment is a logical unit such as: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Compiler generates the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66"/>
          <p:cNvSpPr txBox="1"/>
          <p:nvPr/>
        </p:nvSpPr>
        <p:spPr>
          <a:xfrm>
            <a:off x="6480809" y="2944748"/>
            <a:ext cx="21170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Loader assign the seg#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"/>
          <p:cNvSpPr txBox="1"/>
          <p:nvPr>
            <p:ph type="title"/>
          </p:nvPr>
        </p:nvSpPr>
        <p:spPr>
          <a:xfrm>
            <a:off x="1710054" y="426212"/>
            <a:ext cx="571500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User’s View of a Program</a:t>
            </a:r>
            <a:endParaRPr sz="4400"/>
          </a:p>
        </p:txBody>
      </p:sp>
      <p:grpSp>
        <p:nvGrpSpPr>
          <p:cNvPr id="530" name="Google Shape;530;p67"/>
          <p:cNvGrpSpPr/>
          <p:nvPr/>
        </p:nvGrpSpPr>
        <p:grpSpPr>
          <a:xfrm>
            <a:off x="838200" y="1257300"/>
            <a:ext cx="4114799" cy="4838700"/>
            <a:chOff x="838200" y="1257300"/>
            <a:chExt cx="4114799" cy="4838700"/>
          </a:xfrm>
        </p:grpSpPr>
        <p:pic>
          <p:nvPicPr>
            <p:cNvPr id="531" name="Google Shape;53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200" y="1257300"/>
              <a:ext cx="3695700" cy="4838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8733" y="5237479"/>
              <a:ext cx="104266" cy="96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67"/>
            <p:cNvSpPr/>
            <p:nvPr/>
          </p:nvSpPr>
          <p:spPr>
            <a:xfrm>
              <a:off x="3958589" y="4566920"/>
              <a:ext cx="974725" cy="751840"/>
            </a:xfrm>
            <a:custGeom>
              <a:rect b="b" l="l" r="r" t="t"/>
              <a:pathLst>
                <a:path extrusionOk="0" h="751839" w="974725">
                  <a:moveTo>
                    <a:pt x="7620" y="0"/>
                  </a:moveTo>
                  <a:lnTo>
                    <a:pt x="0" y="10159"/>
                  </a:lnTo>
                  <a:lnTo>
                    <a:pt x="962025" y="750188"/>
                  </a:lnTo>
                  <a:lnTo>
                    <a:pt x="974471" y="751712"/>
                  </a:lnTo>
                  <a:lnTo>
                    <a:pt x="969645" y="74002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p67"/>
          <p:cNvSpPr txBox="1"/>
          <p:nvPr/>
        </p:nvSpPr>
        <p:spPr>
          <a:xfrm>
            <a:off x="5642609" y="1756028"/>
            <a:ext cx="2599690" cy="247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specifies each address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two quantities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offset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contains the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&lt;segment#, offset&gt;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7"/>
          <p:cNvSpPr txBox="1"/>
          <p:nvPr/>
        </p:nvSpPr>
        <p:spPr>
          <a:xfrm>
            <a:off x="4880609" y="5329885"/>
            <a:ext cx="3712845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size segments without order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Length=&gt; purpose of the program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are identified by offset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8"/>
          <p:cNvSpPr txBox="1"/>
          <p:nvPr>
            <p:ph type="title"/>
          </p:nvPr>
        </p:nvSpPr>
        <p:spPr>
          <a:xfrm>
            <a:off x="1740789" y="0"/>
            <a:ext cx="60744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View of Segmentation</a:t>
            </a:r>
            <a:endParaRPr/>
          </a:p>
        </p:txBody>
      </p:sp>
      <p:sp>
        <p:nvSpPr>
          <p:cNvPr id="541" name="Google Shape;541;p68"/>
          <p:cNvSpPr/>
          <p:nvPr/>
        </p:nvSpPr>
        <p:spPr>
          <a:xfrm>
            <a:off x="1447800" y="1171955"/>
            <a:ext cx="2895600" cy="3962400"/>
          </a:xfrm>
          <a:custGeom>
            <a:rect b="b" l="l" r="r" t="t"/>
            <a:pathLst>
              <a:path extrusionOk="0" h="3962400" w="2895600">
                <a:moveTo>
                  <a:pt x="0" y="1981200"/>
                </a:moveTo>
                <a:lnTo>
                  <a:pt x="508" y="1925701"/>
                </a:lnTo>
                <a:lnTo>
                  <a:pt x="2159" y="1870710"/>
                </a:lnTo>
                <a:lnTo>
                  <a:pt x="4953" y="1815973"/>
                </a:lnTo>
                <a:lnTo>
                  <a:pt x="8762" y="1761744"/>
                </a:lnTo>
                <a:lnTo>
                  <a:pt x="13715" y="1707896"/>
                </a:lnTo>
                <a:lnTo>
                  <a:pt x="19558" y="1654556"/>
                </a:lnTo>
                <a:lnTo>
                  <a:pt x="26543" y="1601597"/>
                </a:lnTo>
                <a:lnTo>
                  <a:pt x="34543" y="1549273"/>
                </a:lnTo>
                <a:lnTo>
                  <a:pt x="43434" y="1497330"/>
                </a:lnTo>
                <a:lnTo>
                  <a:pt x="53466" y="1446022"/>
                </a:lnTo>
                <a:lnTo>
                  <a:pt x="64388" y="1395222"/>
                </a:lnTo>
                <a:lnTo>
                  <a:pt x="76200" y="1344930"/>
                </a:lnTo>
                <a:lnTo>
                  <a:pt x="89153" y="1295400"/>
                </a:lnTo>
                <a:lnTo>
                  <a:pt x="102869" y="1246378"/>
                </a:lnTo>
                <a:lnTo>
                  <a:pt x="117475" y="1197991"/>
                </a:lnTo>
                <a:lnTo>
                  <a:pt x="133096" y="1150239"/>
                </a:lnTo>
                <a:lnTo>
                  <a:pt x="149606" y="1103249"/>
                </a:lnTo>
                <a:lnTo>
                  <a:pt x="166878" y="1056894"/>
                </a:lnTo>
                <a:lnTo>
                  <a:pt x="185038" y="1011301"/>
                </a:lnTo>
                <a:lnTo>
                  <a:pt x="204088" y="966343"/>
                </a:lnTo>
                <a:lnTo>
                  <a:pt x="223900" y="922147"/>
                </a:lnTo>
                <a:lnTo>
                  <a:pt x="244601" y="878840"/>
                </a:lnTo>
                <a:lnTo>
                  <a:pt x="266064" y="836295"/>
                </a:lnTo>
                <a:lnTo>
                  <a:pt x="288289" y="794512"/>
                </a:lnTo>
                <a:lnTo>
                  <a:pt x="311404" y="753618"/>
                </a:lnTo>
                <a:lnTo>
                  <a:pt x="335152" y="713486"/>
                </a:lnTo>
                <a:lnTo>
                  <a:pt x="359663" y="674243"/>
                </a:lnTo>
                <a:lnTo>
                  <a:pt x="384810" y="636016"/>
                </a:lnTo>
                <a:lnTo>
                  <a:pt x="410844" y="598551"/>
                </a:lnTo>
                <a:lnTo>
                  <a:pt x="437514" y="562102"/>
                </a:lnTo>
                <a:lnTo>
                  <a:pt x="464819" y="526669"/>
                </a:lnTo>
                <a:lnTo>
                  <a:pt x="492760" y="492125"/>
                </a:lnTo>
                <a:lnTo>
                  <a:pt x="521462" y="458597"/>
                </a:lnTo>
                <a:lnTo>
                  <a:pt x="550672" y="426085"/>
                </a:lnTo>
                <a:lnTo>
                  <a:pt x="580644" y="394589"/>
                </a:lnTo>
                <a:lnTo>
                  <a:pt x="611124" y="364109"/>
                </a:lnTo>
                <a:lnTo>
                  <a:pt x="642238" y="334772"/>
                </a:lnTo>
                <a:lnTo>
                  <a:pt x="673988" y="306451"/>
                </a:lnTo>
                <a:lnTo>
                  <a:pt x="706247" y="279273"/>
                </a:lnTo>
                <a:lnTo>
                  <a:pt x="739013" y="253238"/>
                </a:lnTo>
                <a:lnTo>
                  <a:pt x="772287" y="228346"/>
                </a:lnTo>
                <a:lnTo>
                  <a:pt x="806195" y="204597"/>
                </a:lnTo>
                <a:lnTo>
                  <a:pt x="840613" y="182118"/>
                </a:lnTo>
                <a:lnTo>
                  <a:pt x="875411" y="160782"/>
                </a:lnTo>
                <a:lnTo>
                  <a:pt x="910844" y="140716"/>
                </a:lnTo>
                <a:lnTo>
                  <a:pt x="946657" y="121920"/>
                </a:lnTo>
                <a:lnTo>
                  <a:pt x="982852" y="104394"/>
                </a:lnTo>
                <a:lnTo>
                  <a:pt x="1019556" y="88138"/>
                </a:lnTo>
                <a:lnTo>
                  <a:pt x="1056639" y="73152"/>
                </a:lnTo>
                <a:lnTo>
                  <a:pt x="1094232" y="59563"/>
                </a:lnTo>
                <a:lnTo>
                  <a:pt x="1132077" y="47244"/>
                </a:lnTo>
                <a:lnTo>
                  <a:pt x="1170432" y="36322"/>
                </a:lnTo>
                <a:lnTo>
                  <a:pt x="1209039" y="26797"/>
                </a:lnTo>
                <a:lnTo>
                  <a:pt x="1248029" y="18669"/>
                </a:lnTo>
                <a:lnTo>
                  <a:pt x="1287399" y="12065"/>
                </a:lnTo>
                <a:lnTo>
                  <a:pt x="1327023" y="6731"/>
                </a:lnTo>
                <a:lnTo>
                  <a:pt x="1367027" y="3048"/>
                </a:lnTo>
                <a:lnTo>
                  <a:pt x="1407287" y="762"/>
                </a:lnTo>
                <a:lnTo>
                  <a:pt x="1447800" y="0"/>
                </a:lnTo>
                <a:lnTo>
                  <a:pt x="1488313" y="762"/>
                </a:lnTo>
                <a:lnTo>
                  <a:pt x="1528572" y="3048"/>
                </a:lnTo>
                <a:lnTo>
                  <a:pt x="1568577" y="6731"/>
                </a:lnTo>
                <a:lnTo>
                  <a:pt x="1608201" y="12065"/>
                </a:lnTo>
                <a:lnTo>
                  <a:pt x="1647570" y="18669"/>
                </a:lnTo>
                <a:lnTo>
                  <a:pt x="1686560" y="26797"/>
                </a:lnTo>
                <a:lnTo>
                  <a:pt x="1725168" y="36322"/>
                </a:lnTo>
                <a:lnTo>
                  <a:pt x="1763522" y="47244"/>
                </a:lnTo>
                <a:lnTo>
                  <a:pt x="1801368" y="59563"/>
                </a:lnTo>
                <a:lnTo>
                  <a:pt x="1838960" y="73152"/>
                </a:lnTo>
                <a:lnTo>
                  <a:pt x="1876044" y="88138"/>
                </a:lnTo>
                <a:lnTo>
                  <a:pt x="1912747" y="104394"/>
                </a:lnTo>
                <a:lnTo>
                  <a:pt x="1948941" y="121920"/>
                </a:lnTo>
                <a:lnTo>
                  <a:pt x="1984755" y="140716"/>
                </a:lnTo>
                <a:lnTo>
                  <a:pt x="2020189" y="160782"/>
                </a:lnTo>
                <a:lnTo>
                  <a:pt x="2054987" y="182118"/>
                </a:lnTo>
                <a:lnTo>
                  <a:pt x="2089403" y="204597"/>
                </a:lnTo>
                <a:lnTo>
                  <a:pt x="2123313" y="228346"/>
                </a:lnTo>
                <a:lnTo>
                  <a:pt x="2156587" y="253238"/>
                </a:lnTo>
                <a:lnTo>
                  <a:pt x="2189353" y="279273"/>
                </a:lnTo>
                <a:lnTo>
                  <a:pt x="2221611" y="306451"/>
                </a:lnTo>
                <a:lnTo>
                  <a:pt x="2253361" y="334772"/>
                </a:lnTo>
                <a:lnTo>
                  <a:pt x="2284476" y="364109"/>
                </a:lnTo>
                <a:lnTo>
                  <a:pt x="2314955" y="394589"/>
                </a:lnTo>
                <a:lnTo>
                  <a:pt x="2344928" y="426085"/>
                </a:lnTo>
                <a:lnTo>
                  <a:pt x="2374138" y="458597"/>
                </a:lnTo>
                <a:lnTo>
                  <a:pt x="2402840" y="492125"/>
                </a:lnTo>
                <a:lnTo>
                  <a:pt x="2430779" y="526669"/>
                </a:lnTo>
                <a:lnTo>
                  <a:pt x="2458085" y="562102"/>
                </a:lnTo>
                <a:lnTo>
                  <a:pt x="2484754" y="598551"/>
                </a:lnTo>
                <a:lnTo>
                  <a:pt x="2510790" y="636016"/>
                </a:lnTo>
                <a:lnTo>
                  <a:pt x="2535936" y="674243"/>
                </a:lnTo>
                <a:lnTo>
                  <a:pt x="2560447" y="713486"/>
                </a:lnTo>
                <a:lnTo>
                  <a:pt x="2584196" y="753618"/>
                </a:lnTo>
                <a:lnTo>
                  <a:pt x="2607310" y="794512"/>
                </a:lnTo>
                <a:lnTo>
                  <a:pt x="2629535" y="836295"/>
                </a:lnTo>
                <a:lnTo>
                  <a:pt x="2650998" y="878840"/>
                </a:lnTo>
                <a:lnTo>
                  <a:pt x="2671699" y="922147"/>
                </a:lnTo>
                <a:lnTo>
                  <a:pt x="2691511" y="966343"/>
                </a:lnTo>
                <a:lnTo>
                  <a:pt x="2710561" y="1011301"/>
                </a:lnTo>
                <a:lnTo>
                  <a:pt x="2728722" y="1056894"/>
                </a:lnTo>
                <a:lnTo>
                  <a:pt x="2745994" y="1103249"/>
                </a:lnTo>
                <a:lnTo>
                  <a:pt x="2762504" y="1150239"/>
                </a:lnTo>
                <a:lnTo>
                  <a:pt x="2778125" y="1197991"/>
                </a:lnTo>
                <a:lnTo>
                  <a:pt x="2792729" y="1246378"/>
                </a:lnTo>
                <a:lnTo>
                  <a:pt x="2806446" y="1295400"/>
                </a:lnTo>
                <a:lnTo>
                  <a:pt x="2819273" y="1344930"/>
                </a:lnTo>
                <a:lnTo>
                  <a:pt x="2831211" y="1395222"/>
                </a:lnTo>
                <a:lnTo>
                  <a:pt x="2842133" y="1446022"/>
                </a:lnTo>
                <a:lnTo>
                  <a:pt x="2852166" y="1497330"/>
                </a:lnTo>
                <a:lnTo>
                  <a:pt x="2861055" y="1549273"/>
                </a:lnTo>
                <a:lnTo>
                  <a:pt x="2869057" y="1601597"/>
                </a:lnTo>
                <a:lnTo>
                  <a:pt x="2876041" y="1654556"/>
                </a:lnTo>
                <a:lnTo>
                  <a:pt x="2881884" y="1707896"/>
                </a:lnTo>
                <a:lnTo>
                  <a:pt x="2886837" y="1761744"/>
                </a:lnTo>
                <a:lnTo>
                  <a:pt x="2890647" y="1815973"/>
                </a:lnTo>
                <a:lnTo>
                  <a:pt x="2893441" y="1870710"/>
                </a:lnTo>
                <a:lnTo>
                  <a:pt x="2895091" y="1925701"/>
                </a:lnTo>
                <a:lnTo>
                  <a:pt x="2895600" y="1981200"/>
                </a:lnTo>
                <a:lnTo>
                  <a:pt x="2895091" y="2036699"/>
                </a:lnTo>
                <a:lnTo>
                  <a:pt x="2893441" y="2091690"/>
                </a:lnTo>
                <a:lnTo>
                  <a:pt x="2890647" y="2146427"/>
                </a:lnTo>
                <a:lnTo>
                  <a:pt x="2886837" y="2200656"/>
                </a:lnTo>
                <a:lnTo>
                  <a:pt x="2881884" y="2254504"/>
                </a:lnTo>
                <a:lnTo>
                  <a:pt x="2876041" y="2307844"/>
                </a:lnTo>
                <a:lnTo>
                  <a:pt x="2869057" y="2360803"/>
                </a:lnTo>
                <a:lnTo>
                  <a:pt x="2861055" y="2413127"/>
                </a:lnTo>
                <a:lnTo>
                  <a:pt x="2852166" y="2465070"/>
                </a:lnTo>
                <a:lnTo>
                  <a:pt x="2842133" y="2516378"/>
                </a:lnTo>
                <a:lnTo>
                  <a:pt x="2831211" y="2567178"/>
                </a:lnTo>
                <a:lnTo>
                  <a:pt x="2819273" y="2617470"/>
                </a:lnTo>
                <a:lnTo>
                  <a:pt x="2806446" y="2667000"/>
                </a:lnTo>
                <a:lnTo>
                  <a:pt x="2792729" y="2716022"/>
                </a:lnTo>
                <a:lnTo>
                  <a:pt x="2778125" y="2764409"/>
                </a:lnTo>
                <a:lnTo>
                  <a:pt x="2762504" y="2812161"/>
                </a:lnTo>
                <a:lnTo>
                  <a:pt x="2745994" y="2859151"/>
                </a:lnTo>
                <a:lnTo>
                  <a:pt x="2728722" y="2905506"/>
                </a:lnTo>
                <a:lnTo>
                  <a:pt x="2710561" y="2951099"/>
                </a:lnTo>
                <a:lnTo>
                  <a:pt x="2691511" y="2996057"/>
                </a:lnTo>
                <a:lnTo>
                  <a:pt x="2671699" y="3040253"/>
                </a:lnTo>
                <a:lnTo>
                  <a:pt x="2650998" y="3083560"/>
                </a:lnTo>
                <a:lnTo>
                  <a:pt x="2629535" y="3126105"/>
                </a:lnTo>
                <a:lnTo>
                  <a:pt x="2607310" y="3167888"/>
                </a:lnTo>
                <a:lnTo>
                  <a:pt x="2584196" y="3208782"/>
                </a:lnTo>
                <a:lnTo>
                  <a:pt x="2560447" y="3248914"/>
                </a:lnTo>
                <a:lnTo>
                  <a:pt x="2535936" y="3288030"/>
                </a:lnTo>
                <a:lnTo>
                  <a:pt x="2510790" y="3326384"/>
                </a:lnTo>
                <a:lnTo>
                  <a:pt x="2484754" y="3363849"/>
                </a:lnTo>
                <a:lnTo>
                  <a:pt x="2458085" y="3400298"/>
                </a:lnTo>
                <a:lnTo>
                  <a:pt x="2430779" y="3435731"/>
                </a:lnTo>
                <a:lnTo>
                  <a:pt x="2402840" y="3470275"/>
                </a:lnTo>
                <a:lnTo>
                  <a:pt x="2374138" y="3503803"/>
                </a:lnTo>
                <a:lnTo>
                  <a:pt x="2344928" y="3536315"/>
                </a:lnTo>
                <a:lnTo>
                  <a:pt x="2314955" y="3567811"/>
                </a:lnTo>
                <a:lnTo>
                  <a:pt x="2284476" y="3598291"/>
                </a:lnTo>
                <a:lnTo>
                  <a:pt x="2253361" y="3627628"/>
                </a:lnTo>
                <a:lnTo>
                  <a:pt x="2221611" y="3655949"/>
                </a:lnTo>
                <a:lnTo>
                  <a:pt x="2189353" y="3683127"/>
                </a:lnTo>
                <a:lnTo>
                  <a:pt x="2156587" y="3709162"/>
                </a:lnTo>
                <a:lnTo>
                  <a:pt x="2123313" y="3734054"/>
                </a:lnTo>
                <a:lnTo>
                  <a:pt x="2089403" y="3757803"/>
                </a:lnTo>
                <a:lnTo>
                  <a:pt x="2054987" y="3780282"/>
                </a:lnTo>
                <a:lnTo>
                  <a:pt x="2020189" y="3801618"/>
                </a:lnTo>
                <a:lnTo>
                  <a:pt x="1984755" y="3821684"/>
                </a:lnTo>
                <a:lnTo>
                  <a:pt x="1948941" y="3840480"/>
                </a:lnTo>
                <a:lnTo>
                  <a:pt x="1912747" y="3858006"/>
                </a:lnTo>
                <a:lnTo>
                  <a:pt x="1876044" y="3874262"/>
                </a:lnTo>
                <a:lnTo>
                  <a:pt x="1838960" y="3889248"/>
                </a:lnTo>
                <a:lnTo>
                  <a:pt x="1801368" y="3902837"/>
                </a:lnTo>
                <a:lnTo>
                  <a:pt x="1763522" y="3915156"/>
                </a:lnTo>
                <a:lnTo>
                  <a:pt x="1725168" y="3926078"/>
                </a:lnTo>
                <a:lnTo>
                  <a:pt x="1686560" y="3935603"/>
                </a:lnTo>
                <a:lnTo>
                  <a:pt x="1647570" y="3943731"/>
                </a:lnTo>
                <a:lnTo>
                  <a:pt x="1608201" y="3950335"/>
                </a:lnTo>
                <a:lnTo>
                  <a:pt x="1568577" y="3955669"/>
                </a:lnTo>
                <a:lnTo>
                  <a:pt x="1528572" y="3959352"/>
                </a:lnTo>
                <a:lnTo>
                  <a:pt x="1488313" y="3961638"/>
                </a:lnTo>
                <a:lnTo>
                  <a:pt x="1447800" y="3962400"/>
                </a:lnTo>
                <a:lnTo>
                  <a:pt x="1407287" y="3961638"/>
                </a:lnTo>
                <a:lnTo>
                  <a:pt x="1367027" y="3959352"/>
                </a:lnTo>
                <a:lnTo>
                  <a:pt x="1327023" y="3955669"/>
                </a:lnTo>
                <a:lnTo>
                  <a:pt x="1287399" y="3950335"/>
                </a:lnTo>
                <a:lnTo>
                  <a:pt x="1248029" y="3943731"/>
                </a:lnTo>
                <a:lnTo>
                  <a:pt x="1209039" y="3935603"/>
                </a:lnTo>
                <a:lnTo>
                  <a:pt x="1170432" y="3926078"/>
                </a:lnTo>
                <a:lnTo>
                  <a:pt x="1132077" y="3915156"/>
                </a:lnTo>
                <a:lnTo>
                  <a:pt x="1094232" y="3902837"/>
                </a:lnTo>
                <a:lnTo>
                  <a:pt x="1056639" y="3889248"/>
                </a:lnTo>
                <a:lnTo>
                  <a:pt x="1019556" y="3874262"/>
                </a:lnTo>
                <a:lnTo>
                  <a:pt x="982852" y="3858006"/>
                </a:lnTo>
                <a:lnTo>
                  <a:pt x="946657" y="3840480"/>
                </a:lnTo>
                <a:lnTo>
                  <a:pt x="910844" y="3821684"/>
                </a:lnTo>
                <a:lnTo>
                  <a:pt x="875411" y="3801618"/>
                </a:lnTo>
                <a:lnTo>
                  <a:pt x="840613" y="3780282"/>
                </a:lnTo>
                <a:lnTo>
                  <a:pt x="806195" y="3757803"/>
                </a:lnTo>
                <a:lnTo>
                  <a:pt x="772287" y="3734054"/>
                </a:lnTo>
                <a:lnTo>
                  <a:pt x="739013" y="3709162"/>
                </a:lnTo>
                <a:lnTo>
                  <a:pt x="706247" y="3683127"/>
                </a:lnTo>
                <a:lnTo>
                  <a:pt x="673988" y="3655949"/>
                </a:lnTo>
                <a:lnTo>
                  <a:pt x="642238" y="3627628"/>
                </a:lnTo>
                <a:lnTo>
                  <a:pt x="611124" y="3598291"/>
                </a:lnTo>
                <a:lnTo>
                  <a:pt x="580644" y="3567811"/>
                </a:lnTo>
                <a:lnTo>
                  <a:pt x="550672" y="3536315"/>
                </a:lnTo>
                <a:lnTo>
                  <a:pt x="521462" y="3503803"/>
                </a:lnTo>
                <a:lnTo>
                  <a:pt x="492760" y="3470275"/>
                </a:lnTo>
                <a:lnTo>
                  <a:pt x="464819" y="3435731"/>
                </a:lnTo>
                <a:lnTo>
                  <a:pt x="437514" y="3400298"/>
                </a:lnTo>
                <a:lnTo>
                  <a:pt x="410844" y="3363849"/>
                </a:lnTo>
                <a:lnTo>
                  <a:pt x="384810" y="3326384"/>
                </a:lnTo>
                <a:lnTo>
                  <a:pt x="359663" y="3288030"/>
                </a:lnTo>
                <a:lnTo>
                  <a:pt x="335152" y="3248914"/>
                </a:lnTo>
                <a:lnTo>
                  <a:pt x="311404" y="3208782"/>
                </a:lnTo>
                <a:lnTo>
                  <a:pt x="288289" y="3167888"/>
                </a:lnTo>
                <a:lnTo>
                  <a:pt x="266064" y="3126105"/>
                </a:lnTo>
                <a:lnTo>
                  <a:pt x="244601" y="3083560"/>
                </a:lnTo>
                <a:lnTo>
                  <a:pt x="223900" y="3040253"/>
                </a:lnTo>
                <a:lnTo>
                  <a:pt x="204088" y="2996057"/>
                </a:lnTo>
                <a:lnTo>
                  <a:pt x="185038" y="2951099"/>
                </a:lnTo>
                <a:lnTo>
                  <a:pt x="166878" y="2905506"/>
                </a:lnTo>
                <a:lnTo>
                  <a:pt x="149606" y="2859151"/>
                </a:lnTo>
                <a:lnTo>
                  <a:pt x="133096" y="2812161"/>
                </a:lnTo>
                <a:lnTo>
                  <a:pt x="117475" y="2764409"/>
                </a:lnTo>
                <a:lnTo>
                  <a:pt x="102869" y="2716022"/>
                </a:lnTo>
                <a:lnTo>
                  <a:pt x="89153" y="2667000"/>
                </a:lnTo>
                <a:lnTo>
                  <a:pt x="76200" y="2617470"/>
                </a:lnTo>
                <a:lnTo>
                  <a:pt x="64388" y="2567178"/>
                </a:lnTo>
                <a:lnTo>
                  <a:pt x="53466" y="2516378"/>
                </a:lnTo>
                <a:lnTo>
                  <a:pt x="43434" y="2465070"/>
                </a:lnTo>
                <a:lnTo>
                  <a:pt x="34543" y="2413127"/>
                </a:lnTo>
                <a:lnTo>
                  <a:pt x="26543" y="2360803"/>
                </a:lnTo>
                <a:lnTo>
                  <a:pt x="19558" y="2307844"/>
                </a:lnTo>
                <a:lnTo>
                  <a:pt x="13715" y="2254504"/>
                </a:lnTo>
                <a:lnTo>
                  <a:pt x="8762" y="2200656"/>
                </a:lnTo>
                <a:lnTo>
                  <a:pt x="4953" y="2146427"/>
                </a:lnTo>
                <a:lnTo>
                  <a:pt x="2159" y="2091690"/>
                </a:lnTo>
                <a:lnTo>
                  <a:pt x="508" y="2036699"/>
                </a:lnTo>
                <a:lnTo>
                  <a:pt x="0" y="19812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68"/>
          <p:cNvSpPr txBox="1"/>
          <p:nvPr/>
        </p:nvSpPr>
        <p:spPr>
          <a:xfrm>
            <a:off x="1905000" y="1857755"/>
            <a:ext cx="990600" cy="53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8"/>
          <p:cNvSpPr txBox="1"/>
          <p:nvPr/>
        </p:nvSpPr>
        <p:spPr>
          <a:xfrm>
            <a:off x="1752600" y="3000755"/>
            <a:ext cx="914400" cy="91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68"/>
          <p:cNvSpPr txBox="1"/>
          <p:nvPr/>
        </p:nvSpPr>
        <p:spPr>
          <a:xfrm>
            <a:off x="3200400" y="2467355"/>
            <a:ext cx="914400" cy="38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31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8"/>
          <p:cNvSpPr txBox="1"/>
          <p:nvPr/>
        </p:nvSpPr>
        <p:spPr>
          <a:xfrm>
            <a:off x="3124200" y="3457955"/>
            <a:ext cx="914400" cy="53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8100">
            <a:spAutoFit/>
          </a:bodyPr>
          <a:lstStyle/>
          <a:p>
            <a:pPr indent="0" lvl="0" marL="31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6" name="Google Shape;546;p68"/>
          <p:cNvGraphicFramePr/>
          <p:nvPr/>
        </p:nvGraphicFramePr>
        <p:xfrm>
          <a:off x="5629465" y="11626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43000"/>
              </a:tblGrid>
              <a:tr h="533400">
                <a:tc>
                  <a:txBody>
                    <a:bodyPr/>
                    <a:lstStyle/>
                    <a:p>
                      <a:pPr indent="0" lvl="0" marL="469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568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473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05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473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06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73075" marR="0" rtl="0" algn="l">
                        <a:lnSpc>
                          <a:spcPct val="100000"/>
                        </a:lnSpc>
                        <a:spcBef>
                          <a:spcPts val="12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547" name="Google Shape;547;p68"/>
          <p:cNvSpPr txBox="1"/>
          <p:nvPr/>
        </p:nvSpPr>
        <p:spPr>
          <a:xfrm>
            <a:off x="2101723" y="5279593"/>
            <a:ext cx="526224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space	physical memory space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68"/>
          <p:cNvSpPr txBox="1"/>
          <p:nvPr/>
        </p:nvSpPr>
        <p:spPr>
          <a:xfrm>
            <a:off x="535635" y="5872683"/>
            <a:ext cx="756856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term scheduler finds and allocates memory for all segments of a program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size partition scheme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8"/>
          <p:cNvSpPr txBox="1"/>
          <p:nvPr/>
        </p:nvSpPr>
        <p:spPr>
          <a:xfrm>
            <a:off x="840435" y="4797679"/>
            <a:ext cx="741680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 address  space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68"/>
          <p:cNvSpPr txBox="1"/>
          <p:nvPr/>
        </p:nvSpPr>
        <p:spPr>
          <a:xfrm>
            <a:off x="192430" y="852932"/>
            <a:ext cx="4319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	&lt;segment-number, offset&gt;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84" y="1410461"/>
            <a:ext cx="7763256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75" y="1419225"/>
            <a:ext cx="7696961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1"/>
          <p:cNvSpPr txBox="1"/>
          <p:nvPr>
            <p:ph type="title"/>
          </p:nvPr>
        </p:nvSpPr>
        <p:spPr>
          <a:xfrm>
            <a:off x="2756154" y="150621"/>
            <a:ext cx="346837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Memory image</a:t>
            </a:r>
            <a:endParaRPr sz="4400"/>
          </a:p>
        </p:txBody>
      </p:sp>
      <p:pic>
        <p:nvPicPr>
          <p:cNvPr id="566" name="Google Shape;56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2391" y="1673732"/>
            <a:ext cx="3721608" cy="213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99" y="990600"/>
            <a:ext cx="4912868" cy="264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311" y="4034040"/>
            <a:ext cx="5564378" cy="177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2"/>
          <p:cNvSpPr txBox="1"/>
          <p:nvPr>
            <p:ph type="title"/>
          </p:nvPr>
        </p:nvSpPr>
        <p:spPr>
          <a:xfrm>
            <a:off x="688644" y="426212"/>
            <a:ext cx="776287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Executable file and virtual address</a:t>
            </a:r>
            <a:endParaRPr sz="4400"/>
          </a:p>
        </p:txBody>
      </p:sp>
      <p:sp>
        <p:nvSpPr>
          <p:cNvPr id="574" name="Google Shape;574;p72"/>
          <p:cNvSpPr/>
          <p:nvPr/>
        </p:nvSpPr>
        <p:spPr>
          <a:xfrm>
            <a:off x="1671066" y="1614677"/>
            <a:ext cx="1143000" cy="1432560"/>
          </a:xfrm>
          <a:custGeom>
            <a:rect b="b" l="l" r="r" t="t"/>
            <a:pathLst>
              <a:path extrusionOk="0" h="1432560" w="1143000">
                <a:moveTo>
                  <a:pt x="1143000" y="238760"/>
                </a:moveTo>
                <a:lnTo>
                  <a:pt x="1127886" y="293497"/>
                </a:lnTo>
                <a:lnTo>
                  <a:pt x="1084960" y="343788"/>
                </a:lnTo>
                <a:lnTo>
                  <a:pt x="1053972" y="366775"/>
                </a:lnTo>
                <a:lnTo>
                  <a:pt x="1017396" y="388112"/>
                </a:lnTo>
                <a:lnTo>
                  <a:pt x="975613" y="407543"/>
                </a:lnTo>
                <a:lnTo>
                  <a:pt x="928877" y="425069"/>
                </a:lnTo>
                <a:lnTo>
                  <a:pt x="877823" y="440309"/>
                </a:lnTo>
                <a:lnTo>
                  <a:pt x="822832" y="453263"/>
                </a:lnTo>
                <a:lnTo>
                  <a:pt x="764285" y="463550"/>
                </a:lnTo>
                <a:lnTo>
                  <a:pt x="702563" y="471170"/>
                </a:lnTo>
                <a:lnTo>
                  <a:pt x="638175" y="475869"/>
                </a:lnTo>
                <a:lnTo>
                  <a:pt x="571500" y="477520"/>
                </a:lnTo>
                <a:lnTo>
                  <a:pt x="504825" y="475869"/>
                </a:lnTo>
                <a:lnTo>
                  <a:pt x="440435" y="471170"/>
                </a:lnTo>
                <a:lnTo>
                  <a:pt x="378713" y="463550"/>
                </a:lnTo>
                <a:lnTo>
                  <a:pt x="320166" y="453263"/>
                </a:lnTo>
                <a:lnTo>
                  <a:pt x="265175" y="440309"/>
                </a:lnTo>
                <a:lnTo>
                  <a:pt x="214121" y="425069"/>
                </a:lnTo>
                <a:lnTo>
                  <a:pt x="167385" y="407543"/>
                </a:lnTo>
                <a:lnTo>
                  <a:pt x="125602" y="388112"/>
                </a:lnTo>
                <a:lnTo>
                  <a:pt x="89026" y="366775"/>
                </a:lnTo>
                <a:lnTo>
                  <a:pt x="58038" y="343788"/>
                </a:lnTo>
                <a:lnTo>
                  <a:pt x="15112" y="293497"/>
                </a:lnTo>
                <a:lnTo>
                  <a:pt x="3809" y="266573"/>
                </a:lnTo>
                <a:lnTo>
                  <a:pt x="0" y="238760"/>
                </a:lnTo>
              </a:path>
              <a:path extrusionOk="0" h="1432560" w="1143000">
                <a:moveTo>
                  <a:pt x="0" y="238760"/>
                </a:moveTo>
                <a:lnTo>
                  <a:pt x="15112" y="184023"/>
                </a:lnTo>
                <a:lnTo>
                  <a:pt x="58038" y="133731"/>
                </a:lnTo>
                <a:lnTo>
                  <a:pt x="89026" y="110744"/>
                </a:lnTo>
                <a:lnTo>
                  <a:pt x="125602" y="89408"/>
                </a:lnTo>
                <a:lnTo>
                  <a:pt x="167385" y="69976"/>
                </a:lnTo>
                <a:lnTo>
                  <a:pt x="214121" y="52450"/>
                </a:lnTo>
                <a:lnTo>
                  <a:pt x="265175" y="37211"/>
                </a:lnTo>
                <a:lnTo>
                  <a:pt x="320166" y="24257"/>
                </a:lnTo>
                <a:lnTo>
                  <a:pt x="378713" y="13970"/>
                </a:lnTo>
                <a:lnTo>
                  <a:pt x="440435" y="6350"/>
                </a:lnTo>
                <a:lnTo>
                  <a:pt x="504825" y="1650"/>
                </a:lnTo>
                <a:lnTo>
                  <a:pt x="571500" y="0"/>
                </a:lnTo>
                <a:lnTo>
                  <a:pt x="638175" y="1650"/>
                </a:lnTo>
                <a:lnTo>
                  <a:pt x="702563" y="6350"/>
                </a:lnTo>
                <a:lnTo>
                  <a:pt x="764285" y="13970"/>
                </a:lnTo>
                <a:lnTo>
                  <a:pt x="822832" y="24257"/>
                </a:lnTo>
                <a:lnTo>
                  <a:pt x="877823" y="37211"/>
                </a:lnTo>
                <a:lnTo>
                  <a:pt x="928877" y="52450"/>
                </a:lnTo>
                <a:lnTo>
                  <a:pt x="975613" y="69976"/>
                </a:lnTo>
                <a:lnTo>
                  <a:pt x="1017396" y="89408"/>
                </a:lnTo>
                <a:lnTo>
                  <a:pt x="1053972" y="110744"/>
                </a:lnTo>
                <a:lnTo>
                  <a:pt x="1084960" y="133731"/>
                </a:lnTo>
                <a:lnTo>
                  <a:pt x="1127886" y="184023"/>
                </a:lnTo>
                <a:lnTo>
                  <a:pt x="1143000" y="238760"/>
                </a:lnTo>
                <a:lnTo>
                  <a:pt x="1143000" y="1193800"/>
                </a:lnTo>
                <a:lnTo>
                  <a:pt x="1127886" y="1248537"/>
                </a:lnTo>
                <a:lnTo>
                  <a:pt x="1084960" y="1298829"/>
                </a:lnTo>
                <a:lnTo>
                  <a:pt x="1053972" y="1321816"/>
                </a:lnTo>
                <a:lnTo>
                  <a:pt x="1017396" y="1343152"/>
                </a:lnTo>
                <a:lnTo>
                  <a:pt x="975613" y="1362583"/>
                </a:lnTo>
                <a:lnTo>
                  <a:pt x="928877" y="1380109"/>
                </a:lnTo>
                <a:lnTo>
                  <a:pt x="877823" y="1395349"/>
                </a:lnTo>
                <a:lnTo>
                  <a:pt x="822832" y="1408302"/>
                </a:lnTo>
                <a:lnTo>
                  <a:pt x="764285" y="1418589"/>
                </a:lnTo>
                <a:lnTo>
                  <a:pt x="702563" y="1426210"/>
                </a:lnTo>
                <a:lnTo>
                  <a:pt x="638175" y="1430909"/>
                </a:lnTo>
                <a:lnTo>
                  <a:pt x="571500" y="1432560"/>
                </a:lnTo>
                <a:lnTo>
                  <a:pt x="504825" y="1430909"/>
                </a:lnTo>
                <a:lnTo>
                  <a:pt x="440435" y="1426210"/>
                </a:lnTo>
                <a:lnTo>
                  <a:pt x="378713" y="1418589"/>
                </a:lnTo>
                <a:lnTo>
                  <a:pt x="320166" y="1408302"/>
                </a:lnTo>
                <a:lnTo>
                  <a:pt x="265175" y="1395349"/>
                </a:lnTo>
                <a:lnTo>
                  <a:pt x="214121" y="1380109"/>
                </a:lnTo>
                <a:lnTo>
                  <a:pt x="167385" y="1362583"/>
                </a:lnTo>
                <a:lnTo>
                  <a:pt x="125602" y="1343152"/>
                </a:lnTo>
                <a:lnTo>
                  <a:pt x="89026" y="1321816"/>
                </a:lnTo>
                <a:lnTo>
                  <a:pt x="58038" y="1298829"/>
                </a:lnTo>
                <a:lnTo>
                  <a:pt x="15112" y="1248537"/>
                </a:lnTo>
                <a:lnTo>
                  <a:pt x="0" y="1193800"/>
                </a:lnTo>
                <a:lnTo>
                  <a:pt x="0" y="238760"/>
                </a:lnTo>
                <a:close/>
              </a:path>
            </a:pathLst>
          </a:custGeom>
          <a:noFill/>
          <a:ln cap="flat" cmpd="sng" w="25900">
            <a:solidFill>
              <a:srgbClr val="385D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72"/>
          <p:cNvSpPr txBox="1"/>
          <p:nvPr/>
        </p:nvSpPr>
        <p:spPr>
          <a:xfrm>
            <a:off x="5791961" y="1981961"/>
            <a:ext cx="1981200" cy="3657600"/>
          </a:xfrm>
          <a:prstGeom prst="rect">
            <a:avLst/>
          </a:prstGeom>
          <a:noFill/>
          <a:ln cap="flat" cmpd="sng" w="25900">
            <a:solidFill>
              <a:srgbClr val="385D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68275" marR="423544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address  space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72"/>
          <p:cNvSpPr txBox="1"/>
          <p:nvPr/>
        </p:nvSpPr>
        <p:spPr>
          <a:xfrm>
            <a:off x="611835" y="2219071"/>
            <a:ext cx="5105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a.out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7" name="Google Shape;577;p72"/>
          <p:cNvGraphicFramePr/>
          <p:nvPr/>
        </p:nvGraphicFramePr>
        <p:xfrm>
          <a:off x="3340100" y="1282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104900"/>
                <a:gridCol w="1104900"/>
              </a:tblGrid>
              <a:tr h="365750">
                <a:tc gridSpan="2"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Symbol table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B"/>
                    </a:solidFill>
                  </a:tcPr>
                </a:tc>
                <a:tc hMerge="1"/>
              </a:tr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52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6E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6E8"/>
                    </a:solidFill>
                  </a:tcPr>
                </a:tc>
              </a:tr>
            </a:tbl>
          </a:graphicData>
        </a:graphic>
      </p:graphicFrame>
      <p:sp>
        <p:nvSpPr>
          <p:cNvPr id="578" name="Google Shape;578;p72"/>
          <p:cNvSpPr/>
          <p:nvPr/>
        </p:nvSpPr>
        <p:spPr>
          <a:xfrm>
            <a:off x="762000" y="3621023"/>
            <a:ext cx="2286000" cy="646430"/>
          </a:xfrm>
          <a:custGeom>
            <a:rect b="b" l="l" r="r" t="t"/>
            <a:pathLst>
              <a:path extrusionOk="0" h="646429" w="2286000">
                <a:moveTo>
                  <a:pt x="0" y="646176"/>
                </a:moveTo>
                <a:lnTo>
                  <a:pt x="2286000" y="646176"/>
                </a:lnTo>
                <a:lnTo>
                  <a:pt x="2286000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noFill/>
          <a:ln cap="flat" cmpd="sng" w="9525">
            <a:solidFill>
              <a:srgbClr val="4F8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72"/>
          <p:cNvSpPr txBox="1"/>
          <p:nvPr/>
        </p:nvSpPr>
        <p:spPr>
          <a:xfrm>
            <a:off x="853135" y="3624529"/>
            <a:ext cx="12890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72"/>
          <p:cNvSpPr txBox="1"/>
          <p:nvPr/>
        </p:nvSpPr>
        <p:spPr>
          <a:xfrm>
            <a:off x="1767839" y="3624529"/>
            <a:ext cx="45974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72"/>
          <p:cNvSpPr txBox="1"/>
          <p:nvPr/>
        </p:nvSpPr>
        <p:spPr>
          <a:xfrm>
            <a:off x="2682239" y="3624529"/>
            <a:ext cx="12890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2"/>
          <p:cNvSpPr/>
          <p:nvPr/>
        </p:nvSpPr>
        <p:spPr>
          <a:xfrm>
            <a:off x="685800" y="4840223"/>
            <a:ext cx="4419600" cy="646430"/>
          </a:xfrm>
          <a:custGeom>
            <a:rect b="b" l="l" r="r" t="t"/>
            <a:pathLst>
              <a:path extrusionOk="0" h="646429" w="4419600">
                <a:moveTo>
                  <a:pt x="0" y="646176"/>
                </a:moveTo>
                <a:lnTo>
                  <a:pt x="4419600" y="646176"/>
                </a:lnTo>
                <a:lnTo>
                  <a:pt x="4419600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noFill/>
          <a:ln cap="flat" cmpd="sng" w="9525">
            <a:solidFill>
              <a:srgbClr val="4F81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72"/>
          <p:cNvSpPr txBox="1"/>
          <p:nvPr/>
        </p:nvSpPr>
        <p:spPr>
          <a:xfrm>
            <a:off x="776935" y="4844542"/>
            <a:ext cx="97281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&lt;CODE, 0&gt;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&lt;CODE, 2&gt;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72"/>
          <p:cNvSpPr txBox="1"/>
          <p:nvPr/>
        </p:nvSpPr>
        <p:spPr>
          <a:xfrm>
            <a:off x="2606039" y="4844542"/>
            <a:ext cx="45974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 ADD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72"/>
          <p:cNvSpPr txBox="1"/>
          <p:nvPr/>
        </p:nvSpPr>
        <p:spPr>
          <a:xfrm>
            <a:off x="3521075" y="4844542"/>
            <a:ext cx="5810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&lt;ST,0&gt;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&lt;ST,4&gt;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72"/>
          <p:cNvSpPr txBox="1"/>
          <p:nvPr/>
        </p:nvSpPr>
        <p:spPr>
          <a:xfrm>
            <a:off x="1297939" y="3216021"/>
            <a:ext cx="11036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Paging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72"/>
          <p:cNvSpPr txBox="1"/>
          <p:nvPr/>
        </p:nvSpPr>
        <p:spPr>
          <a:xfrm>
            <a:off x="1450339" y="4435855"/>
            <a:ext cx="18338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/>
          <p:nvPr>
            <p:ph type="title"/>
          </p:nvPr>
        </p:nvSpPr>
        <p:spPr>
          <a:xfrm>
            <a:off x="1951482" y="183642"/>
            <a:ext cx="554736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Architecture</a:t>
            </a:r>
            <a:endParaRPr/>
          </a:p>
        </p:txBody>
      </p:sp>
      <p:sp>
        <p:nvSpPr>
          <p:cNvPr id="593" name="Google Shape;593;p73"/>
          <p:cNvSpPr txBox="1"/>
          <p:nvPr/>
        </p:nvSpPr>
        <p:spPr>
          <a:xfrm>
            <a:off x="383235" y="1151001"/>
            <a:ext cx="7994650" cy="524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consists of a two tuple: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427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&lt;segment-number, offset&gt;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95925"/>
              </a:lnSpc>
              <a:spcBef>
                <a:spcPts val="1540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Segment table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maps two-dimensional logical address  to physical address;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370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table entry has: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466090" rtl="0" algn="l">
              <a:lnSpc>
                <a:spcPct val="108750"/>
              </a:lnSpc>
              <a:spcBef>
                <a:spcPts val="18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base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contains the starting physical address where the  segments reside in memory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limit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specifies the length of the segment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845185" rtl="0" algn="l">
              <a:lnSpc>
                <a:spcPct val="96296"/>
              </a:lnSpc>
              <a:spcBef>
                <a:spcPts val="1520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Segment-table base register (STBR)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points to the  segment table’s location in memory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7145" rtl="0" algn="l">
              <a:lnSpc>
                <a:spcPct val="95925"/>
              </a:lnSpc>
              <a:spcBef>
                <a:spcPts val="1505"/>
              </a:spcBef>
              <a:spcAft>
                <a:spcPts val="0"/>
              </a:spcAft>
              <a:buClr>
                <a:srgbClr val="3366FF"/>
              </a:buClr>
              <a:buSzPts val="2700"/>
              <a:buFont typeface="Arial"/>
              <a:buChar char="•"/>
            </a:pPr>
            <a:r>
              <a:rPr b="1" lang="en-US" sz="2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Segment-table length register (STLR)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number  of segments used by a program;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57679" marR="0" rtl="0" algn="l">
              <a:lnSpc>
                <a:spcPct val="118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number </a:t>
            </a:r>
            <a:r>
              <a:rPr b="1" i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legal if </a:t>
            </a:r>
            <a:r>
              <a:rPr b="1" i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</a:t>
            </a:r>
            <a:r>
              <a:rPr b="1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STLR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4"/>
          <p:cNvSpPr txBox="1"/>
          <p:nvPr>
            <p:ph type="title"/>
          </p:nvPr>
        </p:nvSpPr>
        <p:spPr>
          <a:xfrm>
            <a:off x="2085594" y="183642"/>
            <a:ext cx="52832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Segmentation</a:t>
            </a:r>
            <a:endParaRPr/>
          </a:p>
        </p:txBody>
      </p:sp>
      <p:pic>
        <p:nvPicPr>
          <p:cNvPr id="599" name="Google Shape;59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4855" y="1075931"/>
            <a:ext cx="5750052" cy="5012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5"/>
          <p:cNvSpPr txBox="1"/>
          <p:nvPr>
            <p:ph type="title"/>
          </p:nvPr>
        </p:nvSpPr>
        <p:spPr>
          <a:xfrm>
            <a:off x="1803019" y="426212"/>
            <a:ext cx="552640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Segmentation Hardware</a:t>
            </a:r>
            <a:endParaRPr sz="4400"/>
          </a:p>
        </p:txBody>
      </p:sp>
      <p:pic>
        <p:nvPicPr>
          <p:cNvPr id="605" name="Google Shape;60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5" y="1469136"/>
            <a:ext cx="6922008" cy="4855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6"/>
          <p:cNvSpPr txBox="1"/>
          <p:nvPr>
            <p:ph type="title"/>
          </p:nvPr>
        </p:nvSpPr>
        <p:spPr>
          <a:xfrm>
            <a:off x="2085594" y="183642"/>
            <a:ext cx="52832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Segmentation</a:t>
            </a:r>
            <a:endParaRPr/>
          </a:p>
        </p:txBody>
      </p:sp>
      <p:pic>
        <p:nvPicPr>
          <p:cNvPr id="611" name="Google Shape;61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4855" y="1075931"/>
            <a:ext cx="5750052" cy="5012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7"/>
          <p:cNvSpPr txBox="1"/>
          <p:nvPr>
            <p:ph type="title"/>
          </p:nvPr>
        </p:nvSpPr>
        <p:spPr>
          <a:xfrm>
            <a:off x="1991360" y="183642"/>
            <a:ext cx="554736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Architecture</a:t>
            </a:r>
            <a:endParaRPr/>
          </a:p>
        </p:txBody>
      </p:sp>
      <p:sp>
        <p:nvSpPr>
          <p:cNvPr id="617" name="Google Shape;617;p77"/>
          <p:cNvSpPr txBox="1"/>
          <p:nvPr/>
        </p:nvSpPr>
        <p:spPr>
          <a:xfrm>
            <a:off x="383235" y="1366357"/>
            <a:ext cx="8293734" cy="49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 bits associated with segments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each entry in segment table associate: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bit = 0 </a:t>
            </a:r>
            <a:r>
              <a:rPr b="0" i="0" lang="en-US" sz="22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illegal segment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read/write/execute privileges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sharing occurs at segment level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6333"/>
              </a:lnSpc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segments vary in length, memory allocation is  a dynamic storage-allocation problem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term scheduler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fit, best fit etc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Fragmentation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8"/>
          <p:cNvSpPr txBox="1"/>
          <p:nvPr>
            <p:ph type="title"/>
          </p:nvPr>
        </p:nvSpPr>
        <p:spPr>
          <a:xfrm>
            <a:off x="2184654" y="183642"/>
            <a:ext cx="537972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with Paging</a:t>
            </a:r>
            <a:endParaRPr/>
          </a:p>
        </p:txBody>
      </p:sp>
      <p:sp>
        <p:nvSpPr>
          <p:cNvPr id="623" name="Google Shape;623;p78"/>
          <p:cNvSpPr txBox="1"/>
          <p:nvPr/>
        </p:nvSpPr>
        <p:spPr>
          <a:xfrm>
            <a:off x="383235" y="1115604"/>
            <a:ext cx="7729220" cy="2360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idea: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Segments are splitted into multiple pages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page is loaded into frames in the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9"/>
          <p:cNvSpPr txBox="1"/>
          <p:nvPr>
            <p:ph type="title"/>
          </p:nvPr>
        </p:nvSpPr>
        <p:spPr>
          <a:xfrm>
            <a:off x="2184654" y="183642"/>
            <a:ext cx="537972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with Paging</a:t>
            </a:r>
            <a:endParaRPr/>
          </a:p>
        </p:txBody>
      </p:sp>
      <p:sp>
        <p:nvSpPr>
          <p:cNvPr id="629" name="Google Shape;629;p79"/>
          <p:cNvSpPr txBox="1"/>
          <p:nvPr/>
        </p:nvSpPr>
        <p:spPr>
          <a:xfrm>
            <a:off x="383235" y="1172083"/>
            <a:ext cx="7632700" cy="402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segmentation with paging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segment can be 4 GB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16 K segments per process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&lt;selector(16), offset (32)&gt;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Divided into two partitions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55700" marR="255904" rtl="0" algn="l">
              <a:lnSpc>
                <a:spcPct val="78800"/>
              </a:lnSpc>
              <a:spcBef>
                <a:spcPts val="45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partition of up to 8 K segments are private to process (kept in </a:t>
            </a:r>
            <a:r>
              <a:rPr b="1" i="0" lang="en-US" sz="17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local  descriptor table LDT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9588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partition of up to 8K segments shared among all processes (kept 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55700" marR="0" rtl="0" algn="l">
              <a:lnSpc>
                <a:spcPct val="11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global descriptor table GDT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generates logical address (six Segment Reg.)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75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to segmentation unit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1882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produces linear addresses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address 32 bits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79"/>
          <p:cNvSpPr txBox="1"/>
          <p:nvPr/>
        </p:nvSpPr>
        <p:spPr>
          <a:xfrm>
            <a:off x="840435" y="5202173"/>
            <a:ext cx="38747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address given to paging unit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79"/>
          <p:cNvSpPr txBox="1"/>
          <p:nvPr/>
        </p:nvSpPr>
        <p:spPr>
          <a:xfrm>
            <a:off x="1297939" y="5510276"/>
            <a:ext cx="4641215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generates physical address in main memory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Paging units form equivalent of MMU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sizes can be 4 KB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79"/>
          <p:cNvSpPr txBox="1"/>
          <p:nvPr/>
        </p:nvSpPr>
        <p:spPr>
          <a:xfrm>
            <a:off x="7221473" y="5197551"/>
            <a:ext cx="106045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80386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79"/>
          <p:cNvSpPr txBox="1"/>
          <p:nvPr/>
        </p:nvSpPr>
        <p:spPr>
          <a:xfrm>
            <a:off x="7221473" y="5747105"/>
            <a:ext cx="903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OS/2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4" name="Google Shape;634;p79"/>
          <p:cNvGraphicFramePr/>
          <p:nvPr/>
        </p:nvGraphicFramePr>
        <p:xfrm>
          <a:off x="5549900" y="1892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965200"/>
                <a:gridCol w="965200"/>
                <a:gridCol w="965200"/>
              </a:tblGrid>
              <a:tr h="37085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S(13)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G(1)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P(2)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80"/>
          <p:cNvSpPr txBox="1"/>
          <p:nvPr>
            <p:ph type="ctrTitle"/>
          </p:nvPr>
        </p:nvSpPr>
        <p:spPr>
          <a:xfrm>
            <a:off x="2541269" y="169925"/>
            <a:ext cx="406146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6699" lvl="0" marL="92646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to Physical Address  Translation in Pentium</a:t>
            </a:r>
            <a:endParaRPr/>
          </a:p>
        </p:txBody>
      </p:sp>
      <p:pic>
        <p:nvPicPr>
          <p:cNvPr id="640" name="Google Shape;64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3144" y="4409122"/>
            <a:ext cx="5806439" cy="118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896" y="2179320"/>
            <a:ext cx="7039356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0"/>
          <p:cNvSpPr txBox="1"/>
          <p:nvPr/>
        </p:nvSpPr>
        <p:spPr>
          <a:xfrm>
            <a:off x="4855464" y="3280664"/>
            <a:ext cx="14103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table=2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191767"/>
            <a:ext cx="7010400" cy="543763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1"/>
          <p:cNvSpPr txBox="1"/>
          <p:nvPr>
            <p:ph type="title"/>
          </p:nvPr>
        </p:nvSpPr>
        <p:spPr>
          <a:xfrm>
            <a:off x="2050542" y="183642"/>
            <a:ext cx="56470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The Intel Pentium</a:t>
            </a:r>
            <a:endParaRPr/>
          </a:p>
        </p:txBody>
      </p:sp>
      <p:sp>
        <p:nvSpPr>
          <p:cNvPr id="649" name="Google Shape;649;p81"/>
          <p:cNvSpPr txBox="1"/>
          <p:nvPr/>
        </p:nvSpPr>
        <p:spPr>
          <a:xfrm>
            <a:off x="2898775" y="2137409"/>
            <a:ext cx="6807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bytes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81"/>
          <p:cNvGrpSpPr/>
          <p:nvPr/>
        </p:nvGrpSpPr>
        <p:grpSpPr>
          <a:xfrm>
            <a:off x="2590800" y="1524000"/>
            <a:ext cx="4196969" cy="845692"/>
            <a:chOff x="2590800" y="1524000"/>
            <a:chExt cx="4196969" cy="845692"/>
          </a:xfrm>
        </p:grpSpPr>
        <p:pic>
          <p:nvPicPr>
            <p:cNvPr id="651" name="Google Shape;651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90800" y="2266316"/>
              <a:ext cx="228600" cy="103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2" name="Google Shape;652;p8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48100" y="2266316"/>
              <a:ext cx="190500" cy="103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81"/>
            <p:cNvSpPr/>
            <p:nvPr/>
          </p:nvSpPr>
          <p:spPr>
            <a:xfrm>
              <a:off x="6487414" y="1546478"/>
              <a:ext cx="300355" cy="589915"/>
            </a:xfrm>
            <a:custGeom>
              <a:rect b="b" l="l" r="r" t="t"/>
              <a:pathLst>
                <a:path extrusionOk="0" h="589914" w="300354">
                  <a:moveTo>
                    <a:pt x="762" y="0"/>
                  </a:moveTo>
                  <a:lnTo>
                    <a:pt x="0" y="12446"/>
                  </a:lnTo>
                  <a:lnTo>
                    <a:pt x="288670" y="589915"/>
                  </a:lnTo>
                  <a:lnTo>
                    <a:pt x="300101" y="584326"/>
                  </a:lnTo>
                  <a:lnTo>
                    <a:pt x="11430" y="685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4" name="Google Shape;654;p8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70396" y="1524000"/>
              <a:ext cx="93345" cy="1057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5" name="Google Shape;655;p81"/>
          <p:cNvSpPr txBox="1"/>
          <p:nvPr/>
        </p:nvSpPr>
        <p:spPr>
          <a:xfrm>
            <a:off x="6328409" y="2213609"/>
            <a:ext cx="1577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 register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2"/>
          <p:cNvSpPr txBox="1"/>
          <p:nvPr>
            <p:ph type="title"/>
          </p:nvPr>
        </p:nvSpPr>
        <p:spPr>
          <a:xfrm>
            <a:off x="2053844" y="183642"/>
            <a:ext cx="57550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Intel Pentium Segmentation</a:t>
            </a:r>
            <a:endParaRPr/>
          </a:p>
        </p:txBody>
      </p:sp>
      <p:pic>
        <p:nvPicPr>
          <p:cNvPr id="661" name="Google Shape;66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11" y="1569758"/>
            <a:ext cx="7260336" cy="439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3"/>
          <p:cNvSpPr txBox="1"/>
          <p:nvPr>
            <p:ph type="title"/>
          </p:nvPr>
        </p:nvSpPr>
        <p:spPr>
          <a:xfrm>
            <a:off x="1806955" y="183642"/>
            <a:ext cx="58737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Pentium Paging Architecture</a:t>
            </a:r>
            <a:endParaRPr/>
          </a:p>
        </p:txBody>
      </p:sp>
      <p:pic>
        <p:nvPicPr>
          <p:cNvPr id="667" name="Google Shape;66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523" y="1219200"/>
            <a:ext cx="5119116" cy="4994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4"/>
          <p:cNvSpPr txBox="1"/>
          <p:nvPr>
            <p:ph type="title"/>
          </p:nvPr>
        </p:nvSpPr>
        <p:spPr>
          <a:xfrm>
            <a:off x="2590038" y="1913331"/>
            <a:ext cx="3605529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Virtual Memory</a:t>
            </a:r>
            <a:endParaRPr sz="44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5"/>
          <p:cNvSpPr txBox="1"/>
          <p:nvPr>
            <p:ph type="title"/>
          </p:nvPr>
        </p:nvSpPr>
        <p:spPr>
          <a:xfrm>
            <a:off x="3213354" y="426212"/>
            <a:ext cx="271272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Background</a:t>
            </a:r>
            <a:endParaRPr sz="4400"/>
          </a:p>
        </p:txBody>
      </p:sp>
      <p:sp>
        <p:nvSpPr>
          <p:cNvPr id="678" name="Google Shape;678;p85"/>
          <p:cNvSpPr txBox="1"/>
          <p:nvPr/>
        </p:nvSpPr>
        <p:spPr>
          <a:xfrm>
            <a:off x="307035" y="1292097"/>
            <a:ext cx="8044815" cy="516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3917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needs to be in memory to execute, but  entire program rarely used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48895" rtl="0" algn="r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code, unusual routines, large data structures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342265" marR="69215" rtl="0" algn="r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program code not needed at same time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65151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ability to execute partially-loaded  program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no longer constrained by limits of physical  memory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programs could be larger than physical memory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756285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processes can be accommodated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6"/>
          <p:cNvSpPr txBox="1"/>
          <p:nvPr>
            <p:ph type="title"/>
          </p:nvPr>
        </p:nvSpPr>
        <p:spPr>
          <a:xfrm>
            <a:off x="3081654" y="16890"/>
            <a:ext cx="379412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1592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Virtual Memory That is  Larger Than Physical Memory</a:t>
            </a:r>
            <a:endParaRPr sz="2500"/>
          </a:p>
        </p:txBody>
      </p:sp>
      <p:pic>
        <p:nvPicPr>
          <p:cNvPr id="684" name="Google Shape;68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955" y="1030224"/>
            <a:ext cx="6412992" cy="5085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86"/>
          <p:cNvSpPr txBox="1"/>
          <p:nvPr/>
        </p:nvSpPr>
        <p:spPr>
          <a:xfrm>
            <a:off x="230530" y="2975228"/>
            <a:ext cx="116332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virtual  space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86"/>
          <p:cNvSpPr txBox="1"/>
          <p:nvPr/>
        </p:nvSpPr>
        <p:spPr>
          <a:xfrm>
            <a:off x="4575428" y="5796483"/>
            <a:ext cx="13525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7"/>
          <p:cNvSpPr txBox="1"/>
          <p:nvPr>
            <p:ph type="title"/>
          </p:nvPr>
        </p:nvSpPr>
        <p:spPr>
          <a:xfrm>
            <a:off x="2794254" y="426212"/>
            <a:ext cx="354076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Classical paging</a:t>
            </a:r>
            <a:endParaRPr sz="4400"/>
          </a:p>
        </p:txBody>
      </p:sp>
      <p:sp>
        <p:nvSpPr>
          <p:cNvPr id="692" name="Google Shape;692;p87"/>
          <p:cNvSpPr txBox="1"/>
          <p:nvPr/>
        </p:nvSpPr>
        <p:spPr>
          <a:xfrm>
            <a:off x="535635" y="1482445"/>
            <a:ext cx="6591300" cy="4246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P1 arrives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n pages =&gt; n frames must be  available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n frames to the process P1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page table for P1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51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Allocate &lt; n frames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8"/>
          <p:cNvSpPr txBox="1"/>
          <p:nvPr>
            <p:ph type="title"/>
          </p:nvPr>
        </p:nvSpPr>
        <p:spPr>
          <a:xfrm>
            <a:off x="3213354" y="426212"/>
            <a:ext cx="271272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Background</a:t>
            </a:r>
            <a:endParaRPr sz="4400"/>
          </a:p>
        </p:txBody>
      </p:sp>
      <p:sp>
        <p:nvSpPr>
          <p:cNvPr id="698" name="Google Shape;698;p88"/>
          <p:cNvSpPr txBox="1"/>
          <p:nvPr/>
        </p:nvSpPr>
        <p:spPr>
          <a:xfrm>
            <a:off x="535635" y="1162888"/>
            <a:ext cx="8020050" cy="5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900" lvl="0" marL="355600" marR="235584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500"/>
              <a:buFont typeface="Arial"/>
              <a:buChar char="•"/>
            </a:pPr>
            <a:r>
              <a:rPr b="1" lang="en-US" sz="25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Virtual memory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separation of user logical memory from  physical memory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4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Extremely large logical space is available to programmer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Concentrate on the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985519" rtl="0" algn="l">
              <a:lnSpc>
                <a:spcPct val="96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part of the program needs to be in memory for  execution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80000"/>
              </a:lnSpc>
              <a:spcBef>
                <a:spcPts val="63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address space can therefore be much larger than physical  address space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with address 0, allocates contiguous logical memory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memory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of frame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memory can be implemented via: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paging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segmentation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9"/>
          <p:cNvSpPr txBox="1"/>
          <p:nvPr>
            <p:ph type="title"/>
          </p:nvPr>
        </p:nvSpPr>
        <p:spPr>
          <a:xfrm>
            <a:off x="2786633" y="303021"/>
            <a:ext cx="356235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Demand Paging</a:t>
            </a:r>
            <a:endParaRPr sz="4400"/>
          </a:p>
        </p:txBody>
      </p:sp>
      <p:sp>
        <p:nvSpPr>
          <p:cNvPr id="704" name="Google Shape;704;p89"/>
          <p:cNvSpPr txBox="1"/>
          <p:nvPr/>
        </p:nvSpPr>
        <p:spPr>
          <a:xfrm>
            <a:off x="383235" y="1136141"/>
            <a:ext cx="7903845" cy="380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 a page into memory only when it is needed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3550"/>
              <a:buFont typeface="Calibri"/>
              <a:buNone/>
            </a:pPr>
            <a:r>
              <a:t/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8415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Lazy swapper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never swaps a page into memory  unless page will be needed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Swapper that deals with pages is a </a:t>
            </a:r>
            <a:r>
              <a:rPr b="1" i="0" lang="en-US" sz="26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I/O needed, no unnecessary I/O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memory needed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users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89"/>
          <p:cNvSpPr txBox="1"/>
          <p:nvPr/>
        </p:nvSpPr>
        <p:spPr>
          <a:xfrm>
            <a:off x="383235" y="5238699"/>
            <a:ext cx="5525770" cy="1277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is needed </a:t>
            </a:r>
            <a:r>
              <a:rPr lang="en-US" sz="3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to it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invalid reference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not-in-memory </a:t>
            </a:r>
            <a:r>
              <a:rPr b="0" i="0" lang="en-US" sz="26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 to memory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89"/>
          <p:cNvSpPr txBox="1"/>
          <p:nvPr/>
        </p:nvSpPr>
        <p:spPr>
          <a:xfrm>
            <a:off x="6633464" y="5253685"/>
            <a:ext cx="2155190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Valid address  information is available  in PCB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0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-541654" lvl="0" marL="24631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Transfer of a Paged Memory to  Contiguous Disk Space</a:t>
            </a:r>
            <a:endParaRPr sz="2500"/>
          </a:p>
        </p:txBody>
      </p:sp>
      <p:pic>
        <p:nvPicPr>
          <p:cNvPr id="712" name="Google Shape;712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371600"/>
            <a:ext cx="5658611" cy="5184648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90"/>
          <p:cNvSpPr txBox="1"/>
          <p:nvPr/>
        </p:nvSpPr>
        <p:spPr>
          <a:xfrm>
            <a:off x="383235" y="1146175"/>
            <a:ext cx="2570480" cy="2205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628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want to  execute a process, swap  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swap in entire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process, load page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1"/>
          <p:cNvSpPr txBox="1"/>
          <p:nvPr>
            <p:ph type="title"/>
          </p:nvPr>
        </p:nvSpPr>
        <p:spPr>
          <a:xfrm>
            <a:off x="2904489" y="16890"/>
            <a:ext cx="382905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9085" lvl="0" marL="3117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Page Table When Some Pages  Are Not in Main Memory</a:t>
            </a:r>
            <a:endParaRPr sz="2500"/>
          </a:p>
        </p:txBody>
      </p:sp>
      <p:pic>
        <p:nvPicPr>
          <p:cNvPr id="719" name="Google Shape;719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979" y="975360"/>
            <a:ext cx="5356860" cy="5195316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91"/>
          <p:cNvSpPr txBox="1"/>
          <p:nvPr/>
        </p:nvSpPr>
        <p:spPr>
          <a:xfrm>
            <a:off x="459435" y="5110048"/>
            <a:ext cx="324167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Pager loads few necessary pages 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2"/>
          <p:cNvSpPr txBox="1"/>
          <p:nvPr>
            <p:ph type="title"/>
          </p:nvPr>
        </p:nvSpPr>
        <p:spPr>
          <a:xfrm>
            <a:off x="2803398" y="226821"/>
            <a:ext cx="353123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Valid-Invalid Bit</a:t>
            </a:r>
            <a:endParaRPr sz="4400"/>
          </a:p>
        </p:txBody>
      </p:sp>
      <p:sp>
        <p:nvSpPr>
          <p:cNvPr id="726" name="Google Shape;726;p92"/>
          <p:cNvSpPr txBox="1"/>
          <p:nvPr/>
        </p:nvSpPr>
        <p:spPr>
          <a:xfrm>
            <a:off x="910539" y="5957734"/>
            <a:ext cx="6971030" cy="718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address translation, if valid–invalid bit in page table entry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fault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7" name="Google Shape;727;p92"/>
          <p:cNvGrpSpPr/>
          <p:nvPr/>
        </p:nvGrpSpPr>
        <p:grpSpPr>
          <a:xfrm>
            <a:off x="2286000" y="2302764"/>
            <a:ext cx="2857500" cy="3586225"/>
            <a:chOff x="2286000" y="2302764"/>
            <a:chExt cx="2857500" cy="3586225"/>
          </a:xfrm>
        </p:grpSpPr>
        <p:sp>
          <p:nvSpPr>
            <p:cNvPr id="728" name="Google Shape;728;p92"/>
            <p:cNvSpPr/>
            <p:nvPr/>
          </p:nvSpPr>
          <p:spPr>
            <a:xfrm>
              <a:off x="2331720" y="2707639"/>
              <a:ext cx="2708275" cy="3181350"/>
            </a:xfrm>
            <a:custGeom>
              <a:rect b="b" l="l" r="r" t="t"/>
              <a:pathLst>
                <a:path extrusionOk="0" h="3181350" w="2708275">
                  <a:moveTo>
                    <a:pt x="2661793" y="46990"/>
                  </a:moveTo>
                  <a:lnTo>
                    <a:pt x="2650236" y="46990"/>
                  </a:lnTo>
                  <a:lnTo>
                    <a:pt x="2650236" y="58420"/>
                  </a:lnTo>
                  <a:lnTo>
                    <a:pt x="2650236" y="3122930"/>
                  </a:lnTo>
                  <a:lnTo>
                    <a:pt x="57912" y="3122930"/>
                  </a:lnTo>
                  <a:lnTo>
                    <a:pt x="57912" y="58420"/>
                  </a:lnTo>
                  <a:lnTo>
                    <a:pt x="2650236" y="58420"/>
                  </a:lnTo>
                  <a:lnTo>
                    <a:pt x="2650236" y="46990"/>
                  </a:lnTo>
                  <a:lnTo>
                    <a:pt x="46355" y="46990"/>
                  </a:lnTo>
                  <a:lnTo>
                    <a:pt x="46355" y="58420"/>
                  </a:lnTo>
                  <a:lnTo>
                    <a:pt x="46355" y="3122930"/>
                  </a:lnTo>
                  <a:lnTo>
                    <a:pt x="46355" y="3134360"/>
                  </a:lnTo>
                  <a:lnTo>
                    <a:pt x="2661793" y="3134360"/>
                  </a:lnTo>
                  <a:lnTo>
                    <a:pt x="2661793" y="3122930"/>
                  </a:lnTo>
                  <a:lnTo>
                    <a:pt x="2661793" y="46990"/>
                  </a:lnTo>
                  <a:close/>
                </a:path>
                <a:path extrusionOk="0" h="3181350" w="2708275">
                  <a:moveTo>
                    <a:pt x="2708148" y="0"/>
                  </a:moveTo>
                  <a:lnTo>
                    <a:pt x="2673350" y="0"/>
                  </a:lnTo>
                  <a:lnTo>
                    <a:pt x="2673350" y="35560"/>
                  </a:lnTo>
                  <a:lnTo>
                    <a:pt x="2673350" y="3145790"/>
                  </a:lnTo>
                  <a:lnTo>
                    <a:pt x="34798" y="3145790"/>
                  </a:lnTo>
                  <a:lnTo>
                    <a:pt x="34798" y="35560"/>
                  </a:lnTo>
                  <a:lnTo>
                    <a:pt x="2673350" y="35560"/>
                  </a:lnTo>
                  <a:lnTo>
                    <a:pt x="2673350" y="0"/>
                  </a:lnTo>
                  <a:lnTo>
                    <a:pt x="0" y="0"/>
                  </a:lnTo>
                  <a:lnTo>
                    <a:pt x="0" y="35560"/>
                  </a:lnTo>
                  <a:lnTo>
                    <a:pt x="0" y="3145790"/>
                  </a:lnTo>
                  <a:lnTo>
                    <a:pt x="0" y="3181350"/>
                  </a:lnTo>
                  <a:lnTo>
                    <a:pt x="2708148" y="3181350"/>
                  </a:lnTo>
                  <a:lnTo>
                    <a:pt x="2708148" y="3145790"/>
                  </a:lnTo>
                  <a:lnTo>
                    <a:pt x="270814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92"/>
            <p:cNvSpPr/>
            <p:nvPr/>
          </p:nvSpPr>
          <p:spPr>
            <a:xfrm>
              <a:off x="2286000" y="2302764"/>
              <a:ext cx="2857500" cy="3557270"/>
            </a:xfrm>
            <a:custGeom>
              <a:rect b="b" l="l" r="r" t="t"/>
              <a:pathLst>
                <a:path extrusionOk="0" h="3557270" w="2857500">
                  <a:moveTo>
                    <a:pt x="0" y="813815"/>
                  </a:moveTo>
                  <a:lnTo>
                    <a:pt x="2857500" y="813815"/>
                  </a:lnTo>
                </a:path>
                <a:path extrusionOk="0" h="3557270" w="2857500">
                  <a:moveTo>
                    <a:pt x="0" y="1219200"/>
                  </a:moveTo>
                  <a:lnTo>
                    <a:pt x="2857500" y="1219200"/>
                  </a:lnTo>
                </a:path>
                <a:path extrusionOk="0" h="3557270" w="2857500">
                  <a:moveTo>
                    <a:pt x="0" y="1626108"/>
                  </a:moveTo>
                  <a:lnTo>
                    <a:pt x="2857500" y="1626108"/>
                  </a:lnTo>
                </a:path>
                <a:path extrusionOk="0" h="3557270" w="2857500">
                  <a:moveTo>
                    <a:pt x="0" y="2033016"/>
                  </a:moveTo>
                  <a:lnTo>
                    <a:pt x="2857500" y="2033016"/>
                  </a:lnTo>
                </a:path>
                <a:path extrusionOk="0" h="3557270" w="2857500">
                  <a:moveTo>
                    <a:pt x="0" y="2438400"/>
                  </a:moveTo>
                  <a:lnTo>
                    <a:pt x="2857500" y="2438400"/>
                  </a:lnTo>
                </a:path>
                <a:path extrusionOk="0" h="3557270" w="2857500">
                  <a:moveTo>
                    <a:pt x="0" y="3182112"/>
                  </a:moveTo>
                  <a:lnTo>
                    <a:pt x="2857500" y="3182112"/>
                  </a:lnTo>
                </a:path>
                <a:path extrusionOk="0" h="3557270" w="2857500">
                  <a:moveTo>
                    <a:pt x="0" y="3557016"/>
                  </a:moveTo>
                  <a:lnTo>
                    <a:pt x="2857500" y="3557016"/>
                  </a:lnTo>
                </a:path>
                <a:path extrusionOk="0" h="3557270" w="2857500">
                  <a:moveTo>
                    <a:pt x="2171700" y="0"/>
                  </a:moveTo>
                  <a:lnTo>
                    <a:pt x="2171700" y="355701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0" name="Google Shape;730;p92"/>
          <p:cNvSpPr txBox="1"/>
          <p:nvPr/>
        </p:nvSpPr>
        <p:spPr>
          <a:xfrm>
            <a:off x="4761103" y="4419092"/>
            <a:ext cx="895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2"/>
          <p:cNvSpPr txBox="1"/>
          <p:nvPr/>
        </p:nvSpPr>
        <p:spPr>
          <a:xfrm>
            <a:off x="4735957" y="5454497"/>
            <a:ext cx="172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lang="en-US" sz="27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92"/>
          <p:cNvSpPr txBox="1"/>
          <p:nvPr/>
        </p:nvSpPr>
        <p:spPr>
          <a:xfrm>
            <a:off x="3236467" y="4927168"/>
            <a:ext cx="3175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2"/>
          <p:cNvSpPr txBox="1"/>
          <p:nvPr/>
        </p:nvSpPr>
        <p:spPr>
          <a:xfrm>
            <a:off x="910539" y="1035176"/>
            <a:ext cx="6332220" cy="327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42265" marR="5080" rtl="0" algn="r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each page table entry a valid–invalid bit is associated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1115" rtl="0" algn="r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in-memory – </a:t>
            </a: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memory resident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not-in-memory)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valid–invalid bit is set to </a:t>
            </a: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all entries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 page table snapshot: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068829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 #	valid-invalid bit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33495" marR="2362835" rtl="0" algn="ctr">
              <a:lnSpc>
                <a:spcPct val="177222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 v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63040" marR="0" rtl="0" algn="ctr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75105" marR="0" rtl="0" algn="ctr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2"/>
          <p:cNvSpPr txBox="1"/>
          <p:nvPr/>
        </p:nvSpPr>
        <p:spPr>
          <a:xfrm>
            <a:off x="5673978" y="4384928"/>
            <a:ext cx="120078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table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2"/>
          <p:cNvSpPr/>
          <p:nvPr/>
        </p:nvSpPr>
        <p:spPr>
          <a:xfrm>
            <a:off x="4968240" y="5562727"/>
            <a:ext cx="1050925" cy="103505"/>
          </a:xfrm>
          <a:custGeom>
            <a:rect b="b" l="l" r="r" t="t"/>
            <a:pathLst>
              <a:path extrusionOk="0" h="103504" w="1050925">
                <a:moveTo>
                  <a:pt x="1050925" y="51689"/>
                </a:moveTo>
                <a:lnTo>
                  <a:pt x="1040003" y="45339"/>
                </a:lnTo>
                <a:lnTo>
                  <a:pt x="1025779" y="37045"/>
                </a:lnTo>
                <a:lnTo>
                  <a:pt x="1025779" y="51689"/>
                </a:lnTo>
                <a:lnTo>
                  <a:pt x="1019873" y="55143"/>
                </a:lnTo>
                <a:lnTo>
                  <a:pt x="1019873" y="51943"/>
                </a:lnTo>
                <a:lnTo>
                  <a:pt x="1020749" y="51943"/>
                </a:lnTo>
                <a:lnTo>
                  <a:pt x="1020749" y="48755"/>
                </a:lnTo>
                <a:lnTo>
                  <a:pt x="1025779" y="51689"/>
                </a:lnTo>
                <a:lnTo>
                  <a:pt x="1025779" y="37045"/>
                </a:lnTo>
                <a:lnTo>
                  <a:pt x="962279" y="0"/>
                </a:lnTo>
                <a:lnTo>
                  <a:pt x="958469" y="1016"/>
                </a:lnTo>
                <a:lnTo>
                  <a:pt x="954913" y="7112"/>
                </a:lnTo>
                <a:lnTo>
                  <a:pt x="955929" y="10922"/>
                </a:lnTo>
                <a:lnTo>
                  <a:pt x="1015326" y="45593"/>
                </a:lnTo>
                <a:lnTo>
                  <a:pt x="0" y="45593"/>
                </a:lnTo>
                <a:lnTo>
                  <a:pt x="0" y="51943"/>
                </a:lnTo>
                <a:lnTo>
                  <a:pt x="0" y="58293"/>
                </a:lnTo>
                <a:lnTo>
                  <a:pt x="1014450" y="58293"/>
                </a:lnTo>
                <a:lnTo>
                  <a:pt x="955929" y="92417"/>
                </a:lnTo>
                <a:lnTo>
                  <a:pt x="954913" y="96304"/>
                </a:lnTo>
                <a:lnTo>
                  <a:pt x="958469" y="102362"/>
                </a:lnTo>
                <a:lnTo>
                  <a:pt x="962279" y="103390"/>
                </a:lnTo>
                <a:lnTo>
                  <a:pt x="1040003" y="58039"/>
                </a:lnTo>
                <a:lnTo>
                  <a:pt x="1050925" y="51689"/>
                </a:lnTo>
                <a:close/>
              </a:path>
            </a:pathLst>
          </a:custGeom>
          <a:solidFill>
            <a:srgbClr val="487CB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92"/>
          <p:cNvSpPr txBox="1"/>
          <p:nvPr/>
        </p:nvSpPr>
        <p:spPr>
          <a:xfrm>
            <a:off x="6252209" y="5415178"/>
            <a:ext cx="7423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  address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3"/>
          <p:cNvSpPr txBox="1"/>
          <p:nvPr>
            <p:ph type="title"/>
          </p:nvPr>
        </p:nvSpPr>
        <p:spPr>
          <a:xfrm>
            <a:off x="3318509" y="150621"/>
            <a:ext cx="234632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Page Fault</a:t>
            </a:r>
            <a:endParaRPr sz="4400"/>
          </a:p>
        </p:txBody>
      </p:sp>
      <p:sp>
        <p:nvSpPr>
          <p:cNvPr id="742" name="Google Shape;742;p93"/>
          <p:cNvSpPr txBox="1"/>
          <p:nvPr/>
        </p:nvSpPr>
        <p:spPr>
          <a:xfrm>
            <a:off x="78130" y="1182751"/>
            <a:ext cx="8618220" cy="4674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3535" lvl="0" marL="355600" marR="508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page in not in memory, first reference to that page will trap to  operating system: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68375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 fault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 looks at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PCB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decide: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81153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Invalid reference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abort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81153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not in memory (load the page)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empty frame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page into frame via scheduled disk operation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14166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 page table to indicate page now in memory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validation bit = 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Restart the instruction that caused the page fault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4"/>
          <p:cNvSpPr txBox="1"/>
          <p:nvPr>
            <p:ph type="title"/>
          </p:nvPr>
        </p:nvSpPr>
        <p:spPr>
          <a:xfrm>
            <a:off x="954735" y="320802"/>
            <a:ext cx="59575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What Happens if There is no Free Frame?</a:t>
            </a:r>
            <a:endParaRPr sz="2800"/>
          </a:p>
        </p:txBody>
      </p:sp>
      <p:sp>
        <p:nvSpPr>
          <p:cNvPr id="748" name="Google Shape;748;p94"/>
          <p:cNvSpPr txBox="1"/>
          <p:nvPr/>
        </p:nvSpPr>
        <p:spPr>
          <a:xfrm>
            <a:off x="307035" y="1021207"/>
            <a:ext cx="3293745" cy="1725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frames in memory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processes each needs 10 pages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of them never used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86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options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4 processes (10 pages)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8 processes (5 pages)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94"/>
          <p:cNvSpPr txBox="1"/>
          <p:nvPr/>
        </p:nvSpPr>
        <p:spPr>
          <a:xfrm>
            <a:off x="307035" y="2713482"/>
            <a:ext cx="42100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 the degree of multiprogramming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94"/>
          <p:cNvSpPr txBox="1"/>
          <p:nvPr/>
        </p:nvSpPr>
        <p:spPr>
          <a:xfrm>
            <a:off x="307035" y="2886094"/>
            <a:ext cx="73964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000">
            <a:spAutoFit/>
          </a:bodyPr>
          <a:lstStyle/>
          <a:p>
            <a:pPr indent="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allocating memory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Page fault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3844" lvl="1" marL="75311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FF0000"/>
              </a:buClr>
              <a:buSzPts val="2600"/>
              <a:buFont typeface="Arial"/>
              <a:buChar char="–"/>
            </a:pPr>
            <a:r>
              <a:rPr b="1" i="0" lang="en-US" sz="2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free frame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Terminate? swap out? replace the page?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EC0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</a:rPr>
              <a:t>Page replacement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find some page in memory, not really in use, page it out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1" marL="286385" marR="58419" rtl="0" algn="r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– want an algorithm which will result in minimum number of page faults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page may be brought into memory several times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747" y="1085088"/>
            <a:ext cx="6128004" cy="51114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95"/>
          <p:cNvSpPr txBox="1"/>
          <p:nvPr>
            <p:ph type="title"/>
          </p:nvPr>
        </p:nvSpPr>
        <p:spPr>
          <a:xfrm>
            <a:off x="1606677" y="205486"/>
            <a:ext cx="614426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Handling a Page Fault</a:t>
            </a:r>
            <a:endParaRPr/>
          </a:p>
        </p:txBody>
      </p:sp>
      <p:sp>
        <p:nvSpPr>
          <p:cNvPr id="757" name="Google Shape;757;p95"/>
          <p:cNvSpPr txBox="1"/>
          <p:nvPr/>
        </p:nvSpPr>
        <p:spPr>
          <a:xfrm>
            <a:off x="3204210" y="934034"/>
            <a:ext cx="58102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6"/>
          <p:cNvSpPr txBox="1"/>
          <p:nvPr>
            <p:ph type="title"/>
          </p:nvPr>
        </p:nvSpPr>
        <p:spPr>
          <a:xfrm>
            <a:off x="2197735" y="426212"/>
            <a:ext cx="474218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Pure Demand Paging</a:t>
            </a:r>
            <a:endParaRPr sz="4400"/>
          </a:p>
        </p:txBody>
      </p:sp>
      <p:sp>
        <p:nvSpPr>
          <p:cNvPr id="763" name="Google Shape;763;p96"/>
          <p:cNvSpPr txBox="1"/>
          <p:nvPr/>
        </p:nvSpPr>
        <p:spPr>
          <a:xfrm>
            <a:off x="307035" y="1349247"/>
            <a:ext cx="8316595" cy="492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 case – start process with </a:t>
            </a:r>
            <a:r>
              <a:rPr i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 in memory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08333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sets instruction pointer to first instruction of process, non-  memory-resident -&gt; page fault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in that page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–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Pure demand paging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276225" rtl="0" algn="l">
              <a:lnSpc>
                <a:spcPct val="107407"/>
              </a:lnSpc>
              <a:spcBef>
                <a:spcPts val="715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Actually, a given instruction could access multiple pages  (instruction + data) -&gt; multiple page faults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287020" marR="1676400" rtl="0" algn="r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Pain decreased because of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locality of reference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1595120" rtl="0" algn="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Hardware support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 for demand paging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 with valid / invalid bit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memory (swap device with </a:t>
            </a: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swap space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 restart after page fault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7"/>
          <p:cNvSpPr txBox="1"/>
          <p:nvPr>
            <p:ph type="title"/>
          </p:nvPr>
        </p:nvSpPr>
        <p:spPr>
          <a:xfrm>
            <a:off x="3157854" y="183642"/>
            <a:ext cx="317309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in the ISR</a:t>
            </a:r>
            <a:endParaRPr/>
          </a:p>
        </p:txBody>
      </p:sp>
      <p:sp>
        <p:nvSpPr>
          <p:cNvPr id="769" name="Google Shape;769;p97"/>
          <p:cNvSpPr txBox="1"/>
          <p:nvPr/>
        </p:nvSpPr>
        <p:spPr>
          <a:xfrm>
            <a:off x="154330" y="970284"/>
            <a:ext cx="8094980" cy="56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7625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Demand Paging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Trap to the operating system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the user registers and process state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that the interrupt was a page fault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that the page reference was legal and determine the location of the page on the disk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 free frame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 a read from the disk to a free frame: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1" marL="8128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in a queue for this device until the read request is serviced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1" marL="8128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for the device seek and/or latency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1" marL="8128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the transfer of the page to a free frame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waiting, allocate the CPU to some other user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an interrupt from the disk I/O subsystem (I/O completed)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the registers and process state of the running process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that the interrupt was from the disk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the page table and other tables to show page is now in memory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for the CPU to be allocated to this process again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Restore the user registers, process state, and new page table, and then resume the interrupted  instruction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0" name="Google Shape;77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838199"/>
            <a:ext cx="4343400" cy="1731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8"/>
          <p:cNvSpPr txBox="1"/>
          <p:nvPr>
            <p:ph type="title"/>
          </p:nvPr>
        </p:nvSpPr>
        <p:spPr>
          <a:xfrm>
            <a:off x="535635" y="0"/>
            <a:ext cx="7467600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7000">
            <a:spAutoFit/>
          </a:bodyPr>
          <a:lstStyle/>
          <a:p>
            <a:pPr indent="0" lvl="0" marL="952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of Demand Paging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None/>
            </a:pPr>
            <a:r>
              <a:rPr lang="en-US" sz="2000"/>
              <a:t>Demand paging affects the performance of the computer systems</a:t>
            </a:r>
            <a:endParaRPr sz="2000"/>
          </a:p>
        </p:txBody>
      </p:sp>
      <p:sp>
        <p:nvSpPr>
          <p:cNvPr id="776" name="Google Shape;776;p98"/>
          <p:cNvSpPr txBox="1"/>
          <p:nvPr/>
        </p:nvSpPr>
        <p:spPr>
          <a:xfrm>
            <a:off x="535635" y="1506982"/>
            <a:ext cx="6760209" cy="478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19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Fault Rate 0 </a:t>
            </a:r>
            <a:r>
              <a:rPr lang="en-US" sz="3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-US" sz="3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98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 no page faults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1, every reference is a fault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47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Access Time (EAT)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1767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 = (1 –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x memory access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8714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(page fault overhead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50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swap page out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50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swap page in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5079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restart overhead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573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9"/>
          <p:cNvSpPr txBox="1"/>
          <p:nvPr>
            <p:ph type="title"/>
          </p:nvPr>
        </p:nvSpPr>
        <p:spPr>
          <a:xfrm>
            <a:off x="2260219" y="183642"/>
            <a:ext cx="508317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Demand Paging Example</a:t>
            </a:r>
            <a:endParaRPr/>
          </a:p>
        </p:txBody>
      </p:sp>
      <p:sp>
        <p:nvSpPr>
          <p:cNvPr id="782" name="Google Shape;782;p99"/>
          <p:cNvSpPr txBox="1"/>
          <p:nvPr/>
        </p:nvSpPr>
        <p:spPr>
          <a:xfrm>
            <a:off x="218338" y="1081227"/>
            <a:ext cx="6764020" cy="548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67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access time = 200 nanoseconds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67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page-fault service time = 8 milliseconds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67665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EAT = (1 – p) x 200 + p (8 milliseconds)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750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(1 – p ) x 200 + p x 8,000,000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31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200 + p x 7,999,800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67665" marR="666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one access out of 1,000 causes a page fault, then  EAT = 8.2 microseconds.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5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slowdown by a factor of 40!!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67665" marR="0" rtl="0" algn="l">
              <a:lnSpc>
                <a:spcPct val="1161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want performance degradation &lt; 10 percent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1965" marR="0" rtl="0" algn="l">
              <a:lnSpc>
                <a:spcPct val="110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220 &gt; 200 + 7,999,800 x 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68350" marR="0" rtl="0" algn="l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&gt; 7,999,800 x 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1965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&lt; .0000025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1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one page fault in every 400,000 memory accesses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7165" marR="0" rtl="0" algn="l">
              <a:lnSpc>
                <a:spcPct val="100000"/>
              </a:lnSpc>
              <a:spcBef>
                <a:spcPts val="203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Better utilization of swap space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space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3" name="Google Shape;783;p99"/>
          <p:cNvGrpSpPr/>
          <p:nvPr/>
        </p:nvGrpSpPr>
        <p:grpSpPr>
          <a:xfrm>
            <a:off x="7004939" y="4419637"/>
            <a:ext cx="1401241" cy="2117344"/>
            <a:chOff x="7004939" y="4419637"/>
            <a:chExt cx="1401241" cy="2117344"/>
          </a:xfrm>
        </p:grpSpPr>
        <p:pic>
          <p:nvPicPr>
            <p:cNvPr id="784" name="Google Shape;784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45594" y="4419637"/>
              <a:ext cx="1160586" cy="21173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99"/>
            <p:cNvSpPr/>
            <p:nvPr/>
          </p:nvSpPr>
          <p:spPr>
            <a:xfrm>
              <a:off x="7004939" y="6330721"/>
              <a:ext cx="316230" cy="133350"/>
            </a:xfrm>
            <a:custGeom>
              <a:rect b="b" l="l" r="r" t="t"/>
              <a:pathLst>
                <a:path extrusionOk="0" h="133350" w="316229">
                  <a:moveTo>
                    <a:pt x="278764" y="0"/>
                  </a:moveTo>
                  <a:lnTo>
                    <a:pt x="0" y="97002"/>
                  </a:lnTo>
                  <a:lnTo>
                    <a:pt x="12445" y="132981"/>
                  </a:lnTo>
                  <a:lnTo>
                    <a:pt x="291337" y="35991"/>
                  </a:lnTo>
                  <a:lnTo>
                    <a:pt x="315975" y="7264"/>
                  </a:lnTo>
                  <a:lnTo>
                    <a:pt x="278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6" name="Google Shape;786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08012" y="6281445"/>
              <a:ext cx="184277" cy="1636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0"/>
          <p:cNvSpPr txBox="1"/>
          <p:nvPr>
            <p:ph type="title"/>
          </p:nvPr>
        </p:nvSpPr>
        <p:spPr>
          <a:xfrm>
            <a:off x="2626867" y="183642"/>
            <a:ext cx="42227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Allocation of Frames</a:t>
            </a:r>
            <a:endParaRPr/>
          </a:p>
        </p:txBody>
      </p:sp>
      <p:sp>
        <p:nvSpPr>
          <p:cNvPr id="792" name="Google Shape;792;p100"/>
          <p:cNvSpPr txBox="1"/>
          <p:nvPr/>
        </p:nvSpPr>
        <p:spPr>
          <a:xfrm>
            <a:off x="459435" y="1049274"/>
            <a:ext cx="6930390" cy="2681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allocate the fixed amount of  memory among various processes?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user system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Trivial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1"/>
          <p:cNvSpPr txBox="1"/>
          <p:nvPr>
            <p:ph type="title"/>
          </p:nvPr>
        </p:nvSpPr>
        <p:spPr>
          <a:xfrm>
            <a:off x="2626867" y="183642"/>
            <a:ext cx="42227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Allocation of Frames</a:t>
            </a:r>
            <a:endParaRPr/>
          </a:p>
        </p:txBody>
      </p:sp>
      <p:sp>
        <p:nvSpPr>
          <p:cNvPr id="798" name="Google Shape;798;p101"/>
          <p:cNvSpPr txBox="1"/>
          <p:nvPr/>
        </p:nvSpPr>
        <p:spPr>
          <a:xfrm>
            <a:off x="459435" y="955293"/>
            <a:ext cx="8129905" cy="5224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needs 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frames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number is defined by the instruction set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fault forces to restart the instruction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Enough frames to hold all the pages for that instruction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address instruction (2 frames)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address instruction (3 frames)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course is total frames in the system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major allocation schemes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allocation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proportional allocation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02"/>
          <p:cNvSpPr txBox="1"/>
          <p:nvPr>
            <p:ph type="title"/>
          </p:nvPr>
        </p:nvSpPr>
        <p:spPr>
          <a:xfrm>
            <a:off x="1272032" y="183642"/>
            <a:ext cx="686117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Fixed and proportional Allocation</a:t>
            </a:r>
            <a:endParaRPr/>
          </a:p>
        </p:txBody>
      </p:sp>
      <p:sp>
        <p:nvSpPr>
          <p:cNvPr id="804" name="Google Shape;804;p102"/>
          <p:cNvSpPr txBox="1"/>
          <p:nvPr/>
        </p:nvSpPr>
        <p:spPr>
          <a:xfrm>
            <a:off x="459435" y="980524"/>
            <a:ext cx="7727315" cy="3782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 allocation – m frames and n processes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gets m/n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if there are 100 frames (after allocating frames  for the OS) and 5 processes, give each process 20 frames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some as free frame buffer pool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Unfair for small and large sized processes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39433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Proport</a:t>
            </a:r>
            <a:r>
              <a:rPr lang="en-US" sz="2400" strike="sng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</a:t>
            </a:r>
            <a:r>
              <a:rPr lang="en-US" sz="24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nal allocation – Allocate according to the size of  process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as degree of multiprogramming, process sizes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02"/>
          <p:cNvSpPr txBox="1"/>
          <p:nvPr/>
        </p:nvSpPr>
        <p:spPr>
          <a:xfrm>
            <a:off x="1178661" y="4710810"/>
            <a:ext cx="2948305" cy="136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</a:t>
            </a:r>
            <a:r>
              <a:rPr lang="en-US" sz="2400" strike="sng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24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07009" marR="0" rtl="0" algn="l">
              <a:lnSpc>
                <a:spcPct val="1117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i="1" lang="en-US" sz="18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size of process </a:t>
            </a: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i="1" lang="en-US" sz="18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8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03834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26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∑</a:t>
            </a:r>
            <a:r>
              <a:rPr baseline="-25000" lang="en-US" sz="26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i="1" lang="en-US" sz="18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aseline="-25000" sz="18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11454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number  of frames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102"/>
          <p:cNvSpPr/>
          <p:nvPr/>
        </p:nvSpPr>
        <p:spPr>
          <a:xfrm>
            <a:off x="3618865" y="6445745"/>
            <a:ext cx="195580" cy="0"/>
          </a:xfrm>
          <a:custGeom>
            <a:rect b="b" l="l" r="r" t="t"/>
            <a:pathLst>
              <a:path extrusionOk="0" h="120000" w="195579">
                <a:moveTo>
                  <a:pt x="0" y="0"/>
                </a:moveTo>
                <a:lnTo>
                  <a:pt x="195199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02"/>
          <p:cNvSpPr txBox="1"/>
          <p:nvPr/>
        </p:nvSpPr>
        <p:spPr>
          <a:xfrm>
            <a:off x="3619627" y="6439001"/>
            <a:ext cx="173990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02"/>
          <p:cNvSpPr txBox="1"/>
          <p:nvPr/>
        </p:nvSpPr>
        <p:spPr>
          <a:xfrm>
            <a:off x="3608070" y="6121095"/>
            <a:ext cx="137160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02"/>
          <p:cNvSpPr txBox="1"/>
          <p:nvPr/>
        </p:nvSpPr>
        <p:spPr>
          <a:xfrm>
            <a:off x="3723259" y="6243015"/>
            <a:ext cx="6096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02"/>
          <p:cNvSpPr txBox="1"/>
          <p:nvPr/>
        </p:nvSpPr>
        <p:spPr>
          <a:xfrm>
            <a:off x="1495425" y="6384747"/>
            <a:ext cx="184848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	i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02"/>
          <p:cNvSpPr txBox="1"/>
          <p:nvPr/>
        </p:nvSpPr>
        <p:spPr>
          <a:xfrm>
            <a:off x="1373505" y="6261303"/>
            <a:ext cx="2839085" cy="29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	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allocation for </a:t>
            </a: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	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7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1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02"/>
          <p:cNvSpPr/>
          <p:nvPr/>
        </p:nvSpPr>
        <p:spPr>
          <a:xfrm>
            <a:off x="1783079" y="4128515"/>
            <a:ext cx="152400" cy="0"/>
          </a:xfrm>
          <a:custGeom>
            <a:rect b="b" l="l" r="r" t="t"/>
            <a:pathLst>
              <a:path extrusionOk="0" h="120000"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02"/>
          <p:cNvSpPr/>
          <p:nvPr/>
        </p:nvSpPr>
        <p:spPr>
          <a:xfrm>
            <a:off x="1775460" y="4454652"/>
            <a:ext cx="152400" cy="0"/>
          </a:xfrm>
          <a:custGeom>
            <a:rect b="b" l="l" r="r" t="t"/>
            <a:pathLst>
              <a:path extrusionOk="0" h="120000"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02"/>
          <p:cNvSpPr txBox="1"/>
          <p:nvPr/>
        </p:nvSpPr>
        <p:spPr>
          <a:xfrm>
            <a:off x="6320663" y="4690694"/>
            <a:ext cx="701040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64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en-US" sz="13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127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102"/>
          <p:cNvSpPr txBox="1"/>
          <p:nvPr/>
        </p:nvSpPr>
        <p:spPr>
          <a:xfrm>
            <a:off x="6427978" y="5914440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6" name="Google Shape;816;p102"/>
          <p:cNvSpPr txBox="1"/>
          <p:nvPr/>
        </p:nvSpPr>
        <p:spPr>
          <a:xfrm>
            <a:off x="6692265" y="5926632"/>
            <a:ext cx="322580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137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102"/>
          <p:cNvSpPr txBox="1"/>
          <p:nvPr/>
        </p:nvSpPr>
        <p:spPr>
          <a:xfrm>
            <a:off x="6320663" y="5668771"/>
            <a:ext cx="664845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23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aseline="-25000" lang="en-US" sz="2325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55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102"/>
          <p:cNvSpPr txBox="1"/>
          <p:nvPr/>
        </p:nvSpPr>
        <p:spPr>
          <a:xfrm>
            <a:off x="7037958" y="5781547"/>
            <a:ext cx="663575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64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102"/>
          <p:cNvSpPr txBox="1"/>
          <p:nvPr/>
        </p:nvSpPr>
        <p:spPr>
          <a:xfrm>
            <a:off x="6444488" y="6441135"/>
            <a:ext cx="8255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102"/>
          <p:cNvSpPr txBox="1"/>
          <p:nvPr/>
        </p:nvSpPr>
        <p:spPr>
          <a:xfrm>
            <a:off x="6717283" y="6453327"/>
            <a:ext cx="322580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137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102"/>
          <p:cNvSpPr txBox="1"/>
          <p:nvPr/>
        </p:nvSpPr>
        <p:spPr>
          <a:xfrm>
            <a:off x="6320663" y="6308242"/>
            <a:ext cx="1531620" cy="26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2325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</a:t>
            </a:r>
            <a:r>
              <a:rPr baseline="30000" lang="en-US" sz="232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×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64 </a:t>
            </a:r>
            <a:r>
              <a:rPr lang="en-US" sz="155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≈</a:t>
            </a:r>
            <a:r>
              <a:rPr lang="en-US" sz="1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59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3"/>
          <p:cNvSpPr txBox="1"/>
          <p:nvPr>
            <p:ph type="title"/>
          </p:nvPr>
        </p:nvSpPr>
        <p:spPr>
          <a:xfrm>
            <a:off x="2915539" y="183642"/>
            <a:ext cx="37084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Priority Allocation</a:t>
            </a:r>
            <a:endParaRPr/>
          </a:p>
        </p:txBody>
      </p:sp>
      <p:sp>
        <p:nvSpPr>
          <p:cNvPr id="827" name="Google Shape;827;p103"/>
          <p:cNvSpPr txBox="1"/>
          <p:nvPr/>
        </p:nvSpPr>
        <p:spPr>
          <a:xfrm>
            <a:off x="383235" y="1187297"/>
            <a:ext cx="6367780" cy="1202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Allocation of frames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Depends on multiprogramming level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03"/>
          <p:cNvSpPr txBox="1"/>
          <p:nvPr/>
        </p:nvSpPr>
        <p:spPr>
          <a:xfrm>
            <a:off x="383235" y="3629025"/>
            <a:ext cx="7448550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proportional allocation scheme using  priorities along with size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4"/>
          <p:cNvSpPr txBox="1"/>
          <p:nvPr>
            <p:ph type="title"/>
          </p:nvPr>
        </p:nvSpPr>
        <p:spPr>
          <a:xfrm>
            <a:off x="1926717" y="183642"/>
            <a:ext cx="58134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For Page Replacement</a:t>
            </a:r>
            <a:endParaRPr/>
          </a:p>
        </p:txBody>
      </p:sp>
      <p:pic>
        <p:nvPicPr>
          <p:cNvPr id="834" name="Google Shape;83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970800"/>
            <a:ext cx="7004304" cy="507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04"/>
          <p:cNvSpPr txBox="1"/>
          <p:nvPr/>
        </p:nvSpPr>
        <p:spPr>
          <a:xfrm>
            <a:off x="993139" y="852932"/>
            <a:ext cx="255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04"/>
          <p:cNvSpPr txBox="1"/>
          <p:nvPr/>
        </p:nvSpPr>
        <p:spPr>
          <a:xfrm>
            <a:off x="993139" y="3749420"/>
            <a:ext cx="255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7" name="Google Shape;837;p104"/>
          <p:cNvGrpSpPr/>
          <p:nvPr/>
        </p:nvGrpSpPr>
        <p:grpSpPr>
          <a:xfrm>
            <a:off x="381762" y="851153"/>
            <a:ext cx="2895600" cy="1283208"/>
            <a:chOff x="381762" y="851153"/>
            <a:chExt cx="2895600" cy="1283208"/>
          </a:xfrm>
        </p:grpSpPr>
        <p:sp>
          <p:nvSpPr>
            <p:cNvPr id="838" name="Google Shape;838;p104"/>
            <p:cNvSpPr/>
            <p:nvPr/>
          </p:nvSpPr>
          <p:spPr>
            <a:xfrm>
              <a:off x="381762" y="851153"/>
              <a:ext cx="533400" cy="368935"/>
            </a:xfrm>
            <a:custGeom>
              <a:rect b="b" l="l" r="r" t="t"/>
              <a:pathLst>
                <a:path extrusionOk="0" h="368934" w="533400">
                  <a:moveTo>
                    <a:pt x="348996" y="0"/>
                  </a:moveTo>
                  <a:lnTo>
                    <a:pt x="348996" y="92201"/>
                  </a:lnTo>
                  <a:lnTo>
                    <a:pt x="0" y="92201"/>
                  </a:lnTo>
                  <a:lnTo>
                    <a:pt x="0" y="276606"/>
                  </a:lnTo>
                  <a:lnTo>
                    <a:pt x="348996" y="276606"/>
                  </a:lnTo>
                  <a:lnTo>
                    <a:pt x="348996" y="368808"/>
                  </a:lnTo>
                  <a:lnTo>
                    <a:pt x="533400" y="184404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04"/>
            <p:cNvSpPr/>
            <p:nvPr/>
          </p:nvSpPr>
          <p:spPr>
            <a:xfrm>
              <a:off x="381762" y="851153"/>
              <a:ext cx="533400" cy="368935"/>
            </a:xfrm>
            <a:custGeom>
              <a:rect b="b" l="l" r="r" t="t"/>
              <a:pathLst>
                <a:path extrusionOk="0" h="368934" w="533400">
                  <a:moveTo>
                    <a:pt x="0" y="92201"/>
                  </a:moveTo>
                  <a:lnTo>
                    <a:pt x="348996" y="92201"/>
                  </a:lnTo>
                  <a:lnTo>
                    <a:pt x="348996" y="0"/>
                  </a:lnTo>
                  <a:lnTo>
                    <a:pt x="533400" y="184404"/>
                  </a:lnTo>
                  <a:lnTo>
                    <a:pt x="348996" y="368808"/>
                  </a:lnTo>
                  <a:lnTo>
                    <a:pt x="348996" y="276606"/>
                  </a:lnTo>
                  <a:lnTo>
                    <a:pt x="0" y="276606"/>
                  </a:lnTo>
                  <a:lnTo>
                    <a:pt x="0" y="92201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04"/>
            <p:cNvSpPr/>
            <p:nvPr/>
          </p:nvSpPr>
          <p:spPr>
            <a:xfrm>
              <a:off x="2972562" y="1829561"/>
              <a:ext cx="304800" cy="304800"/>
            </a:xfrm>
            <a:custGeom>
              <a:rect b="b" l="l" r="r" t="t"/>
              <a:pathLst>
                <a:path extrusionOk="0" h="304800" w="304800">
                  <a:moveTo>
                    <a:pt x="152400" y="0"/>
                  </a:moveTo>
                  <a:lnTo>
                    <a:pt x="1524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3048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04"/>
            <p:cNvSpPr/>
            <p:nvPr/>
          </p:nvSpPr>
          <p:spPr>
            <a:xfrm>
              <a:off x="2972562" y="1829561"/>
              <a:ext cx="304800" cy="304800"/>
            </a:xfrm>
            <a:custGeom>
              <a:rect b="b" l="l" r="r" t="t"/>
              <a:pathLst>
                <a:path extrusionOk="0" h="304800" w="304800">
                  <a:moveTo>
                    <a:pt x="0" y="76200"/>
                  </a:moveTo>
                  <a:lnTo>
                    <a:pt x="152400" y="76200"/>
                  </a:lnTo>
                  <a:lnTo>
                    <a:pt x="152400" y="0"/>
                  </a:lnTo>
                  <a:lnTo>
                    <a:pt x="30480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25900">
              <a:solidFill>
                <a:srgbClr val="F7944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2" name="Google Shape;842;p104"/>
          <p:cNvSpPr txBox="1"/>
          <p:nvPr/>
        </p:nvSpPr>
        <p:spPr>
          <a:xfrm>
            <a:off x="2059939" y="2268093"/>
            <a:ext cx="1651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5"/>
          <p:cNvSpPr txBox="1"/>
          <p:nvPr>
            <p:ph type="title"/>
          </p:nvPr>
        </p:nvSpPr>
        <p:spPr>
          <a:xfrm>
            <a:off x="1926717" y="183642"/>
            <a:ext cx="58134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For Page Replacement</a:t>
            </a:r>
            <a:endParaRPr/>
          </a:p>
        </p:txBody>
      </p:sp>
      <p:pic>
        <p:nvPicPr>
          <p:cNvPr id="848" name="Google Shape;84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970800"/>
            <a:ext cx="7004304" cy="507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105"/>
          <p:cNvSpPr txBox="1"/>
          <p:nvPr/>
        </p:nvSpPr>
        <p:spPr>
          <a:xfrm>
            <a:off x="993139" y="852932"/>
            <a:ext cx="2552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0" name="Google Shape;850;p105"/>
          <p:cNvGrpSpPr/>
          <p:nvPr/>
        </p:nvGrpSpPr>
        <p:grpSpPr>
          <a:xfrm>
            <a:off x="381762" y="3746753"/>
            <a:ext cx="1218819" cy="800862"/>
            <a:chOff x="381762" y="3746753"/>
            <a:chExt cx="1218819" cy="800862"/>
          </a:xfrm>
        </p:grpSpPr>
        <p:sp>
          <p:nvSpPr>
            <p:cNvPr id="851" name="Google Shape;851;p105"/>
            <p:cNvSpPr/>
            <p:nvPr/>
          </p:nvSpPr>
          <p:spPr>
            <a:xfrm>
              <a:off x="381762" y="3746753"/>
              <a:ext cx="533400" cy="368935"/>
            </a:xfrm>
            <a:custGeom>
              <a:rect b="b" l="l" r="r" t="t"/>
              <a:pathLst>
                <a:path extrusionOk="0" h="368935" w="533400">
                  <a:moveTo>
                    <a:pt x="348996" y="0"/>
                  </a:moveTo>
                  <a:lnTo>
                    <a:pt x="348996" y="92202"/>
                  </a:lnTo>
                  <a:lnTo>
                    <a:pt x="0" y="92202"/>
                  </a:lnTo>
                  <a:lnTo>
                    <a:pt x="0" y="276606"/>
                  </a:lnTo>
                  <a:lnTo>
                    <a:pt x="348996" y="276606"/>
                  </a:lnTo>
                  <a:lnTo>
                    <a:pt x="348996" y="368808"/>
                  </a:lnTo>
                  <a:lnTo>
                    <a:pt x="533400" y="184404"/>
                  </a:lnTo>
                  <a:lnTo>
                    <a:pt x="348996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05"/>
            <p:cNvSpPr/>
            <p:nvPr/>
          </p:nvSpPr>
          <p:spPr>
            <a:xfrm>
              <a:off x="381762" y="3746753"/>
              <a:ext cx="533400" cy="368935"/>
            </a:xfrm>
            <a:custGeom>
              <a:rect b="b" l="l" r="r" t="t"/>
              <a:pathLst>
                <a:path extrusionOk="0" h="368935" w="533400">
                  <a:moveTo>
                    <a:pt x="0" y="92202"/>
                  </a:moveTo>
                  <a:lnTo>
                    <a:pt x="348996" y="92202"/>
                  </a:lnTo>
                  <a:lnTo>
                    <a:pt x="348996" y="0"/>
                  </a:lnTo>
                  <a:lnTo>
                    <a:pt x="533400" y="184404"/>
                  </a:lnTo>
                  <a:lnTo>
                    <a:pt x="348996" y="368808"/>
                  </a:lnTo>
                  <a:lnTo>
                    <a:pt x="348996" y="276606"/>
                  </a:lnTo>
                  <a:lnTo>
                    <a:pt x="0" y="276606"/>
                  </a:lnTo>
                  <a:lnTo>
                    <a:pt x="0" y="92202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05"/>
            <p:cNvSpPr/>
            <p:nvPr/>
          </p:nvSpPr>
          <p:spPr>
            <a:xfrm>
              <a:off x="1504061" y="4444110"/>
              <a:ext cx="96520" cy="103505"/>
            </a:xfrm>
            <a:custGeom>
              <a:rect b="b" l="l" r="r" t="t"/>
              <a:pathLst>
                <a:path extrusionOk="0" h="103504" w="96519">
                  <a:moveTo>
                    <a:pt x="96139" y="51689"/>
                  </a:moveTo>
                  <a:lnTo>
                    <a:pt x="85217" y="45339"/>
                  </a:lnTo>
                  <a:lnTo>
                    <a:pt x="7493" y="0"/>
                  </a:lnTo>
                  <a:lnTo>
                    <a:pt x="3556" y="1016"/>
                  </a:lnTo>
                  <a:lnTo>
                    <a:pt x="0" y="7112"/>
                  </a:lnTo>
                  <a:lnTo>
                    <a:pt x="1016" y="10922"/>
                  </a:lnTo>
                  <a:lnTo>
                    <a:pt x="70866" y="51689"/>
                  </a:lnTo>
                  <a:lnTo>
                    <a:pt x="80264" y="46228"/>
                  </a:lnTo>
                  <a:lnTo>
                    <a:pt x="83439" y="46228"/>
                  </a:lnTo>
                  <a:lnTo>
                    <a:pt x="83439" y="57150"/>
                  </a:lnTo>
                  <a:lnTo>
                    <a:pt x="80264" y="57150"/>
                  </a:lnTo>
                  <a:lnTo>
                    <a:pt x="70866" y="51689"/>
                  </a:lnTo>
                  <a:lnTo>
                    <a:pt x="1016" y="92456"/>
                  </a:lnTo>
                  <a:lnTo>
                    <a:pt x="0" y="96266"/>
                  </a:lnTo>
                  <a:lnTo>
                    <a:pt x="3556" y="102362"/>
                  </a:lnTo>
                  <a:lnTo>
                    <a:pt x="7493" y="103378"/>
                  </a:lnTo>
                  <a:lnTo>
                    <a:pt x="85217" y="58039"/>
                  </a:lnTo>
                  <a:lnTo>
                    <a:pt x="96139" y="516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4" name="Google Shape;854;p105"/>
          <p:cNvSpPr txBox="1"/>
          <p:nvPr/>
        </p:nvSpPr>
        <p:spPr>
          <a:xfrm>
            <a:off x="2059939" y="2268093"/>
            <a:ext cx="16510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05"/>
          <p:cNvSpPr txBox="1"/>
          <p:nvPr/>
        </p:nvSpPr>
        <p:spPr>
          <a:xfrm>
            <a:off x="584403" y="3749420"/>
            <a:ext cx="1064895" cy="824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698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 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6"/>
          <p:cNvSpPr txBox="1"/>
          <p:nvPr>
            <p:ph type="title"/>
          </p:nvPr>
        </p:nvSpPr>
        <p:spPr>
          <a:xfrm>
            <a:off x="2389123" y="183642"/>
            <a:ext cx="49720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Page Replacement</a:t>
            </a:r>
            <a:endParaRPr/>
          </a:p>
        </p:txBody>
      </p:sp>
      <p:sp>
        <p:nvSpPr>
          <p:cNvPr id="861" name="Google Shape;861;p106"/>
          <p:cNvSpPr txBox="1"/>
          <p:nvPr/>
        </p:nvSpPr>
        <p:spPr>
          <a:xfrm>
            <a:off x="383235" y="1378077"/>
            <a:ext cx="831088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8100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location of the desired page on disk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93700" marR="0" rtl="0" algn="l">
              <a:lnSpc>
                <a:spcPct val="108863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 free frame: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4200" marR="0" rtl="0" algn="l">
              <a:lnSpc>
                <a:spcPct val="10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	If there is a free frame, use 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93700" marR="784225" rtl="0" algn="l">
              <a:lnSpc>
                <a:spcPct val="8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 there is no free frame, use a </a:t>
            </a:r>
            <a:r>
              <a:rPr lang="en-US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page replacement algorithm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 select a </a:t>
            </a: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victim frame (of that process)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marR="0" rtl="0" algn="l">
              <a:lnSpc>
                <a:spcPct val="9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victim frame to disk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93700" marR="3124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 startAt="3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 the desired page into the (newly) free frame; update the page  and frame tables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93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AutoNum type="arabicPeriod" startAt="3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the process by restarting the instruction that caused the trap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93700" marR="109854" rtl="0" algn="l">
              <a:lnSpc>
                <a:spcPct val="95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Note now potentially 2 page transfers for page fault – increasing Effective  memory access time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7"/>
          <p:cNvSpPr txBox="1"/>
          <p:nvPr>
            <p:ph type="title"/>
          </p:nvPr>
        </p:nvSpPr>
        <p:spPr>
          <a:xfrm>
            <a:off x="2941701" y="183642"/>
            <a:ext cx="381507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Replacement</a:t>
            </a:r>
            <a:endParaRPr/>
          </a:p>
        </p:txBody>
      </p:sp>
      <p:sp>
        <p:nvSpPr>
          <p:cNvPr id="867" name="Google Shape;867;p107"/>
          <p:cNvSpPr txBox="1"/>
          <p:nvPr/>
        </p:nvSpPr>
        <p:spPr>
          <a:xfrm>
            <a:off x="1459357" y="2288539"/>
            <a:ext cx="120650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44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8" name="Google Shape;868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059180"/>
            <a:ext cx="7019925" cy="5172456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107"/>
          <p:cNvSpPr txBox="1"/>
          <p:nvPr/>
        </p:nvSpPr>
        <p:spPr>
          <a:xfrm>
            <a:off x="993139" y="2427477"/>
            <a:ext cx="146050" cy="62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71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0" name="Google Shape;870;p107"/>
          <p:cNvGrpSpPr/>
          <p:nvPr/>
        </p:nvGrpSpPr>
        <p:grpSpPr>
          <a:xfrm>
            <a:off x="534162" y="2820161"/>
            <a:ext cx="381000" cy="304800"/>
            <a:chOff x="534162" y="2820161"/>
            <a:chExt cx="381000" cy="304800"/>
          </a:xfrm>
        </p:grpSpPr>
        <p:sp>
          <p:nvSpPr>
            <p:cNvPr id="871" name="Google Shape;871;p107"/>
            <p:cNvSpPr/>
            <p:nvPr/>
          </p:nvSpPr>
          <p:spPr>
            <a:xfrm>
              <a:off x="534162" y="2820161"/>
              <a:ext cx="381000" cy="304800"/>
            </a:xfrm>
            <a:custGeom>
              <a:rect b="b" l="l" r="r" t="t"/>
              <a:pathLst>
                <a:path extrusionOk="0" h="304800" w="381000">
                  <a:moveTo>
                    <a:pt x="228600" y="0"/>
                  </a:moveTo>
                  <a:lnTo>
                    <a:pt x="2286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304800"/>
                  </a:lnTo>
                  <a:lnTo>
                    <a:pt x="381000" y="1524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07"/>
            <p:cNvSpPr/>
            <p:nvPr/>
          </p:nvSpPr>
          <p:spPr>
            <a:xfrm>
              <a:off x="534162" y="2820161"/>
              <a:ext cx="381000" cy="304800"/>
            </a:xfrm>
            <a:custGeom>
              <a:rect b="b" l="l" r="r" t="t"/>
              <a:pathLst>
                <a:path extrusionOk="0" h="304800" w="381000">
                  <a:moveTo>
                    <a:pt x="0" y="76200"/>
                  </a:moveTo>
                  <a:lnTo>
                    <a:pt x="228600" y="76200"/>
                  </a:lnTo>
                  <a:lnTo>
                    <a:pt x="228600" y="0"/>
                  </a:lnTo>
                  <a:lnTo>
                    <a:pt x="381000" y="152400"/>
                  </a:lnTo>
                  <a:lnTo>
                    <a:pt x="228600" y="30480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08"/>
          <p:cNvSpPr txBox="1"/>
          <p:nvPr>
            <p:ph type="title"/>
          </p:nvPr>
        </p:nvSpPr>
        <p:spPr>
          <a:xfrm>
            <a:off x="2941701" y="183642"/>
            <a:ext cx="381507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Replacement</a:t>
            </a:r>
            <a:endParaRPr/>
          </a:p>
        </p:txBody>
      </p:sp>
      <p:pic>
        <p:nvPicPr>
          <p:cNvPr id="878" name="Google Shape;87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955" y="1021080"/>
            <a:ext cx="7025640" cy="5178552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108"/>
          <p:cNvSpPr txBox="1"/>
          <p:nvPr/>
        </p:nvSpPr>
        <p:spPr>
          <a:xfrm>
            <a:off x="1374139" y="2403434"/>
            <a:ext cx="14160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08"/>
          <p:cNvSpPr txBox="1"/>
          <p:nvPr/>
        </p:nvSpPr>
        <p:spPr>
          <a:xfrm>
            <a:off x="7624318" y="3966717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08"/>
          <p:cNvSpPr txBox="1"/>
          <p:nvPr/>
        </p:nvSpPr>
        <p:spPr>
          <a:xfrm>
            <a:off x="6633464" y="2419858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09"/>
          <p:cNvSpPr txBox="1"/>
          <p:nvPr>
            <p:ph type="title"/>
          </p:nvPr>
        </p:nvSpPr>
        <p:spPr>
          <a:xfrm>
            <a:off x="3377946" y="426212"/>
            <a:ext cx="238760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Evaluation</a:t>
            </a:r>
            <a:endParaRPr sz="4400"/>
          </a:p>
        </p:txBody>
      </p:sp>
      <p:sp>
        <p:nvSpPr>
          <p:cNvPr id="887" name="Google Shape;887;p109"/>
          <p:cNvSpPr txBox="1"/>
          <p:nvPr/>
        </p:nvSpPr>
        <p:spPr>
          <a:xfrm>
            <a:off x="535635" y="1524127"/>
            <a:ext cx="7780020" cy="4352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900" lvl="0" marL="355600" marR="6667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algorithm by running it on a particular string  of memory references (reference string) and  computing the number of page faults on that string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is just page numbers, not full addresses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796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access to the same page does not cause a page  fault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74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Trace the memory reference of a process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0100, 0432, 0101, 0612, 0102, 0104, 0101, 0611, 0102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100B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string 1, 4, 1, 6, 1, 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all our examples, the reference string 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115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7,0,1,2,0,3,0,4,2,3,0,3,0,3,2,1,2,0,1,7,0,1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10"/>
          <p:cNvSpPr txBox="1"/>
          <p:nvPr>
            <p:ph type="title"/>
          </p:nvPr>
        </p:nvSpPr>
        <p:spPr>
          <a:xfrm>
            <a:off x="2782061" y="179323"/>
            <a:ext cx="356552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9085" lvl="0" marL="3111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Graph of Page Faults Versus  The Number of Frames</a:t>
            </a:r>
            <a:endParaRPr sz="2500"/>
          </a:p>
        </p:txBody>
      </p:sp>
      <p:pic>
        <p:nvPicPr>
          <p:cNvPr id="893" name="Google Shape;89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419" y="1895855"/>
            <a:ext cx="6189853" cy="365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11"/>
          <p:cNvSpPr txBox="1"/>
          <p:nvPr/>
        </p:nvSpPr>
        <p:spPr>
          <a:xfrm>
            <a:off x="611835" y="1899361"/>
            <a:ext cx="770128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Associates a time with each frame when the page was brought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memory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page must be replaced, the oldest one is chosen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string: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7,0,1,2,0,3,0,4,2,3,0,3,0,3,2,1,2,0,1,7,0,1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variable is initialized early and constantly used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11"/>
          <p:cNvSpPr txBox="1"/>
          <p:nvPr>
            <p:ph type="title"/>
          </p:nvPr>
        </p:nvSpPr>
        <p:spPr>
          <a:xfrm>
            <a:off x="749909" y="426212"/>
            <a:ext cx="763587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First-In-First-Out (FIFO) Algorithm</a:t>
            </a:r>
            <a:endParaRPr sz="44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12"/>
          <p:cNvSpPr txBox="1"/>
          <p:nvPr>
            <p:ph type="title"/>
          </p:nvPr>
        </p:nvSpPr>
        <p:spPr>
          <a:xfrm>
            <a:off x="2332482" y="183642"/>
            <a:ext cx="485711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FIFO Page Replacement</a:t>
            </a:r>
            <a:endParaRPr/>
          </a:p>
        </p:txBody>
      </p:sp>
      <p:pic>
        <p:nvPicPr>
          <p:cNvPr id="905" name="Google Shape;9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39" y="2043683"/>
            <a:ext cx="6914388" cy="218541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112"/>
          <p:cNvSpPr txBox="1"/>
          <p:nvPr/>
        </p:nvSpPr>
        <p:spPr>
          <a:xfrm>
            <a:off x="1221739" y="4303521"/>
            <a:ext cx="5749925" cy="2082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0447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page faults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track ages of pages?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use a FIFO queue to hold all the pages in memory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page at the 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at 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12"/>
          <p:cNvSpPr txBox="1"/>
          <p:nvPr/>
        </p:nvSpPr>
        <p:spPr>
          <a:xfrm>
            <a:off x="1983739" y="1222375"/>
            <a:ext cx="4316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frames (3 pages can be in memory at a time)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13"/>
          <p:cNvSpPr txBox="1"/>
          <p:nvPr>
            <p:ph type="title"/>
          </p:nvPr>
        </p:nvSpPr>
        <p:spPr>
          <a:xfrm>
            <a:off x="2798191" y="183642"/>
            <a:ext cx="38195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Algorithm</a:t>
            </a:r>
            <a:endParaRPr/>
          </a:p>
        </p:txBody>
      </p:sp>
      <p:sp>
        <p:nvSpPr>
          <p:cNvPr id="913" name="Google Shape;913;p113"/>
          <p:cNvSpPr txBox="1"/>
          <p:nvPr/>
        </p:nvSpPr>
        <p:spPr>
          <a:xfrm>
            <a:off x="535635" y="1582927"/>
            <a:ext cx="7853680" cy="432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page that will not be used for longest  period of time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</a:pPr>
            <a:r>
              <a:t/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you know this?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read the future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77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measuring how well your algorithm  performs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14"/>
          <p:cNvSpPr txBox="1"/>
          <p:nvPr>
            <p:ph type="title"/>
          </p:nvPr>
        </p:nvSpPr>
        <p:spPr>
          <a:xfrm>
            <a:off x="1941702" y="183642"/>
            <a:ext cx="55772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Page Replacement</a:t>
            </a:r>
            <a:endParaRPr/>
          </a:p>
        </p:txBody>
      </p:sp>
      <p:pic>
        <p:nvPicPr>
          <p:cNvPr id="919" name="Google Shape;91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7383" y="1819655"/>
            <a:ext cx="7033259" cy="2570988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114"/>
          <p:cNvSpPr txBox="1"/>
          <p:nvPr/>
        </p:nvSpPr>
        <p:spPr>
          <a:xfrm>
            <a:off x="4270628" y="4881498"/>
            <a:ext cx="11976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page faults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15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649729" lvl="0" marL="28638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Least Recently Used (LRU)  Algorithm</a:t>
            </a:r>
            <a:endParaRPr/>
          </a:p>
        </p:txBody>
      </p:sp>
      <p:sp>
        <p:nvSpPr>
          <p:cNvPr id="926" name="Google Shape;926;p115"/>
          <p:cNvSpPr txBox="1"/>
          <p:nvPr/>
        </p:nvSpPr>
        <p:spPr>
          <a:xfrm>
            <a:off x="916939" y="1470405"/>
            <a:ext cx="6590665" cy="159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past knowledge rather than future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Past is the proxy of future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7954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page that has not been used in the most of the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6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8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time of last use with each page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15"/>
          <p:cNvSpPr txBox="1"/>
          <p:nvPr/>
        </p:nvSpPr>
        <p:spPr>
          <a:xfrm>
            <a:off x="916939" y="5397805"/>
            <a:ext cx="5723255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faults – better than FIFO but worse than OPT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good algorithm and frequently used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how to implement?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8" name="Google Shape;9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200400"/>
            <a:ext cx="7869682" cy="215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16"/>
          <p:cNvSpPr txBox="1"/>
          <p:nvPr>
            <p:ph type="title"/>
          </p:nvPr>
        </p:nvSpPr>
        <p:spPr>
          <a:xfrm>
            <a:off x="1005941" y="426212"/>
            <a:ext cx="713041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LRU Algorithm-Implementation</a:t>
            </a:r>
            <a:endParaRPr sz="4400"/>
          </a:p>
        </p:txBody>
      </p:sp>
      <p:sp>
        <p:nvSpPr>
          <p:cNvPr id="934" name="Google Shape;934;p116"/>
          <p:cNvSpPr txBox="1"/>
          <p:nvPr/>
        </p:nvSpPr>
        <p:spPr>
          <a:xfrm>
            <a:off x="718515" y="1246734"/>
            <a:ext cx="7408545" cy="31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42265" lvl="0" marL="342265" marR="446405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Counter implementation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1" marL="286385" marR="4404360" rtl="0" algn="r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maintains a clock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725805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page entry has a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Time of use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25220" marR="508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time page is referenced, copy the clock into the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time of  use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725805" marR="14160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page needs to be replaced, look at the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“Time of use”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 find smallest value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2" marL="1125220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through table needed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99415" rtl="0" algn="r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16"/>
          <p:cNvSpPr txBox="1"/>
          <p:nvPr/>
        </p:nvSpPr>
        <p:spPr>
          <a:xfrm>
            <a:off x="534162" y="4953761"/>
            <a:ext cx="838200" cy="609600"/>
          </a:xfrm>
          <a:prstGeom prst="rect">
            <a:avLst/>
          </a:pr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8275">
            <a:spAutoFit/>
          </a:bodyPr>
          <a:lstStyle/>
          <a:p>
            <a:pPr indent="0" lvl="0" marL="89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16"/>
          <p:cNvSpPr/>
          <p:nvPr/>
        </p:nvSpPr>
        <p:spPr>
          <a:xfrm>
            <a:off x="1372361" y="4801361"/>
            <a:ext cx="685800" cy="457200"/>
          </a:xfrm>
          <a:custGeom>
            <a:rect b="b" l="l" r="r" t="t"/>
            <a:pathLst>
              <a:path extrusionOk="0" h="457200" w="685800">
                <a:moveTo>
                  <a:pt x="685800" y="0"/>
                </a:moveTo>
                <a:lnTo>
                  <a:pt x="0" y="0"/>
                </a:lnTo>
                <a:lnTo>
                  <a:pt x="0" y="457200"/>
                </a:lnTo>
                <a:lnTo>
                  <a:pt x="685800" y="457200"/>
                </a:lnTo>
                <a:lnTo>
                  <a:pt x="6858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16"/>
          <p:cNvSpPr txBox="1"/>
          <p:nvPr/>
        </p:nvSpPr>
        <p:spPr>
          <a:xfrm>
            <a:off x="1372361" y="4801361"/>
            <a:ext cx="685800" cy="457200"/>
          </a:xfrm>
          <a:prstGeom prst="rect">
            <a:avLst/>
          </a:prstGeom>
          <a:noFill/>
          <a:ln cap="flat" cmpd="sng" w="25900">
            <a:solidFill>
              <a:srgbClr val="F794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2075">
            <a:spAutoFit/>
          </a:bodyPr>
          <a:lstStyle/>
          <a:p>
            <a:pPr indent="0" lvl="0" marL="15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8" name="Google Shape;938;p116"/>
          <p:cNvGrpSpPr/>
          <p:nvPr/>
        </p:nvGrpSpPr>
        <p:grpSpPr>
          <a:xfrm>
            <a:off x="1372361" y="5258561"/>
            <a:ext cx="914400" cy="393700"/>
            <a:chOff x="1372361" y="5258561"/>
            <a:chExt cx="914400" cy="393700"/>
          </a:xfrm>
        </p:grpSpPr>
        <p:sp>
          <p:nvSpPr>
            <p:cNvPr id="939" name="Google Shape;939;p116"/>
            <p:cNvSpPr/>
            <p:nvPr/>
          </p:nvSpPr>
          <p:spPr>
            <a:xfrm>
              <a:off x="1372361" y="5258561"/>
              <a:ext cx="914400" cy="393700"/>
            </a:xfrm>
            <a:custGeom>
              <a:rect b="b" l="l" r="r" t="t"/>
              <a:pathLst>
                <a:path extrusionOk="0" h="393700" w="914400">
                  <a:moveTo>
                    <a:pt x="717804" y="0"/>
                  </a:moveTo>
                  <a:lnTo>
                    <a:pt x="717804" y="98297"/>
                  </a:lnTo>
                  <a:lnTo>
                    <a:pt x="0" y="98297"/>
                  </a:lnTo>
                  <a:lnTo>
                    <a:pt x="0" y="294894"/>
                  </a:lnTo>
                  <a:lnTo>
                    <a:pt x="717804" y="294894"/>
                  </a:lnTo>
                  <a:lnTo>
                    <a:pt x="717804" y="393191"/>
                  </a:lnTo>
                  <a:lnTo>
                    <a:pt x="914400" y="196596"/>
                  </a:lnTo>
                  <a:lnTo>
                    <a:pt x="717804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16"/>
            <p:cNvSpPr/>
            <p:nvPr/>
          </p:nvSpPr>
          <p:spPr>
            <a:xfrm>
              <a:off x="1372361" y="5258561"/>
              <a:ext cx="914400" cy="393700"/>
            </a:xfrm>
            <a:custGeom>
              <a:rect b="b" l="l" r="r" t="t"/>
              <a:pathLst>
                <a:path extrusionOk="0" h="393700" w="914400">
                  <a:moveTo>
                    <a:pt x="0" y="98297"/>
                  </a:moveTo>
                  <a:lnTo>
                    <a:pt x="717804" y="98297"/>
                  </a:lnTo>
                  <a:lnTo>
                    <a:pt x="717804" y="0"/>
                  </a:lnTo>
                  <a:lnTo>
                    <a:pt x="914400" y="196596"/>
                  </a:lnTo>
                  <a:lnTo>
                    <a:pt x="717804" y="393191"/>
                  </a:lnTo>
                  <a:lnTo>
                    <a:pt x="717804" y="294894"/>
                  </a:lnTo>
                  <a:lnTo>
                    <a:pt x="0" y="294894"/>
                  </a:lnTo>
                  <a:lnTo>
                    <a:pt x="0" y="98297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116"/>
          <p:cNvSpPr txBox="1"/>
          <p:nvPr/>
        </p:nvSpPr>
        <p:spPr>
          <a:xfrm>
            <a:off x="1374139" y="5796483"/>
            <a:ext cx="7416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2" name="Google Shape;942;p116"/>
          <p:cNvGraphicFramePr/>
          <p:nvPr/>
        </p:nvGraphicFramePr>
        <p:xfrm>
          <a:off x="5016500" y="45862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1041400"/>
                <a:gridCol w="1041400"/>
                <a:gridCol w="10414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2075" marR="227329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of  Use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sp>
        <p:nvSpPr>
          <p:cNvPr id="943" name="Google Shape;943;p116"/>
          <p:cNvSpPr txBox="1"/>
          <p:nvPr/>
        </p:nvSpPr>
        <p:spPr>
          <a:xfrm>
            <a:off x="4727828" y="5262753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16"/>
          <p:cNvSpPr txBox="1"/>
          <p:nvPr/>
        </p:nvSpPr>
        <p:spPr>
          <a:xfrm>
            <a:off x="4727828" y="5553557"/>
            <a:ext cx="141605" cy="1078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Google Shape;94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0771" y="3276600"/>
            <a:ext cx="4861560" cy="3354324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117"/>
          <p:cNvSpPr txBox="1"/>
          <p:nvPr/>
        </p:nvSpPr>
        <p:spPr>
          <a:xfrm>
            <a:off x="392074" y="1421129"/>
            <a:ext cx="6076950" cy="139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implementation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a stack of page numbers in a double linked list form: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referenced: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2" marL="12134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 it to the top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Victim page is the bottom page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17"/>
          <p:cNvSpPr txBox="1"/>
          <p:nvPr>
            <p:ph type="title"/>
          </p:nvPr>
        </p:nvSpPr>
        <p:spPr>
          <a:xfrm>
            <a:off x="1005941" y="426212"/>
            <a:ext cx="713041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LRU Algorithm-Implementation</a:t>
            </a:r>
            <a:endParaRPr sz="44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8"/>
          <p:cNvSpPr txBox="1"/>
          <p:nvPr>
            <p:ph type="title"/>
          </p:nvPr>
        </p:nvSpPr>
        <p:spPr>
          <a:xfrm>
            <a:off x="1612519" y="183642"/>
            <a:ext cx="634873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LRU Approximation Algorithms</a:t>
            </a:r>
            <a:endParaRPr/>
          </a:p>
        </p:txBody>
      </p:sp>
      <p:sp>
        <p:nvSpPr>
          <p:cNvPr id="957" name="Google Shape;957;p118"/>
          <p:cNvSpPr txBox="1"/>
          <p:nvPr/>
        </p:nvSpPr>
        <p:spPr>
          <a:xfrm>
            <a:off x="307035" y="1017879"/>
            <a:ext cx="7727950" cy="484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LRU needs special hardware and still slow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Reference bit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each page associate a bit, initially = 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page is referenced bit set to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00AE5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AE50"/>
                </a:solidFill>
                <a:latin typeface="Calibri"/>
                <a:ea typeface="Calibri"/>
                <a:cs typeface="Calibri"/>
                <a:sym typeface="Calibri"/>
              </a:rPr>
              <a:t>Additional reference bit algorithm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the reference bits in regular interval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a 8 bit string for each page in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5080" rtl="0" algn="l">
              <a:lnSpc>
                <a:spcPct val="107142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regular interval, timer copies the reference bit  to the high order bit (MSB) of the string.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the other bits right side by one bit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46" y="1390703"/>
            <a:ext cx="8564873" cy="4918940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119"/>
          <p:cNvSpPr txBox="1"/>
          <p:nvPr>
            <p:ph type="title"/>
          </p:nvPr>
        </p:nvSpPr>
        <p:spPr>
          <a:xfrm>
            <a:off x="1929510" y="153670"/>
            <a:ext cx="57137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LRU Approximation Algorithms</a:t>
            </a:r>
            <a:endParaRPr sz="3600"/>
          </a:p>
        </p:txBody>
      </p:sp>
      <p:sp>
        <p:nvSpPr>
          <p:cNvPr id="964" name="Google Shape;964;p119"/>
          <p:cNvSpPr/>
          <p:nvPr/>
        </p:nvSpPr>
        <p:spPr>
          <a:xfrm>
            <a:off x="380974" y="1015110"/>
            <a:ext cx="1753235" cy="103505"/>
          </a:xfrm>
          <a:custGeom>
            <a:rect b="b" l="l" r="r" t="t"/>
            <a:pathLst>
              <a:path extrusionOk="0" h="103505" w="1753235">
                <a:moveTo>
                  <a:pt x="1752625" y="51689"/>
                </a:moveTo>
                <a:lnTo>
                  <a:pt x="1741703" y="45339"/>
                </a:lnTo>
                <a:lnTo>
                  <a:pt x="1727479" y="37045"/>
                </a:lnTo>
                <a:lnTo>
                  <a:pt x="1727479" y="51689"/>
                </a:lnTo>
                <a:lnTo>
                  <a:pt x="1722081" y="54851"/>
                </a:lnTo>
                <a:lnTo>
                  <a:pt x="1722081" y="51689"/>
                </a:lnTo>
                <a:lnTo>
                  <a:pt x="1722081" y="48539"/>
                </a:lnTo>
                <a:lnTo>
                  <a:pt x="1727479" y="51689"/>
                </a:lnTo>
                <a:lnTo>
                  <a:pt x="1727479" y="37045"/>
                </a:lnTo>
                <a:lnTo>
                  <a:pt x="1663979" y="0"/>
                </a:lnTo>
                <a:lnTo>
                  <a:pt x="1660169" y="1016"/>
                </a:lnTo>
                <a:lnTo>
                  <a:pt x="1656613" y="7112"/>
                </a:lnTo>
                <a:lnTo>
                  <a:pt x="1657629" y="10922"/>
                </a:lnTo>
                <a:lnTo>
                  <a:pt x="1716595" y="45339"/>
                </a:lnTo>
                <a:lnTo>
                  <a:pt x="36042" y="45339"/>
                </a:lnTo>
                <a:lnTo>
                  <a:pt x="95021" y="10922"/>
                </a:lnTo>
                <a:lnTo>
                  <a:pt x="96050" y="7112"/>
                </a:lnTo>
                <a:lnTo>
                  <a:pt x="92519" y="1016"/>
                </a:lnTo>
                <a:lnTo>
                  <a:pt x="88633" y="0"/>
                </a:lnTo>
                <a:lnTo>
                  <a:pt x="30594" y="33858"/>
                </a:lnTo>
                <a:lnTo>
                  <a:pt x="30594" y="48526"/>
                </a:lnTo>
                <a:lnTo>
                  <a:pt x="30594" y="51689"/>
                </a:lnTo>
                <a:lnTo>
                  <a:pt x="30594" y="54864"/>
                </a:lnTo>
                <a:lnTo>
                  <a:pt x="25158" y="51689"/>
                </a:lnTo>
                <a:lnTo>
                  <a:pt x="30594" y="48526"/>
                </a:lnTo>
                <a:lnTo>
                  <a:pt x="30594" y="33858"/>
                </a:lnTo>
                <a:lnTo>
                  <a:pt x="0" y="51689"/>
                </a:lnTo>
                <a:lnTo>
                  <a:pt x="88633" y="103378"/>
                </a:lnTo>
                <a:lnTo>
                  <a:pt x="92519" y="102362"/>
                </a:lnTo>
                <a:lnTo>
                  <a:pt x="96050" y="96266"/>
                </a:lnTo>
                <a:lnTo>
                  <a:pt x="95021" y="92456"/>
                </a:lnTo>
                <a:lnTo>
                  <a:pt x="36042" y="58039"/>
                </a:lnTo>
                <a:lnTo>
                  <a:pt x="1716595" y="58039"/>
                </a:lnTo>
                <a:lnTo>
                  <a:pt x="1657629" y="92456"/>
                </a:lnTo>
                <a:lnTo>
                  <a:pt x="1656613" y="96266"/>
                </a:lnTo>
                <a:lnTo>
                  <a:pt x="1660169" y="102362"/>
                </a:lnTo>
                <a:lnTo>
                  <a:pt x="1663979" y="103378"/>
                </a:lnTo>
                <a:lnTo>
                  <a:pt x="1741703" y="58039"/>
                </a:lnTo>
                <a:lnTo>
                  <a:pt x="1752625" y="516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19"/>
          <p:cNvSpPr/>
          <p:nvPr/>
        </p:nvSpPr>
        <p:spPr>
          <a:xfrm>
            <a:off x="2209800" y="1015110"/>
            <a:ext cx="1600200" cy="103505"/>
          </a:xfrm>
          <a:custGeom>
            <a:rect b="b" l="l" r="r" t="t"/>
            <a:pathLst>
              <a:path extrusionOk="0" h="103505" w="1600200">
                <a:moveTo>
                  <a:pt x="1600200" y="51689"/>
                </a:moveTo>
                <a:lnTo>
                  <a:pt x="1589278" y="45339"/>
                </a:lnTo>
                <a:lnTo>
                  <a:pt x="1575054" y="37045"/>
                </a:lnTo>
                <a:lnTo>
                  <a:pt x="1575054" y="51689"/>
                </a:lnTo>
                <a:lnTo>
                  <a:pt x="1569656" y="54851"/>
                </a:lnTo>
                <a:lnTo>
                  <a:pt x="1569656" y="51689"/>
                </a:lnTo>
                <a:lnTo>
                  <a:pt x="1569656" y="48539"/>
                </a:lnTo>
                <a:lnTo>
                  <a:pt x="1575054" y="51689"/>
                </a:lnTo>
                <a:lnTo>
                  <a:pt x="1575054" y="37045"/>
                </a:lnTo>
                <a:lnTo>
                  <a:pt x="1511554" y="0"/>
                </a:lnTo>
                <a:lnTo>
                  <a:pt x="1507744" y="1016"/>
                </a:lnTo>
                <a:lnTo>
                  <a:pt x="1504188" y="7112"/>
                </a:lnTo>
                <a:lnTo>
                  <a:pt x="1505204" y="10922"/>
                </a:lnTo>
                <a:lnTo>
                  <a:pt x="1564170" y="45339"/>
                </a:lnTo>
                <a:lnTo>
                  <a:pt x="35941" y="45339"/>
                </a:lnTo>
                <a:lnTo>
                  <a:pt x="94996" y="10922"/>
                </a:lnTo>
                <a:lnTo>
                  <a:pt x="96012" y="7112"/>
                </a:lnTo>
                <a:lnTo>
                  <a:pt x="92456" y="1016"/>
                </a:lnTo>
                <a:lnTo>
                  <a:pt x="88646" y="0"/>
                </a:lnTo>
                <a:lnTo>
                  <a:pt x="30543" y="33883"/>
                </a:lnTo>
                <a:lnTo>
                  <a:pt x="30543" y="48514"/>
                </a:lnTo>
                <a:lnTo>
                  <a:pt x="30543" y="51689"/>
                </a:lnTo>
                <a:lnTo>
                  <a:pt x="30543" y="54876"/>
                </a:lnTo>
                <a:lnTo>
                  <a:pt x="25146" y="51689"/>
                </a:lnTo>
                <a:lnTo>
                  <a:pt x="30543" y="48514"/>
                </a:lnTo>
                <a:lnTo>
                  <a:pt x="30543" y="33883"/>
                </a:lnTo>
                <a:lnTo>
                  <a:pt x="0" y="51689"/>
                </a:lnTo>
                <a:lnTo>
                  <a:pt x="88646" y="103378"/>
                </a:lnTo>
                <a:lnTo>
                  <a:pt x="92456" y="102362"/>
                </a:lnTo>
                <a:lnTo>
                  <a:pt x="96012" y="96266"/>
                </a:lnTo>
                <a:lnTo>
                  <a:pt x="94996" y="92456"/>
                </a:lnTo>
                <a:lnTo>
                  <a:pt x="35941" y="58039"/>
                </a:lnTo>
                <a:lnTo>
                  <a:pt x="1564170" y="58039"/>
                </a:lnTo>
                <a:lnTo>
                  <a:pt x="1505204" y="92456"/>
                </a:lnTo>
                <a:lnTo>
                  <a:pt x="1504188" y="96266"/>
                </a:lnTo>
                <a:lnTo>
                  <a:pt x="1507744" y="102362"/>
                </a:lnTo>
                <a:lnTo>
                  <a:pt x="1511554" y="103378"/>
                </a:lnTo>
                <a:lnTo>
                  <a:pt x="1589278" y="58039"/>
                </a:lnTo>
                <a:lnTo>
                  <a:pt x="1600200" y="516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19"/>
          <p:cNvSpPr/>
          <p:nvPr/>
        </p:nvSpPr>
        <p:spPr>
          <a:xfrm>
            <a:off x="3886200" y="1015110"/>
            <a:ext cx="1600200" cy="103505"/>
          </a:xfrm>
          <a:custGeom>
            <a:rect b="b" l="l" r="r" t="t"/>
            <a:pathLst>
              <a:path extrusionOk="0" h="103505" w="1600200">
                <a:moveTo>
                  <a:pt x="1600200" y="51689"/>
                </a:moveTo>
                <a:lnTo>
                  <a:pt x="1589278" y="45339"/>
                </a:lnTo>
                <a:lnTo>
                  <a:pt x="1575054" y="37045"/>
                </a:lnTo>
                <a:lnTo>
                  <a:pt x="1575054" y="51689"/>
                </a:lnTo>
                <a:lnTo>
                  <a:pt x="1569656" y="54851"/>
                </a:lnTo>
                <a:lnTo>
                  <a:pt x="1569656" y="51689"/>
                </a:lnTo>
                <a:lnTo>
                  <a:pt x="1569656" y="48539"/>
                </a:lnTo>
                <a:lnTo>
                  <a:pt x="1575054" y="51689"/>
                </a:lnTo>
                <a:lnTo>
                  <a:pt x="1575054" y="37045"/>
                </a:lnTo>
                <a:lnTo>
                  <a:pt x="1511554" y="0"/>
                </a:lnTo>
                <a:lnTo>
                  <a:pt x="1507744" y="1016"/>
                </a:lnTo>
                <a:lnTo>
                  <a:pt x="1504188" y="7112"/>
                </a:lnTo>
                <a:lnTo>
                  <a:pt x="1505204" y="10922"/>
                </a:lnTo>
                <a:lnTo>
                  <a:pt x="1564170" y="45339"/>
                </a:lnTo>
                <a:lnTo>
                  <a:pt x="35941" y="45339"/>
                </a:lnTo>
                <a:lnTo>
                  <a:pt x="94996" y="10922"/>
                </a:lnTo>
                <a:lnTo>
                  <a:pt x="96012" y="7112"/>
                </a:lnTo>
                <a:lnTo>
                  <a:pt x="92456" y="1016"/>
                </a:lnTo>
                <a:lnTo>
                  <a:pt x="88646" y="0"/>
                </a:lnTo>
                <a:lnTo>
                  <a:pt x="30543" y="33883"/>
                </a:lnTo>
                <a:lnTo>
                  <a:pt x="30543" y="48514"/>
                </a:lnTo>
                <a:lnTo>
                  <a:pt x="30543" y="51689"/>
                </a:lnTo>
                <a:lnTo>
                  <a:pt x="30543" y="54876"/>
                </a:lnTo>
                <a:lnTo>
                  <a:pt x="25146" y="51689"/>
                </a:lnTo>
                <a:lnTo>
                  <a:pt x="30543" y="48514"/>
                </a:lnTo>
                <a:lnTo>
                  <a:pt x="30543" y="33883"/>
                </a:lnTo>
                <a:lnTo>
                  <a:pt x="0" y="51689"/>
                </a:lnTo>
                <a:lnTo>
                  <a:pt x="88646" y="103378"/>
                </a:lnTo>
                <a:lnTo>
                  <a:pt x="92456" y="102362"/>
                </a:lnTo>
                <a:lnTo>
                  <a:pt x="96012" y="96266"/>
                </a:lnTo>
                <a:lnTo>
                  <a:pt x="94996" y="92456"/>
                </a:lnTo>
                <a:lnTo>
                  <a:pt x="35941" y="58039"/>
                </a:lnTo>
                <a:lnTo>
                  <a:pt x="1564170" y="58039"/>
                </a:lnTo>
                <a:lnTo>
                  <a:pt x="1505204" y="92456"/>
                </a:lnTo>
                <a:lnTo>
                  <a:pt x="1504188" y="96266"/>
                </a:lnTo>
                <a:lnTo>
                  <a:pt x="1507744" y="102362"/>
                </a:lnTo>
                <a:lnTo>
                  <a:pt x="1511554" y="103378"/>
                </a:lnTo>
                <a:lnTo>
                  <a:pt x="1589278" y="58039"/>
                </a:lnTo>
                <a:lnTo>
                  <a:pt x="1600200" y="516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19"/>
          <p:cNvSpPr txBox="1"/>
          <p:nvPr/>
        </p:nvSpPr>
        <p:spPr>
          <a:xfrm>
            <a:off x="993139" y="993775"/>
            <a:ext cx="6165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119"/>
          <p:cNvSpPr txBox="1"/>
          <p:nvPr/>
        </p:nvSpPr>
        <p:spPr>
          <a:xfrm>
            <a:off x="2593339" y="993775"/>
            <a:ext cx="22942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	Period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119"/>
          <p:cNvSpPr txBox="1"/>
          <p:nvPr/>
        </p:nvSpPr>
        <p:spPr>
          <a:xfrm>
            <a:off x="688035" y="2518409"/>
            <a:ext cx="12738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0 1 2 3 4 5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119"/>
          <p:cNvSpPr txBox="1"/>
          <p:nvPr/>
        </p:nvSpPr>
        <p:spPr>
          <a:xfrm>
            <a:off x="2364739" y="2518409"/>
            <a:ext cx="1274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0 1 2 3 4 5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19"/>
          <p:cNvSpPr txBox="1"/>
          <p:nvPr/>
        </p:nvSpPr>
        <p:spPr>
          <a:xfrm>
            <a:off x="4041775" y="2518409"/>
            <a:ext cx="12744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0 1 2 3 4 5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2" name="Google Shape;972;p119"/>
          <p:cNvGrpSpPr/>
          <p:nvPr/>
        </p:nvGrpSpPr>
        <p:grpSpPr>
          <a:xfrm>
            <a:off x="1596263" y="560451"/>
            <a:ext cx="537337" cy="430022"/>
            <a:chOff x="1596263" y="560451"/>
            <a:chExt cx="537337" cy="430022"/>
          </a:xfrm>
        </p:grpSpPr>
        <p:pic>
          <p:nvPicPr>
            <p:cNvPr id="973" name="Google Shape;973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29714" y="893191"/>
              <a:ext cx="103886" cy="97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119"/>
            <p:cNvSpPr/>
            <p:nvPr/>
          </p:nvSpPr>
          <p:spPr>
            <a:xfrm>
              <a:off x="1596263" y="560451"/>
              <a:ext cx="518159" cy="414655"/>
            </a:xfrm>
            <a:custGeom>
              <a:rect b="b" l="l" r="r" t="t"/>
              <a:pathLst>
                <a:path extrusionOk="0" h="414655" w="518160">
                  <a:moveTo>
                    <a:pt x="7874" y="0"/>
                  </a:moveTo>
                  <a:lnTo>
                    <a:pt x="0" y="9906"/>
                  </a:lnTo>
                  <a:lnTo>
                    <a:pt x="505206" y="412496"/>
                  </a:lnTo>
                  <a:lnTo>
                    <a:pt x="517651" y="414400"/>
                  </a:lnTo>
                  <a:lnTo>
                    <a:pt x="513080" y="402589"/>
                  </a:lnTo>
                  <a:lnTo>
                    <a:pt x="787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5" name="Google Shape;975;p119"/>
          <p:cNvSpPr txBox="1"/>
          <p:nvPr/>
        </p:nvSpPr>
        <p:spPr>
          <a:xfrm>
            <a:off x="764235" y="270764"/>
            <a:ext cx="897255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20"/>
          <p:cNvSpPr txBox="1"/>
          <p:nvPr>
            <p:ph type="title"/>
          </p:nvPr>
        </p:nvSpPr>
        <p:spPr>
          <a:xfrm>
            <a:off x="1612519" y="183642"/>
            <a:ext cx="634873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LRU Approximation Algorithms</a:t>
            </a:r>
            <a:endParaRPr/>
          </a:p>
        </p:txBody>
      </p:sp>
      <p:sp>
        <p:nvSpPr>
          <p:cNvPr id="981" name="Google Shape;981;p120"/>
          <p:cNvSpPr txBox="1"/>
          <p:nvPr/>
        </p:nvSpPr>
        <p:spPr>
          <a:xfrm>
            <a:off x="307035" y="1037335"/>
            <a:ext cx="7784465" cy="5093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LRU needs special hardware and still slow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Reference bit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19615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each page associate a bit, initially = 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0960" marR="0" rtl="0" algn="l">
              <a:lnSpc>
                <a:spcPct val="119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page is referenced bit set to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417830" marR="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Additional reference bit algorithm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Second-chance algorithm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FIFO, plus hardware-provided reference bit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 replacement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page to be replaced has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bit = 0 -&gt; replace 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bit = 1 then: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3" marL="16129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reference bit 0, leave page in memory (reset the time)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3" marL="161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next page, subject to same rules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21"/>
          <p:cNvSpPr txBox="1"/>
          <p:nvPr>
            <p:ph type="title"/>
          </p:nvPr>
        </p:nvSpPr>
        <p:spPr>
          <a:xfrm>
            <a:off x="2044445" y="261620"/>
            <a:ext cx="5408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Second-Chance (clock) Page-Replacement Algorithm</a:t>
            </a:r>
            <a:endParaRPr sz="2000"/>
          </a:p>
        </p:txBody>
      </p:sp>
      <p:pic>
        <p:nvPicPr>
          <p:cNvPr id="987" name="Google Shape;987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927" y="1286255"/>
            <a:ext cx="5897880" cy="473354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21"/>
          <p:cNvSpPr txBox="1"/>
          <p:nvPr/>
        </p:nvSpPr>
        <p:spPr>
          <a:xfrm>
            <a:off x="230530" y="6101283"/>
            <a:ext cx="35433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{Reference bit, Dirty bit} combination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22"/>
          <p:cNvSpPr txBox="1"/>
          <p:nvPr>
            <p:ph type="title"/>
          </p:nvPr>
        </p:nvSpPr>
        <p:spPr>
          <a:xfrm>
            <a:off x="2231263" y="426212"/>
            <a:ext cx="466852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Counting Algorithms</a:t>
            </a:r>
            <a:endParaRPr sz="4400"/>
          </a:p>
        </p:txBody>
      </p:sp>
      <p:sp>
        <p:nvSpPr>
          <p:cNvPr id="994" name="Google Shape;994;p122"/>
          <p:cNvSpPr txBox="1"/>
          <p:nvPr/>
        </p:nvSpPr>
        <p:spPr>
          <a:xfrm>
            <a:off x="906272" y="1191844"/>
            <a:ext cx="7264400" cy="4388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-342900" lvl="0" marL="355600" marR="207645" rtl="0" algn="l">
              <a:lnSpc>
                <a:spcPct val="9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a counter of the number of references  that have been made to each page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9060" marR="0" rtl="0" algn="l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 and most frequently used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63830" rtl="0" algn="l">
              <a:lnSpc>
                <a:spcPct val="96666"/>
              </a:lnSpc>
              <a:spcBef>
                <a:spcPts val="159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LFU Algorithm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	replaces page with smallest  count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000"/>
              <a:buFont typeface="Arial"/>
              <a:buChar char="•"/>
            </a:pPr>
            <a:r>
              <a:rPr b="1" lang="en-US" sz="3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MFU Algorithm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based on the argument that  the page with the smallest count was  probably just brought in and has yet to be  used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23"/>
          <p:cNvSpPr txBox="1"/>
          <p:nvPr>
            <p:ph type="title"/>
          </p:nvPr>
        </p:nvSpPr>
        <p:spPr>
          <a:xfrm>
            <a:off x="2782061" y="179323"/>
            <a:ext cx="356552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99085" lvl="0" marL="31115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Graph of Page Faults Versus  The Number of Frames</a:t>
            </a:r>
            <a:endParaRPr sz="2500"/>
          </a:p>
        </p:txBody>
      </p:sp>
      <p:pic>
        <p:nvPicPr>
          <p:cNvPr id="1000" name="Google Shape;1000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419" y="1895855"/>
            <a:ext cx="6189853" cy="3651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5" name="Google Shape;1005;p124"/>
          <p:cNvGraphicFramePr/>
          <p:nvPr/>
        </p:nvGraphicFramePr>
        <p:xfrm>
          <a:off x="2819145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6" name="Google Shape;1006;p124"/>
          <p:cNvGraphicFramePr/>
          <p:nvPr/>
        </p:nvGraphicFramePr>
        <p:xfrm>
          <a:off x="1892554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403225"/>
                <a:gridCol w="403225"/>
              </a:tblGrid>
              <a:tr h="533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82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9535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7" name="Google Shape;1007;p124"/>
          <p:cNvGraphicFramePr/>
          <p:nvPr/>
        </p:nvGraphicFramePr>
        <p:xfrm>
          <a:off x="3322065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8" name="Google Shape;1008;p124"/>
          <p:cNvGraphicFramePr/>
          <p:nvPr/>
        </p:nvGraphicFramePr>
        <p:xfrm>
          <a:off x="3823461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9" name="Google Shape;1009;p124"/>
          <p:cNvGraphicFramePr/>
          <p:nvPr/>
        </p:nvGraphicFramePr>
        <p:xfrm>
          <a:off x="4324858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0" name="Google Shape;1010;p124"/>
          <p:cNvGraphicFramePr/>
          <p:nvPr/>
        </p:nvGraphicFramePr>
        <p:xfrm>
          <a:off x="4826253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1" name="Google Shape;1011;p124"/>
          <p:cNvGraphicFramePr/>
          <p:nvPr/>
        </p:nvGraphicFramePr>
        <p:xfrm>
          <a:off x="5327650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2" name="Google Shape;1012;p124"/>
          <p:cNvGraphicFramePr/>
          <p:nvPr/>
        </p:nvGraphicFramePr>
        <p:xfrm>
          <a:off x="5829046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3" name="Google Shape;1013;p124"/>
          <p:cNvGraphicFramePr/>
          <p:nvPr/>
        </p:nvGraphicFramePr>
        <p:xfrm>
          <a:off x="6331965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4" name="Google Shape;1014;p124"/>
          <p:cNvGraphicFramePr/>
          <p:nvPr/>
        </p:nvGraphicFramePr>
        <p:xfrm>
          <a:off x="6833361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304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5" name="Google Shape;1015;p124"/>
          <p:cNvGraphicFramePr/>
          <p:nvPr/>
        </p:nvGraphicFramePr>
        <p:xfrm>
          <a:off x="7334757" y="41785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11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6" name="Google Shape;1016;p124"/>
          <p:cNvSpPr txBox="1"/>
          <p:nvPr>
            <p:ph type="title"/>
          </p:nvPr>
        </p:nvSpPr>
        <p:spPr>
          <a:xfrm>
            <a:off x="2704338" y="1294637"/>
            <a:ext cx="3820795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FIFO Example –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 - 5 pages,</a:t>
            </a:r>
            <a:endParaRPr/>
          </a:p>
        </p:txBody>
      </p:sp>
      <p:sp>
        <p:nvSpPr>
          <p:cNvPr id="1017" name="Google Shape;1017;p124"/>
          <p:cNvSpPr txBox="1"/>
          <p:nvPr/>
        </p:nvSpPr>
        <p:spPr>
          <a:xfrm>
            <a:off x="1129690" y="2513787"/>
            <a:ext cx="6577965" cy="241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949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frames of Memory allocated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50264" marR="0" rtl="0" algn="l">
              <a:lnSpc>
                <a:spcPct val="100000"/>
              </a:lnSpc>
              <a:spcBef>
                <a:spcPts val="347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	2	3	4	1	2	5	1	2	3	4	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124"/>
          <p:cNvSpPr txBox="1"/>
          <p:nvPr/>
        </p:nvSpPr>
        <p:spPr>
          <a:xfrm>
            <a:off x="1983739" y="5580075"/>
            <a:ext cx="31000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9" name="Google Shape;1019;p124"/>
          <p:cNvSpPr txBox="1"/>
          <p:nvPr/>
        </p:nvSpPr>
        <p:spPr>
          <a:xfrm>
            <a:off x="6404609" y="5580075"/>
            <a:ext cx="7372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20" name="Google Shape;1020;p124"/>
          <p:cNvSpPr txBox="1"/>
          <p:nvPr/>
        </p:nvSpPr>
        <p:spPr>
          <a:xfrm>
            <a:off x="459435" y="286257"/>
            <a:ext cx="816927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Increase in page frame decreases page fault rate?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5" name="Google Shape;1025;p125"/>
          <p:cNvGraphicFramePr/>
          <p:nvPr/>
        </p:nvGraphicFramePr>
        <p:xfrm>
          <a:off x="2819145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55880" rtl="0" algn="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6" name="Google Shape;1026;p125"/>
          <p:cNvGraphicFramePr/>
          <p:nvPr/>
        </p:nvGraphicFramePr>
        <p:xfrm>
          <a:off x="1892554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403225"/>
                <a:gridCol w="403225"/>
              </a:tblGrid>
              <a:tr h="533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953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9535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7" name="Google Shape;1027;p125"/>
          <p:cNvGraphicFramePr/>
          <p:nvPr/>
        </p:nvGraphicFramePr>
        <p:xfrm>
          <a:off x="3322065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8" name="Google Shape;1028;p125"/>
          <p:cNvGraphicFramePr/>
          <p:nvPr/>
        </p:nvGraphicFramePr>
        <p:xfrm>
          <a:off x="3823461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78105" rtl="0" algn="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9" name="Google Shape;1029;p125"/>
          <p:cNvGraphicFramePr/>
          <p:nvPr/>
        </p:nvGraphicFramePr>
        <p:xfrm>
          <a:off x="4324858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97790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0" name="Google Shape;1030;p125"/>
          <p:cNvGraphicFramePr/>
          <p:nvPr/>
        </p:nvGraphicFramePr>
        <p:xfrm>
          <a:off x="4826253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81280" rtl="0" algn="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1" name="Google Shape;1031;p125"/>
          <p:cNvGraphicFramePr/>
          <p:nvPr/>
        </p:nvGraphicFramePr>
        <p:xfrm>
          <a:off x="5327650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2" name="Google Shape;1032;p125"/>
          <p:cNvGraphicFramePr/>
          <p:nvPr/>
        </p:nvGraphicFramePr>
        <p:xfrm>
          <a:off x="5829046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3" name="Google Shape;1033;p125"/>
          <p:cNvGraphicFramePr/>
          <p:nvPr/>
        </p:nvGraphicFramePr>
        <p:xfrm>
          <a:off x="6331965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62864" rtl="0" algn="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4" name="Google Shape;1034;p125"/>
          <p:cNvGraphicFramePr/>
          <p:nvPr/>
        </p:nvGraphicFramePr>
        <p:xfrm>
          <a:off x="6833361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31750" rtl="0" algn="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5" name="Google Shape;1035;p125"/>
          <p:cNvGraphicFramePr/>
          <p:nvPr/>
        </p:nvGraphicFramePr>
        <p:xfrm>
          <a:off x="7334757" y="28069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5334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9270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48260" marR="0" rtl="0" algn="ctr">
                        <a:lnSpc>
                          <a:spcPct val="11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6" name="Google Shape;1036;p125"/>
          <p:cNvGraphicFramePr/>
          <p:nvPr/>
        </p:nvGraphicFramePr>
        <p:xfrm>
          <a:off x="3387597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13334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13334" marR="0" rtl="0" algn="ct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13334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3334" marR="0" rtl="0" algn="ct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7" name="Google Shape;1037;p125"/>
          <p:cNvGraphicFramePr/>
          <p:nvPr/>
        </p:nvGraphicFramePr>
        <p:xfrm>
          <a:off x="2390901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0" marR="86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86360" rtl="0" algn="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8" name="Google Shape;1038;p125"/>
          <p:cNvGraphicFramePr/>
          <p:nvPr/>
        </p:nvGraphicFramePr>
        <p:xfrm>
          <a:off x="2889250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8572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9" name="Google Shape;1039;p125"/>
          <p:cNvGraphicFramePr/>
          <p:nvPr/>
        </p:nvGraphicFramePr>
        <p:xfrm>
          <a:off x="3885946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79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79375" marR="0" rtl="0" algn="l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7937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79375" marR="0" rtl="0" algn="l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0" name="Google Shape;1040;p125"/>
          <p:cNvGraphicFramePr/>
          <p:nvPr/>
        </p:nvGraphicFramePr>
        <p:xfrm>
          <a:off x="4384294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0" marR="10667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106679" rtl="0" algn="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106679" rtl="0" algn="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06679" rtl="0" algn="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1" name="Google Shape;1041;p125"/>
          <p:cNvGraphicFramePr/>
          <p:nvPr/>
        </p:nvGraphicFramePr>
        <p:xfrm>
          <a:off x="4885690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0" marR="64769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64769" rtl="0" algn="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64769" rtl="0" algn="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64769" rtl="0" algn="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2" name="Google Shape;1042;p125"/>
          <p:cNvGraphicFramePr/>
          <p:nvPr/>
        </p:nvGraphicFramePr>
        <p:xfrm>
          <a:off x="5384038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106045" marR="0" rtl="0" algn="l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3" name="Google Shape;1043;p125"/>
          <p:cNvGraphicFramePr/>
          <p:nvPr/>
        </p:nvGraphicFramePr>
        <p:xfrm>
          <a:off x="5882385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0" marR="7048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70485" rtl="0" algn="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70485" rtl="0" algn="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70485" rtl="0" algn="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4" name="Google Shape;1044;p125"/>
          <p:cNvGraphicFramePr/>
          <p:nvPr/>
        </p:nvGraphicFramePr>
        <p:xfrm>
          <a:off x="6380734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0" marR="114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11430" rtl="0" algn="ct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1143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11430" rtl="0" algn="ct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5" name="Google Shape;1045;p125"/>
          <p:cNvGraphicFramePr/>
          <p:nvPr/>
        </p:nvGraphicFramePr>
        <p:xfrm>
          <a:off x="6879081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444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44450" marR="0" rtl="0" algn="ctr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4445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44450" marR="0" rtl="0" algn="ctr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6" name="Google Shape;1046;p125"/>
          <p:cNvGraphicFramePr/>
          <p:nvPr/>
        </p:nvGraphicFramePr>
        <p:xfrm>
          <a:off x="7378954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92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1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47" name="Google Shape;1047;p125"/>
          <p:cNvGraphicFramePr/>
          <p:nvPr/>
        </p:nvGraphicFramePr>
        <p:xfrm>
          <a:off x="1892554" y="4635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381000"/>
              </a:tblGrid>
              <a:tr h="457950">
                <a:tc>
                  <a:txBody>
                    <a:bodyPr/>
                    <a:lstStyle/>
                    <a:p>
                      <a:pPr indent="0" lvl="0" marL="152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8" name="Google Shape;1048;p125"/>
          <p:cNvSpPr txBox="1"/>
          <p:nvPr/>
        </p:nvSpPr>
        <p:spPr>
          <a:xfrm>
            <a:off x="1983739" y="6265875"/>
            <a:ext cx="16516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49" name="Google Shape;1049;p125"/>
          <p:cNvSpPr txBox="1"/>
          <p:nvPr/>
        </p:nvSpPr>
        <p:spPr>
          <a:xfrm>
            <a:off x="4956809" y="6265875"/>
            <a:ext cx="264223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🗏</a:t>
            </a:r>
            <a:endParaRPr sz="2000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0" name="Google Shape;1050;p125"/>
          <p:cNvSpPr txBox="1"/>
          <p:nvPr/>
        </p:nvSpPr>
        <p:spPr>
          <a:xfrm>
            <a:off x="1053490" y="4626991"/>
            <a:ext cx="70231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125"/>
          <p:cNvSpPr txBox="1"/>
          <p:nvPr>
            <p:ph type="title"/>
          </p:nvPr>
        </p:nvSpPr>
        <p:spPr>
          <a:xfrm>
            <a:off x="961440" y="-32512"/>
            <a:ext cx="7221118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88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FIFO Example –</a:t>
            </a:r>
            <a:endParaRPr/>
          </a:p>
          <a:p>
            <a:pPr indent="0" lvl="0" marL="76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 - 5 pages,</a:t>
            </a:r>
            <a:endParaRPr/>
          </a:p>
        </p:txBody>
      </p:sp>
      <p:sp>
        <p:nvSpPr>
          <p:cNvPr id="1052" name="Google Shape;1052;p125"/>
          <p:cNvSpPr txBox="1"/>
          <p:nvPr/>
        </p:nvSpPr>
        <p:spPr>
          <a:xfrm>
            <a:off x="1463166" y="1218056"/>
            <a:ext cx="6244590" cy="1360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frames of Memory allocated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16890" marR="0" rtl="0" algn="l">
              <a:lnSpc>
                <a:spcPct val="100000"/>
              </a:lnSpc>
              <a:spcBef>
                <a:spcPts val="28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	2	3	4	1	2	5	1	2	3	4	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53" name="Google Shape;1053;p125"/>
          <p:cNvGrpSpPr/>
          <p:nvPr/>
        </p:nvGrpSpPr>
        <p:grpSpPr>
          <a:xfrm>
            <a:off x="4953762" y="4115562"/>
            <a:ext cx="167640" cy="533400"/>
            <a:chOff x="4953762" y="4115562"/>
            <a:chExt cx="167640" cy="533400"/>
          </a:xfrm>
        </p:grpSpPr>
        <p:sp>
          <p:nvSpPr>
            <p:cNvPr id="1054" name="Google Shape;1054;p125"/>
            <p:cNvSpPr/>
            <p:nvPr/>
          </p:nvSpPr>
          <p:spPr>
            <a:xfrm>
              <a:off x="4953762" y="4115562"/>
              <a:ext cx="167640" cy="533400"/>
            </a:xfrm>
            <a:custGeom>
              <a:rect b="b" l="l" r="r" t="t"/>
              <a:pathLst>
                <a:path extrusionOk="0" h="533400" w="167639">
                  <a:moveTo>
                    <a:pt x="83820" y="0"/>
                  </a:moveTo>
                  <a:lnTo>
                    <a:pt x="0" y="83819"/>
                  </a:lnTo>
                  <a:lnTo>
                    <a:pt x="41910" y="83819"/>
                  </a:lnTo>
                  <a:lnTo>
                    <a:pt x="41910" y="449580"/>
                  </a:lnTo>
                  <a:lnTo>
                    <a:pt x="0" y="449580"/>
                  </a:lnTo>
                  <a:lnTo>
                    <a:pt x="83820" y="533400"/>
                  </a:lnTo>
                  <a:lnTo>
                    <a:pt x="167639" y="449580"/>
                  </a:lnTo>
                  <a:lnTo>
                    <a:pt x="125729" y="449580"/>
                  </a:lnTo>
                  <a:lnTo>
                    <a:pt x="125729" y="83819"/>
                  </a:lnTo>
                  <a:lnTo>
                    <a:pt x="167639" y="83819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4F81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125"/>
            <p:cNvSpPr/>
            <p:nvPr/>
          </p:nvSpPr>
          <p:spPr>
            <a:xfrm>
              <a:off x="4953762" y="4115562"/>
              <a:ext cx="167640" cy="533400"/>
            </a:xfrm>
            <a:custGeom>
              <a:rect b="b" l="l" r="r" t="t"/>
              <a:pathLst>
                <a:path extrusionOk="0" h="533400" w="167639">
                  <a:moveTo>
                    <a:pt x="0" y="83819"/>
                  </a:moveTo>
                  <a:lnTo>
                    <a:pt x="83820" y="0"/>
                  </a:lnTo>
                  <a:lnTo>
                    <a:pt x="167639" y="83819"/>
                  </a:lnTo>
                  <a:lnTo>
                    <a:pt x="125729" y="83819"/>
                  </a:lnTo>
                  <a:lnTo>
                    <a:pt x="125729" y="449580"/>
                  </a:lnTo>
                  <a:lnTo>
                    <a:pt x="167639" y="449580"/>
                  </a:lnTo>
                  <a:lnTo>
                    <a:pt x="83820" y="533400"/>
                  </a:lnTo>
                  <a:lnTo>
                    <a:pt x="0" y="449580"/>
                  </a:lnTo>
                  <a:lnTo>
                    <a:pt x="41910" y="449580"/>
                  </a:lnTo>
                  <a:lnTo>
                    <a:pt x="41910" y="83819"/>
                  </a:lnTo>
                  <a:lnTo>
                    <a:pt x="0" y="83819"/>
                  </a:lnTo>
                  <a:close/>
                </a:path>
              </a:pathLst>
            </a:custGeom>
            <a:noFill/>
            <a:ln cap="flat" cmpd="sng" w="25900">
              <a:solidFill>
                <a:srgbClr val="385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6"/>
          <p:cNvSpPr txBox="1"/>
          <p:nvPr/>
        </p:nvSpPr>
        <p:spPr>
          <a:xfrm>
            <a:off x="535635" y="6428333"/>
            <a:ext cx="8610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cs431-cotter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26"/>
          <p:cNvSpPr txBox="1"/>
          <p:nvPr/>
        </p:nvSpPr>
        <p:spPr>
          <a:xfrm>
            <a:off x="8337931" y="6428333"/>
            <a:ext cx="2603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26"/>
          <p:cNvSpPr txBox="1"/>
          <p:nvPr>
            <p:ph type="title"/>
          </p:nvPr>
        </p:nvSpPr>
        <p:spPr>
          <a:xfrm>
            <a:off x="2558033" y="426212"/>
            <a:ext cx="401256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Belady's Anomaly</a:t>
            </a:r>
            <a:endParaRPr sz="4400"/>
          </a:p>
        </p:txBody>
      </p:sp>
      <p:graphicFrame>
        <p:nvGraphicFramePr>
          <p:cNvPr id="1063" name="Google Shape;1063;p126"/>
          <p:cNvGraphicFramePr/>
          <p:nvPr/>
        </p:nvGraphicFramePr>
        <p:xfrm>
          <a:off x="2080005" y="1968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693425"/>
                <a:gridCol w="693425"/>
                <a:gridCol w="696600"/>
                <a:gridCol w="693425"/>
                <a:gridCol w="693425"/>
                <a:gridCol w="694700"/>
                <a:gridCol w="693425"/>
                <a:gridCol w="694700"/>
                <a:gridCol w="694700"/>
              </a:tblGrid>
              <a:tr h="3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4" name="Google Shape;1064;p126"/>
          <p:cNvSpPr txBox="1"/>
          <p:nvPr/>
        </p:nvSpPr>
        <p:spPr>
          <a:xfrm rot="-5400000">
            <a:off x="637264" y="3572062"/>
            <a:ext cx="1988185" cy="36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Page Faults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126"/>
          <p:cNvSpPr txBox="1"/>
          <p:nvPr/>
        </p:nvSpPr>
        <p:spPr>
          <a:xfrm>
            <a:off x="3298697" y="5846775"/>
            <a:ext cx="231457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Frames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126"/>
          <p:cNvSpPr/>
          <p:nvPr/>
        </p:nvSpPr>
        <p:spPr>
          <a:xfrm>
            <a:off x="2779014" y="3505961"/>
            <a:ext cx="4876800" cy="1447800"/>
          </a:xfrm>
          <a:custGeom>
            <a:rect b="b" l="l" r="r" t="t"/>
            <a:pathLst>
              <a:path extrusionOk="0" h="1447800" w="4876800">
                <a:moveTo>
                  <a:pt x="0" y="0"/>
                </a:moveTo>
                <a:lnTo>
                  <a:pt x="685800" y="76200"/>
                </a:lnTo>
                <a:lnTo>
                  <a:pt x="1371600" y="533400"/>
                </a:lnTo>
                <a:lnTo>
                  <a:pt x="2057400" y="228600"/>
                </a:lnTo>
                <a:lnTo>
                  <a:pt x="2819400" y="1066800"/>
                </a:lnTo>
                <a:lnTo>
                  <a:pt x="3429000" y="1447800"/>
                </a:lnTo>
                <a:lnTo>
                  <a:pt x="4191000" y="1447800"/>
                </a:lnTo>
                <a:lnTo>
                  <a:pt x="4876800" y="1447800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27"/>
          <p:cNvSpPr txBox="1"/>
          <p:nvPr>
            <p:ph type="title"/>
          </p:nvPr>
        </p:nvSpPr>
        <p:spPr>
          <a:xfrm>
            <a:off x="2559176" y="426212"/>
            <a:ext cx="402018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Belady’s Anomaly</a:t>
            </a:r>
            <a:endParaRPr sz="4400"/>
          </a:p>
        </p:txBody>
      </p:sp>
      <p:sp>
        <p:nvSpPr>
          <p:cNvPr id="1072" name="Google Shape;1072;p127"/>
          <p:cNvSpPr txBox="1"/>
          <p:nvPr/>
        </p:nvSpPr>
        <p:spPr>
          <a:xfrm>
            <a:off x="535635" y="1497838"/>
            <a:ext cx="7509509" cy="3361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most unexpected result is known 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5080" rtl="0" algn="l">
              <a:lnSpc>
                <a:spcPct val="78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Belady’s anomaly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for some page-  replacement algorithms, the page fault rate  may </a:t>
            </a: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increase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the number of allocated  frames increases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615950" rtl="0" algn="l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there a characterization of algorithms  susceptible to </a:t>
            </a:r>
            <a:r>
              <a:rPr lang="en-US" sz="3200">
                <a:solidFill>
                  <a:srgbClr val="1F477B"/>
                </a:solidFill>
                <a:latin typeface="Calibri"/>
                <a:ea typeface="Calibri"/>
                <a:cs typeface="Calibri"/>
                <a:sym typeface="Calibri"/>
              </a:rPr>
              <a:t>Belady’s anomaly?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28"/>
          <p:cNvSpPr txBox="1"/>
          <p:nvPr>
            <p:ph type="title"/>
          </p:nvPr>
        </p:nvSpPr>
        <p:spPr>
          <a:xfrm>
            <a:off x="2658617" y="426212"/>
            <a:ext cx="3811904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Stack Algorithms</a:t>
            </a:r>
            <a:endParaRPr sz="4400"/>
          </a:p>
        </p:txBody>
      </p:sp>
      <p:sp>
        <p:nvSpPr>
          <p:cNvPr id="1078" name="Google Shape;1078;p128"/>
          <p:cNvSpPr txBox="1"/>
          <p:nvPr/>
        </p:nvSpPr>
        <p:spPr>
          <a:xfrm>
            <a:off x="535635" y="1523746"/>
            <a:ext cx="7948295" cy="4906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-342900" lvl="0" marL="355600" marR="115316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Certain page replacement algorithms are more “well  behaved” than others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9375" rtl="0" algn="l">
              <a:lnSpc>
                <a:spcPct val="869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 the FIFO example), the problem arises because the set of  pages loaded with a memory allocation of 3 frames is not  necessarily also loaded with a memory allocation of 4 frames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 set of paging algorithms whereby the set of pages  loaded with an allocation of </a:t>
            </a:r>
            <a:r>
              <a:rPr i="1" lang="en-US" sz="2400">
                <a:solidFill>
                  <a:srgbClr val="1F477B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is always a subset of  the set of pages loaded with an allocation of </a:t>
            </a:r>
            <a:r>
              <a:rPr i="1" lang="en-US" sz="2400">
                <a:solidFill>
                  <a:srgbClr val="1F477B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 frames.  This property is called the </a:t>
            </a:r>
            <a:r>
              <a:rPr lang="en-US" sz="24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inclusion property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2950"/>
              <a:buFont typeface="Arial"/>
              <a:buNone/>
            </a:pPr>
            <a:r>
              <a:t/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34620" rtl="0" algn="l">
              <a:lnSpc>
                <a:spcPct val="869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 that satisfy the inclusion property are not subject  to </a:t>
            </a:r>
            <a:r>
              <a:rPr lang="en-US" sz="2400">
                <a:solidFill>
                  <a:srgbClr val="1F477B"/>
                </a:solidFill>
                <a:latin typeface="Calibri"/>
                <a:ea typeface="Calibri"/>
                <a:cs typeface="Calibri"/>
                <a:sym typeface="Calibri"/>
              </a:rPr>
              <a:t>Belady’s anomaly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FIFO does not satisfy the inclusion  property and is not a </a:t>
            </a:r>
            <a:r>
              <a:rPr lang="en-US" sz="2400">
                <a:solidFill>
                  <a:srgbClr val="C0504D"/>
                </a:solidFill>
                <a:latin typeface="Calibri"/>
                <a:ea typeface="Calibri"/>
                <a:cs typeface="Calibri"/>
                <a:sym typeface="Calibri"/>
              </a:rPr>
              <a:t>stack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129"/>
          <p:cNvSpPr/>
          <p:nvPr/>
        </p:nvSpPr>
        <p:spPr>
          <a:xfrm>
            <a:off x="1974214" y="1676400"/>
            <a:ext cx="608965" cy="3554729"/>
          </a:xfrm>
          <a:custGeom>
            <a:rect b="b" l="l" r="r" t="t"/>
            <a:pathLst>
              <a:path extrusionOk="0" h="3554729" w="608964">
                <a:moveTo>
                  <a:pt x="0" y="3554729"/>
                </a:moveTo>
                <a:lnTo>
                  <a:pt x="608964" y="3554729"/>
                </a:lnTo>
                <a:lnTo>
                  <a:pt x="608964" y="0"/>
                </a:lnTo>
                <a:lnTo>
                  <a:pt x="0" y="0"/>
                </a:lnTo>
                <a:lnTo>
                  <a:pt x="0" y="3554729"/>
                </a:lnTo>
                <a:close/>
              </a:path>
            </a:pathLst>
          </a:custGeom>
          <a:solidFill>
            <a:srgbClr val="F794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29"/>
          <p:cNvSpPr/>
          <p:nvPr/>
        </p:nvSpPr>
        <p:spPr>
          <a:xfrm>
            <a:off x="3039745" y="1676400"/>
            <a:ext cx="608965" cy="3554729"/>
          </a:xfrm>
          <a:custGeom>
            <a:rect b="b" l="l" r="r" t="t"/>
            <a:pathLst>
              <a:path extrusionOk="0" h="3554729" w="608964">
                <a:moveTo>
                  <a:pt x="0" y="3554729"/>
                </a:moveTo>
                <a:lnTo>
                  <a:pt x="608965" y="3554729"/>
                </a:lnTo>
                <a:lnTo>
                  <a:pt x="608965" y="0"/>
                </a:lnTo>
                <a:lnTo>
                  <a:pt x="0" y="0"/>
                </a:lnTo>
                <a:lnTo>
                  <a:pt x="0" y="3554729"/>
                </a:lnTo>
                <a:close/>
              </a:path>
            </a:pathLst>
          </a:custGeom>
          <a:solidFill>
            <a:srgbClr val="F794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29"/>
          <p:cNvSpPr/>
          <p:nvPr/>
        </p:nvSpPr>
        <p:spPr>
          <a:xfrm>
            <a:off x="4410075" y="1676400"/>
            <a:ext cx="608965" cy="3554729"/>
          </a:xfrm>
          <a:custGeom>
            <a:rect b="b" l="l" r="r" t="t"/>
            <a:pathLst>
              <a:path extrusionOk="0" h="3554729" w="608964">
                <a:moveTo>
                  <a:pt x="0" y="3554729"/>
                </a:moveTo>
                <a:lnTo>
                  <a:pt x="608964" y="3554729"/>
                </a:lnTo>
                <a:lnTo>
                  <a:pt x="608964" y="0"/>
                </a:lnTo>
                <a:lnTo>
                  <a:pt x="0" y="0"/>
                </a:lnTo>
                <a:lnTo>
                  <a:pt x="0" y="3554729"/>
                </a:lnTo>
                <a:close/>
              </a:path>
            </a:pathLst>
          </a:custGeom>
          <a:solidFill>
            <a:srgbClr val="F794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29"/>
          <p:cNvSpPr/>
          <p:nvPr/>
        </p:nvSpPr>
        <p:spPr>
          <a:xfrm>
            <a:off x="6009005" y="1676399"/>
            <a:ext cx="608965" cy="3596640"/>
          </a:xfrm>
          <a:custGeom>
            <a:rect b="b" l="l" r="r" t="t"/>
            <a:pathLst>
              <a:path extrusionOk="0" h="3596640" w="608965">
                <a:moveTo>
                  <a:pt x="608965" y="0"/>
                </a:moveTo>
                <a:lnTo>
                  <a:pt x="0" y="0"/>
                </a:lnTo>
                <a:lnTo>
                  <a:pt x="0" y="3554730"/>
                </a:lnTo>
                <a:lnTo>
                  <a:pt x="0" y="3596640"/>
                </a:lnTo>
                <a:lnTo>
                  <a:pt x="608965" y="3596640"/>
                </a:lnTo>
                <a:lnTo>
                  <a:pt x="608965" y="3554730"/>
                </a:lnTo>
                <a:lnTo>
                  <a:pt x="608965" y="0"/>
                </a:lnTo>
                <a:close/>
              </a:path>
            </a:pathLst>
          </a:custGeom>
          <a:solidFill>
            <a:srgbClr val="F794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29"/>
          <p:cNvSpPr/>
          <p:nvPr/>
        </p:nvSpPr>
        <p:spPr>
          <a:xfrm>
            <a:off x="1974214" y="5273040"/>
            <a:ext cx="608965" cy="1584960"/>
          </a:xfrm>
          <a:custGeom>
            <a:rect b="b" l="l" r="r" t="t"/>
            <a:pathLst>
              <a:path extrusionOk="0" h="1584959" w="608964">
                <a:moveTo>
                  <a:pt x="608964" y="0"/>
                </a:moveTo>
                <a:lnTo>
                  <a:pt x="0" y="0"/>
                </a:lnTo>
                <a:lnTo>
                  <a:pt x="0" y="1584956"/>
                </a:lnTo>
                <a:lnTo>
                  <a:pt x="608964" y="1584956"/>
                </a:lnTo>
                <a:lnTo>
                  <a:pt x="608964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29"/>
          <p:cNvSpPr/>
          <p:nvPr/>
        </p:nvSpPr>
        <p:spPr>
          <a:xfrm>
            <a:off x="3039745" y="5273040"/>
            <a:ext cx="608965" cy="1584960"/>
          </a:xfrm>
          <a:custGeom>
            <a:rect b="b" l="l" r="r" t="t"/>
            <a:pathLst>
              <a:path extrusionOk="0" h="1584959" w="608964">
                <a:moveTo>
                  <a:pt x="608965" y="0"/>
                </a:moveTo>
                <a:lnTo>
                  <a:pt x="0" y="0"/>
                </a:lnTo>
                <a:lnTo>
                  <a:pt x="0" y="1584956"/>
                </a:lnTo>
                <a:lnTo>
                  <a:pt x="608965" y="1584956"/>
                </a:lnTo>
                <a:lnTo>
                  <a:pt x="608965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29"/>
          <p:cNvSpPr/>
          <p:nvPr/>
        </p:nvSpPr>
        <p:spPr>
          <a:xfrm>
            <a:off x="4410075" y="5273040"/>
            <a:ext cx="608965" cy="1584960"/>
          </a:xfrm>
          <a:custGeom>
            <a:rect b="b" l="l" r="r" t="t"/>
            <a:pathLst>
              <a:path extrusionOk="0" h="1584959" w="608964">
                <a:moveTo>
                  <a:pt x="608964" y="0"/>
                </a:moveTo>
                <a:lnTo>
                  <a:pt x="0" y="0"/>
                </a:lnTo>
                <a:lnTo>
                  <a:pt x="0" y="1584956"/>
                </a:lnTo>
                <a:lnTo>
                  <a:pt x="608964" y="1584956"/>
                </a:lnTo>
                <a:lnTo>
                  <a:pt x="608964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0" name="Google Shape;1090;p129"/>
          <p:cNvGrpSpPr/>
          <p:nvPr/>
        </p:nvGrpSpPr>
        <p:grpSpPr>
          <a:xfrm>
            <a:off x="6009004" y="5273040"/>
            <a:ext cx="608965" cy="1584960"/>
            <a:chOff x="6009004" y="5273040"/>
            <a:chExt cx="608965" cy="1584960"/>
          </a:xfrm>
        </p:grpSpPr>
        <p:sp>
          <p:nvSpPr>
            <p:cNvPr id="1091" name="Google Shape;1091;p129"/>
            <p:cNvSpPr/>
            <p:nvPr/>
          </p:nvSpPr>
          <p:spPr>
            <a:xfrm>
              <a:off x="6009004" y="5273040"/>
              <a:ext cx="608965" cy="1584960"/>
            </a:xfrm>
            <a:custGeom>
              <a:rect b="b" l="l" r="r" t="t"/>
              <a:pathLst>
                <a:path extrusionOk="0" h="1584959" w="608965">
                  <a:moveTo>
                    <a:pt x="608965" y="0"/>
                  </a:moveTo>
                  <a:lnTo>
                    <a:pt x="0" y="0"/>
                  </a:lnTo>
                  <a:lnTo>
                    <a:pt x="0" y="1584956"/>
                  </a:lnTo>
                  <a:lnTo>
                    <a:pt x="608965" y="1584956"/>
                  </a:lnTo>
                  <a:lnTo>
                    <a:pt x="608965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129"/>
            <p:cNvSpPr/>
            <p:nvPr/>
          </p:nvSpPr>
          <p:spPr>
            <a:xfrm>
              <a:off x="6548119" y="5273040"/>
              <a:ext cx="69850" cy="0"/>
            </a:xfrm>
            <a:custGeom>
              <a:rect b="b" l="l" r="r" t="t"/>
              <a:pathLst>
                <a:path extrusionOk="0" h="120000" w="69850">
                  <a:moveTo>
                    <a:pt x="0" y="0"/>
                  </a:moveTo>
                  <a:lnTo>
                    <a:pt x="6985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3" name="Google Shape;1093;p129"/>
          <p:cNvSpPr txBox="1"/>
          <p:nvPr/>
        </p:nvSpPr>
        <p:spPr>
          <a:xfrm>
            <a:off x="984503" y="5347208"/>
            <a:ext cx="116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129"/>
          <p:cNvSpPr txBox="1"/>
          <p:nvPr/>
        </p:nvSpPr>
        <p:spPr>
          <a:xfrm>
            <a:off x="1036319" y="5895898"/>
            <a:ext cx="116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129"/>
          <p:cNvSpPr txBox="1"/>
          <p:nvPr/>
        </p:nvSpPr>
        <p:spPr>
          <a:xfrm>
            <a:off x="1036319" y="6444538"/>
            <a:ext cx="116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96" name="Google Shape;1096;p129"/>
          <p:cNvGraphicFramePr/>
          <p:nvPr/>
        </p:nvGraphicFramePr>
        <p:xfrm>
          <a:off x="908050" y="44996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{D2823ECC-F2BC-4FCE-8E25-B9D967D01759}</a:tableStyleId>
              </a:tblPr>
              <a:tblGrid>
                <a:gridCol w="617225"/>
                <a:gridCol w="372750"/>
                <a:gridCol w="616575"/>
                <a:gridCol w="74300"/>
                <a:gridCol w="374025"/>
                <a:gridCol w="617850"/>
                <a:gridCol w="73025"/>
                <a:gridCol w="679450"/>
                <a:gridCol w="619750"/>
                <a:gridCol w="69850"/>
                <a:gridCol w="908675"/>
                <a:gridCol w="239400"/>
              </a:tblGrid>
              <a:tr h="3657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solidFill>
                      <a:srgbClr val="F79446"/>
                    </a:solidFill>
                  </a:tcPr>
                </a:tc>
              </a:tr>
              <a:tr h="3913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8575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94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solidFill>
                      <a:srgbClr val="FADDCF"/>
                    </a:solidFill>
                  </a:tcPr>
                </a:tc>
              </a:tr>
              <a:tr h="3401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861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138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147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solidFill>
                      <a:srgbClr val="FBEDE9"/>
                    </a:solidFill>
                  </a:tcPr>
                </a:tc>
              </a:tr>
              <a:tr h="34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200" marB="0" marR="0" marL="0"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solidFill>
                      <a:srgbClr val="FADDCF"/>
                    </a:solidFill>
                  </a:tcPr>
                </a:tc>
              </a:tr>
              <a:tr h="3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solidFill>
                      <a:srgbClr val="FADD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2413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solidFill>
                      <a:srgbClr val="FBEDE9"/>
                    </a:solidFill>
                  </a:tcPr>
                </a:tc>
              </a:tr>
            </a:tbl>
          </a:graphicData>
        </a:graphic>
      </p:graphicFrame>
      <p:grpSp>
        <p:nvGrpSpPr>
          <p:cNvPr id="1097" name="Google Shape;1097;p129"/>
          <p:cNvGrpSpPr/>
          <p:nvPr/>
        </p:nvGrpSpPr>
        <p:grpSpPr>
          <a:xfrm>
            <a:off x="1974850" y="1670050"/>
            <a:ext cx="622300" cy="2207260"/>
            <a:chOff x="1974850" y="1670050"/>
            <a:chExt cx="622300" cy="2207260"/>
          </a:xfrm>
        </p:grpSpPr>
        <p:sp>
          <p:nvSpPr>
            <p:cNvPr id="1098" name="Google Shape;1098;p129"/>
            <p:cNvSpPr/>
            <p:nvPr/>
          </p:nvSpPr>
          <p:spPr>
            <a:xfrm>
              <a:off x="1981200" y="2773680"/>
              <a:ext cx="609600" cy="365760"/>
            </a:xfrm>
            <a:custGeom>
              <a:rect b="b" l="l" r="r" t="t"/>
              <a:pathLst>
                <a:path extrusionOk="0" h="365760" w="609600">
                  <a:moveTo>
                    <a:pt x="609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609600" y="3657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129"/>
            <p:cNvSpPr/>
            <p:nvPr/>
          </p:nvSpPr>
          <p:spPr>
            <a:xfrm>
              <a:off x="1974850" y="2767329"/>
              <a:ext cx="622300" cy="378460"/>
            </a:xfrm>
            <a:custGeom>
              <a:rect b="b" l="l" r="r" t="t"/>
              <a:pathLst>
                <a:path extrusionOk="0" h="378460" w="622300">
                  <a:moveTo>
                    <a:pt x="622300" y="365760"/>
                  </a:moveTo>
                  <a:lnTo>
                    <a:pt x="0" y="365760"/>
                  </a:lnTo>
                  <a:lnTo>
                    <a:pt x="0" y="378460"/>
                  </a:lnTo>
                  <a:lnTo>
                    <a:pt x="622300" y="378460"/>
                  </a:lnTo>
                  <a:lnTo>
                    <a:pt x="622300" y="365760"/>
                  </a:lnTo>
                  <a:close/>
                </a:path>
                <a:path extrusionOk="0" h="378460" w="622300">
                  <a:moveTo>
                    <a:pt x="6223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22300" y="12700"/>
                  </a:lnTo>
                  <a:lnTo>
                    <a:pt x="622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129"/>
            <p:cNvSpPr/>
            <p:nvPr/>
          </p:nvSpPr>
          <p:spPr>
            <a:xfrm>
              <a:off x="1974850" y="1670050"/>
              <a:ext cx="622300" cy="2207260"/>
            </a:xfrm>
            <a:custGeom>
              <a:rect b="b" l="l" r="r" t="t"/>
              <a:pathLst>
                <a:path extrusionOk="0" h="2207260" w="622300">
                  <a:moveTo>
                    <a:pt x="6350" y="0"/>
                  </a:moveTo>
                  <a:lnTo>
                    <a:pt x="6350" y="2207260"/>
                  </a:lnTo>
                </a:path>
                <a:path extrusionOk="0" h="2207260" w="622300">
                  <a:moveTo>
                    <a:pt x="615950" y="0"/>
                  </a:moveTo>
                  <a:lnTo>
                    <a:pt x="615950" y="2207260"/>
                  </a:lnTo>
                </a:path>
                <a:path extrusionOk="0" h="2207260" w="622300">
                  <a:moveTo>
                    <a:pt x="0" y="6350"/>
                  </a:moveTo>
                  <a:lnTo>
                    <a:pt x="622300" y="6350"/>
                  </a:lnTo>
                </a:path>
                <a:path extrusionOk="0" h="2207260" w="622300">
                  <a:moveTo>
                    <a:pt x="0" y="2200910"/>
                  </a:moveTo>
                  <a:lnTo>
                    <a:pt x="622300" y="220091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p129"/>
          <p:cNvGrpSpPr/>
          <p:nvPr/>
        </p:nvGrpSpPr>
        <p:grpSpPr>
          <a:xfrm>
            <a:off x="3041650" y="1670050"/>
            <a:ext cx="622300" cy="2207260"/>
            <a:chOff x="3041650" y="1670050"/>
            <a:chExt cx="622300" cy="2207260"/>
          </a:xfrm>
        </p:grpSpPr>
        <p:sp>
          <p:nvSpPr>
            <p:cNvPr id="1102" name="Google Shape;1102;p129"/>
            <p:cNvSpPr/>
            <p:nvPr/>
          </p:nvSpPr>
          <p:spPr>
            <a:xfrm>
              <a:off x="3048000" y="2773680"/>
              <a:ext cx="609600" cy="365760"/>
            </a:xfrm>
            <a:custGeom>
              <a:rect b="b" l="l" r="r" t="t"/>
              <a:pathLst>
                <a:path extrusionOk="0" h="365760" w="609600">
                  <a:moveTo>
                    <a:pt x="609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609600" y="3657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129"/>
            <p:cNvSpPr/>
            <p:nvPr/>
          </p:nvSpPr>
          <p:spPr>
            <a:xfrm>
              <a:off x="3041650" y="2767329"/>
              <a:ext cx="622300" cy="378460"/>
            </a:xfrm>
            <a:custGeom>
              <a:rect b="b" l="l" r="r" t="t"/>
              <a:pathLst>
                <a:path extrusionOk="0" h="378460" w="622300">
                  <a:moveTo>
                    <a:pt x="622300" y="365760"/>
                  </a:moveTo>
                  <a:lnTo>
                    <a:pt x="0" y="365760"/>
                  </a:lnTo>
                  <a:lnTo>
                    <a:pt x="0" y="378460"/>
                  </a:lnTo>
                  <a:lnTo>
                    <a:pt x="622300" y="378460"/>
                  </a:lnTo>
                  <a:lnTo>
                    <a:pt x="622300" y="365760"/>
                  </a:lnTo>
                  <a:close/>
                </a:path>
                <a:path extrusionOk="0" h="378460" w="622300">
                  <a:moveTo>
                    <a:pt x="6223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22300" y="12700"/>
                  </a:lnTo>
                  <a:lnTo>
                    <a:pt x="622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129"/>
            <p:cNvSpPr/>
            <p:nvPr/>
          </p:nvSpPr>
          <p:spPr>
            <a:xfrm>
              <a:off x="3041650" y="1670050"/>
              <a:ext cx="622300" cy="2207260"/>
            </a:xfrm>
            <a:custGeom>
              <a:rect b="b" l="l" r="r" t="t"/>
              <a:pathLst>
                <a:path extrusionOk="0" h="2207260" w="622300">
                  <a:moveTo>
                    <a:pt x="6350" y="0"/>
                  </a:moveTo>
                  <a:lnTo>
                    <a:pt x="6350" y="2207260"/>
                  </a:lnTo>
                </a:path>
                <a:path extrusionOk="0" h="2207260" w="622300">
                  <a:moveTo>
                    <a:pt x="615950" y="0"/>
                  </a:moveTo>
                  <a:lnTo>
                    <a:pt x="615950" y="2207260"/>
                  </a:lnTo>
                </a:path>
                <a:path extrusionOk="0" h="2207260" w="622300">
                  <a:moveTo>
                    <a:pt x="0" y="6350"/>
                  </a:moveTo>
                  <a:lnTo>
                    <a:pt x="622300" y="6350"/>
                  </a:lnTo>
                </a:path>
                <a:path extrusionOk="0" h="2207260" w="622300">
                  <a:moveTo>
                    <a:pt x="0" y="2200910"/>
                  </a:moveTo>
                  <a:lnTo>
                    <a:pt x="622300" y="220091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5" name="Google Shape;1105;p129"/>
          <p:cNvGrpSpPr/>
          <p:nvPr/>
        </p:nvGrpSpPr>
        <p:grpSpPr>
          <a:xfrm>
            <a:off x="4413250" y="1685289"/>
            <a:ext cx="622300" cy="2207260"/>
            <a:chOff x="4413250" y="1685289"/>
            <a:chExt cx="622300" cy="2207260"/>
          </a:xfrm>
        </p:grpSpPr>
        <p:sp>
          <p:nvSpPr>
            <p:cNvPr id="1106" name="Google Shape;1106;p129"/>
            <p:cNvSpPr/>
            <p:nvPr/>
          </p:nvSpPr>
          <p:spPr>
            <a:xfrm>
              <a:off x="4419600" y="2788919"/>
              <a:ext cx="609600" cy="365760"/>
            </a:xfrm>
            <a:custGeom>
              <a:rect b="b" l="l" r="r" t="t"/>
              <a:pathLst>
                <a:path extrusionOk="0" h="365760" w="609600">
                  <a:moveTo>
                    <a:pt x="609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609600" y="3657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129"/>
            <p:cNvSpPr/>
            <p:nvPr/>
          </p:nvSpPr>
          <p:spPr>
            <a:xfrm>
              <a:off x="4413250" y="2782569"/>
              <a:ext cx="622300" cy="378460"/>
            </a:xfrm>
            <a:custGeom>
              <a:rect b="b" l="l" r="r" t="t"/>
              <a:pathLst>
                <a:path extrusionOk="0" h="378460" w="622300">
                  <a:moveTo>
                    <a:pt x="622300" y="365760"/>
                  </a:moveTo>
                  <a:lnTo>
                    <a:pt x="0" y="365760"/>
                  </a:lnTo>
                  <a:lnTo>
                    <a:pt x="0" y="378460"/>
                  </a:lnTo>
                  <a:lnTo>
                    <a:pt x="622300" y="378460"/>
                  </a:lnTo>
                  <a:lnTo>
                    <a:pt x="622300" y="365760"/>
                  </a:lnTo>
                  <a:close/>
                </a:path>
                <a:path extrusionOk="0" h="378460" w="622300">
                  <a:moveTo>
                    <a:pt x="6223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22300" y="12700"/>
                  </a:lnTo>
                  <a:lnTo>
                    <a:pt x="622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129"/>
            <p:cNvSpPr/>
            <p:nvPr/>
          </p:nvSpPr>
          <p:spPr>
            <a:xfrm>
              <a:off x="4413250" y="1685289"/>
              <a:ext cx="622300" cy="2207260"/>
            </a:xfrm>
            <a:custGeom>
              <a:rect b="b" l="l" r="r" t="t"/>
              <a:pathLst>
                <a:path extrusionOk="0" h="2207260" w="622300">
                  <a:moveTo>
                    <a:pt x="6350" y="0"/>
                  </a:moveTo>
                  <a:lnTo>
                    <a:pt x="6350" y="2207260"/>
                  </a:lnTo>
                </a:path>
                <a:path extrusionOk="0" h="2207260" w="622300">
                  <a:moveTo>
                    <a:pt x="615950" y="0"/>
                  </a:moveTo>
                  <a:lnTo>
                    <a:pt x="615950" y="2207260"/>
                  </a:lnTo>
                </a:path>
                <a:path extrusionOk="0" h="2207260" w="622300">
                  <a:moveTo>
                    <a:pt x="0" y="6350"/>
                  </a:moveTo>
                  <a:lnTo>
                    <a:pt x="622300" y="6350"/>
                  </a:lnTo>
                </a:path>
                <a:path extrusionOk="0" h="2207260" w="622300">
                  <a:moveTo>
                    <a:pt x="0" y="2200910"/>
                  </a:moveTo>
                  <a:lnTo>
                    <a:pt x="622300" y="220091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9" name="Google Shape;1109;p129"/>
          <p:cNvSpPr/>
          <p:nvPr/>
        </p:nvSpPr>
        <p:spPr>
          <a:xfrm>
            <a:off x="6013450" y="3133089"/>
            <a:ext cx="622300" cy="12700"/>
          </a:xfrm>
          <a:custGeom>
            <a:rect b="b" l="l" r="r" t="t"/>
            <a:pathLst>
              <a:path extrusionOk="0" h="12700" w="622300">
                <a:moveTo>
                  <a:pt x="622300" y="0"/>
                </a:moveTo>
                <a:lnTo>
                  <a:pt x="0" y="0"/>
                </a:lnTo>
                <a:lnTo>
                  <a:pt x="0" y="12700"/>
                </a:lnTo>
                <a:lnTo>
                  <a:pt x="622300" y="12700"/>
                </a:lnTo>
                <a:lnTo>
                  <a:pt x="6223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0" name="Google Shape;1110;p129"/>
          <p:cNvGrpSpPr/>
          <p:nvPr/>
        </p:nvGrpSpPr>
        <p:grpSpPr>
          <a:xfrm>
            <a:off x="152400" y="1664207"/>
            <a:ext cx="8839200" cy="2213102"/>
            <a:chOff x="152400" y="1664207"/>
            <a:chExt cx="8839200" cy="2213102"/>
          </a:xfrm>
        </p:grpSpPr>
        <p:sp>
          <p:nvSpPr>
            <p:cNvPr id="1111" name="Google Shape;1111;p129"/>
            <p:cNvSpPr/>
            <p:nvPr/>
          </p:nvSpPr>
          <p:spPr>
            <a:xfrm>
              <a:off x="6013449" y="2767329"/>
              <a:ext cx="622300" cy="12700"/>
            </a:xfrm>
            <a:custGeom>
              <a:rect b="b" l="l" r="r" t="t"/>
              <a:pathLst>
                <a:path extrusionOk="0" h="12700" w="622300">
                  <a:moveTo>
                    <a:pt x="6223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22300" y="12700"/>
                  </a:lnTo>
                  <a:lnTo>
                    <a:pt x="6223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29"/>
            <p:cNvSpPr/>
            <p:nvPr/>
          </p:nvSpPr>
          <p:spPr>
            <a:xfrm>
              <a:off x="6013449" y="1670049"/>
              <a:ext cx="622300" cy="2207260"/>
            </a:xfrm>
            <a:custGeom>
              <a:rect b="b" l="l" r="r" t="t"/>
              <a:pathLst>
                <a:path extrusionOk="0" h="2207260" w="622300">
                  <a:moveTo>
                    <a:pt x="6350" y="0"/>
                  </a:moveTo>
                  <a:lnTo>
                    <a:pt x="6350" y="2207260"/>
                  </a:lnTo>
                </a:path>
                <a:path extrusionOk="0" h="2207260" w="622300">
                  <a:moveTo>
                    <a:pt x="0" y="6350"/>
                  </a:moveTo>
                  <a:lnTo>
                    <a:pt x="622300" y="6350"/>
                  </a:lnTo>
                </a:path>
                <a:path extrusionOk="0" h="2207260" w="622300">
                  <a:moveTo>
                    <a:pt x="0" y="2200910"/>
                  </a:moveTo>
                  <a:lnTo>
                    <a:pt x="622300" y="220091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29"/>
            <p:cNvSpPr/>
            <p:nvPr/>
          </p:nvSpPr>
          <p:spPr>
            <a:xfrm>
              <a:off x="152400" y="2743199"/>
              <a:ext cx="8839200" cy="38100"/>
            </a:xfrm>
            <a:custGeom>
              <a:rect b="b" l="l" r="r" t="t"/>
              <a:pathLst>
                <a:path extrusionOk="0" h="38100" w="8839200">
                  <a:moveTo>
                    <a:pt x="0" y="38100"/>
                  </a:moveTo>
                  <a:lnTo>
                    <a:pt x="8839200" y="0"/>
                  </a:lnTo>
                </a:path>
              </a:pathLst>
            </a:custGeom>
            <a:noFill/>
            <a:ln cap="flat" cmpd="sng" w="9525">
              <a:solidFill>
                <a:srgbClr val="48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4" name="Google Shape;1114;p1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11110" y="2570479"/>
              <a:ext cx="103378" cy="96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129"/>
            <p:cNvSpPr/>
            <p:nvPr/>
          </p:nvSpPr>
          <p:spPr>
            <a:xfrm>
              <a:off x="7156449" y="1689353"/>
              <a:ext cx="12700" cy="952500"/>
            </a:xfrm>
            <a:custGeom>
              <a:rect b="b" l="l" r="r" t="t"/>
              <a:pathLst>
                <a:path extrusionOk="0" h="952500" w="12700">
                  <a:moveTo>
                    <a:pt x="6350" y="0"/>
                  </a:moveTo>
                  <a:lnTo>
                    <a:pt x="0" y="10795"/>
                  </a:lnTo>
                  <a:lnTo>
                    <a:pt x="0" y="941197"/>
                  </a:lnTo>
                  <a:lnTo>
                    <a:pt x="6350" y="951992"/>
                  </a:lnTo>
                  <a:lnTo>
                    <a:pt x="12700" y="941197"/>
                  </a:lnTo>
                  <a:lnTo>
                    <a:pt x="12700" y="10795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6" name="Google Shape;1116;p1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11110" y="1664207"/>
              <a:ext cx="103378" cy="96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7" name="Google Shape;1117;p1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82510" y="3609975"/>
              <a:ext cx="103378" cy="96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129"/>
            <p:cNvSpPr/>
            <p:nvPr/>
          </p:nvSpPr>
          <p:spPr>
            <a:xfrm>
              <a:off x="6927849" y="2806445"/>
              <a:ext cx="12700" cy="874394"/>
            </a:xfrm>
            <a:custGeom>
              <a:rect b="b" l="l" r="r" t="t"/>
              <a:pathLst>
                <a:path extrusionOk="0" h="874395" w="12700">
                  <a:moveTo>
                    <a:pt x="6350" y="0"/>
                  </a:moveTo>
                  <a:lnTo>
                    <a:pt x="0" y="10794"/>
                  </a:lnTo>
                  <a:lnTo>
                    <a:pt x="0" y="863599"/>
                  </a:lnTo>
                  <a:lnTo>
                    <a:pt x="6350" y="874394"/>
                  </a:lnTo>
                  <a:lnTo>
                    <a:pt x="12700" y="863599"/>
                  </a:lnTo>
                  <a:lnTo>
                    <a:pt x="12700" y="1079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87CB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9" name="Google Shape;1119;p1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82510" y="2781299"/>
              <a:ext cx="103378" cy="960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0" name="Google Shape;1120;p129"/>
          <p:cNvGrpSpPr/>
          <p:nvPr/>
        </p:nvGrpSpPr>
        <p:grpSpPr>
          <a:xfrm>
            <a:off x="5938520" y="4495800"/>
            <a:ext cx="609600" cy="1447799"/>
            <a:chOff x="5938520" y="4495800"/>
            <a:chExt cx="609600" cy="1447799"/>
          </a:xfrm>
        </p:grpSpPr>
        <p:sp>
          <p:nvSpPr>
            <p:cNvPr id="1121" name="Google Shape;1121;p129"/>
            <p:cNvSpPr/>
            <p:nvPr/>
          </p:nvSpPr>
          <p:spPr>
            <a:xfrm>
              <a:off x="5938520" y="4495800"/>
              <a:ext cx="609600" cy="369570"/>
            </a:xfrm>
            <a:custGeom>
              <a:rect b="b" l="l" r="r" t="t"/>
              <a:pathLst>
                <a:path extrusionOk="0" h="369570" w="609600">
                  <a:moveTo>
                    <a:pt x="609600" y="0"/>
                  </a:moveTo>
                  <a:lnTo>
                    <a:pt x="0" y="0"/>
                  </a:lnTo>
                  <a:lnTo>
                    <a:pt x="0" y="369569"/>
                  </a:lnTo>
                  <a:lnTo>
                    <a:pt x="609600" y="369569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794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29"/>
            <p:cNvSpPr/>
            <p:nvPr/>
          </p:nvSpPr>
          <p:spPr>
            <a:xfrm>
              <a:off x="5938520" y="4865370"/>
              <a:ext cx="609600" cy="365760"/>
            </a:xfrm>
            <a:custGeom>
              <a:rect b="b" l="l" r="r" t="t"/>
              <a:pathLst>
                <a:path extrusionOk="0" h="365760" w="609600">
                  <a:moveTo>
                    <a:pt x="609600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609600" y="365759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29"/>
            <p:cNvSpPr/>
            <p:nvPr/>
          </p:nvSpPr>
          <p:spPr>
            <a:xfrm>
              <a:off x="5938520" y="5231130"/>
              <a:ext cx="609600" cy="365760"/>
            </a:xfrm>
            <a:custGeom>
              <a:rect b="b" l="l" r="r" t="t"/>
              <a:pathLst>
                <a:path extrusionOk="0" h="365760" w="609600">
                  <a:moveTo>
                    <a:pt x="609600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609600" y="36576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BEDE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29"/>
            <p:cNvSpPr/>
            <p:nvPr/>
          </p:nvSpPr>
          <p:spPr>
            <a:xfrm>
              <a:off x="5938520" y="5596889"/>
              <a:ext cx="609600" cy="346710"/>
            </a:xfrm>
            <a:custGeom>
              <a:rect b="b" l="l" r="r" t="t"/>
              <a:pathLst>
                <a:path extrusionOk="0" h="346710" w="609600">
                  <a:moveTo>
                    <a:pt x="609600" y="0"/>
                  </a:moveTo>
                  <a:lnTo>
                    <a:pt x="0" y="0"/>
                  </a:lnTo>
                  <a:lnTo>
                    <a:pt x="0" y="346710"/>
                  </a:lnTo>
                  <a:lnTo>
                    <a:pt x="609600" y="34671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ADD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5" name="Google Shape;1125;p129"/>
          <p:cNvSpPr/>
          <p:nvPr/>
        </p:nvSpPr>
        <p:spPr>
          <a:xfrm>
            <a:off x="4337684" y="5943600"/>
            <a:ext cx="615950" cy="386080"/>
          </a:xfrm>
          <a:custGeom>
            <a:rect b="b" l="l" r="r" t="t"/>
            <a:pathLst>
              <a:path extrusionOk="0" h="386079" w="615950">
                <a:moveTo>
                  <a:pt x="615950" y="0"/>
                </a:moveTo>
                <a:lnTo>
                  <a:pt x="0" y="0"/>
                </a:lnTo>
                <a:lnTo>
                  <a:pt x="0" y="385762"/>
                </a:lnTo>
                <a:lnTo>
                  <a:pt x="615950" y="385762"/>
                </a:lnTo>
                <a:lnTo>
                  <a:pt x="615950" y="0"/>
                </a:lnTo>
                <a:close/>
              </a:path>
            </a:pathLst>
          </a:custGeom>
          <a:solidFill>
            <a:srgbClr val="FBED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129"/>
          <p:cNvSpPr/>
          <p:nvPr/>
        </p:nvSpPr>
        <p:spPr>
          <a:xfrm>
            <a:off x="5938520" y="5943600"/>
            <a:ext cx="609600" cy="386080"/>
          </a:xfrm>
          <a:custGeom>
            <a:rect b="b" l="l" r="r" t="t"/>
            <a:pathLst>
              <a:path extrusionOk="0" h="386079" w="609600">
                <a:moveTo>
                  <a:pt x="609600" y="0"/>
                </a:moveTo>
                <a:lnTo>
                  <a:pt x="0" y="0"/>
                </a:lnTo>
                <a:lnTo>
                  <a:pt x="0" y="385762"/>
                </a:lnTo>
                <a:lnTo>
                  <a:pt x="609600" y="385762"/>
                </a:lnTo>
                <a:lnTo>
                  <a:pt x="609600" y="0"/>
                </a:lnTo>
                <a:close/>
              </a:path>
            </a:pathLst>
          </a:custGeom>
          <a:solidFill>
            <a:srgbClr val="FBED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129"/>
          <p:cNvSpPr/>
          <p:nvPr/>
        </p:nvSpPr>
        <p:spPr>
          <a:xfrm>
            <a:off x="908050" y="6329362"/>
            <a:ext cx="614680" cy="361315"/>
          </a:xfrm>
          <a:custGeom>
            <a:rect b="b" l="l" r="r" t="t"/>
            <a:pathLst>
              <a:path extrusionOk="0" h="361315" w="614680">
                <a:moveTo>
                  <a:pt x="614680" y="0"/>
                </a:moveTo>
                <a:lnTo>
                  <a:pt x="0" y="0"/>
                </a:lnTo>
                <a:lnTo>
                  <a:pt x="0" y="360997"/>
                </a:lnTo>
                <a:lnTo>
                  <a:pt x="614680" y="360997"/>
                </a:lnTo>
                <a:lnTo>
                  <a:pt x="614680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129"/>
          <p:cNvSpPr/>
          <p:nvPr/>
        </p:nvSpPr>
        <p:spPr>
          <a:xfrm>
            <a:off x="1898650" y="6329362"/>
            <a:ext cx="614680" cy="361315"/>
          </a:xfrm>
          <a:custGeom>
            <a:rect b="b" l="l" r="r" t="t"/>
            <a:pathLst>
              <a:path extrusionOk="0" h="361315" w="614680">
                <a:moveTo>
                  <a:pt x="614680" y="0"/>
                </a:moveTo>
                <a:lnTo>
                  <a:pt x="0" y="0"/>
                </a:lnTo>
                <a:lnTo>
                  <a:pt x="0" y="360997"/>
                </a:lnTo>
                <a:lnTo>
                  <a:pt x="614680" y="360997"/>
                </a:lnTo>
                <a:lnTo>
                  <a:pt x="614680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129"/>
          <p:cNvSpPr/>
          <p:nvPr/>
        </p:nvSpPr>
        <p:spPr>
          <a:xfrm>
            <a:off x="2965450" y="6329362"/>
            <a:ext cx="615950" cy="361315"/>
          </a:xfrm>
          <a:custGeom>
            <a:rect b="b" l="l" r="r" t="t"/>
            <a:pathLst>
              <a:path extrusionOk="0" h="361315" w="615950">
                <a:moveTo>
                  <a:pt x="615950" y="0"/>
                </a:moveTo>
                <a:lnTo>
                  <a:pt x="0" y="0"/>
                </a:lnTo>
                <a:lnTo>
                  <a:pt x="0" y="360997"/>
                </a:lnTo>
                <a:lnTo>
                  <a:pt x="615950" y="360997"/>
                </a:lnTo>
                <a:lnTo>
                  <a:pt x="615950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29"/>
          <p:cNvSpPr/>
          <p:nvPr/>
        </p:nvSpPr>
        <p:spPr>
          <a:xfrm>
            <a:off x="4337684" y="6329362"/>
            <a:ext cx="615950" cy="361315"/>
          </a:xfrm>
          <a:custGeom>
            <a:rect b="b" l="l" r="r" t="t"/>
            <a:pathLst>
              <a:path extrusionOk="0" h="361315" w="615950">
                <a:moveTo>
                  <a:pt x="615950" y="0"/>
                </a:moveTo>
                <a:lnTo>
                  <a:pt x="0" y="0"/>
                </a:lnTo>
                <a:lnTo>
                  <a:pt x="0" y="360997"/>
                </a:lnTo>
                <a:lnTo>
                  <a:pt x="615950" y="360997"/>
                </a:lnTo>
                <a:lnTo>
                  <a:pt x="615950" y="0"/>
                </a:lnTo>
                <a:close/>
              </a:path>
            </a:pathLst>
          </a:custGeom>
          <a:solidFill>
            <a:srgbClr val="FBEDE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29"/>
          <p:cNvSpPr/>
          <p:nvPr/>
        </p:nvSpPr>
        <p:spPr>
          <a:xfrm>
            <a:off x="5938520" y="6329362"/>
            <a:ext cx="609600" cy="361315"/>
          </a:xfrm>
          <a:custGeom>
            <a:rect b="b" l="l" r="r" t="t"/>
            <a:pathLst>
              <a:path extrusionOk="0" h="361315" w="609600">
                <a:moveTo>
                  <a:pt x="609600" y="0"/>
                </a:moveTo>
                <a:lnTo>
                  <a:pt x="0" y="0"/>
                </a:lnTo>
                <a:lnTo>
                  <a:pt x="0" y="360997"/>
                </a:lnTo>
                <a:lnTo>
                  <a:pt x="609600" y="360997"/>
                </a:lnTo>
                <a:lnTo>
                  <a:pt x="609600" y="0"/>
                </a:lnTo>
                <a:close/>
              </a:path>
            </a:pathLst>
          </a:custGeom>
          <a:solidFill>
            <a:srgbClr val="FADD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129"/>
          <p:cNvSpPr/>
          <p:nvPr/>
        </p:nvSpPr>
        <p:spPr>
          <a:xfrm>
            <a:off x="1522730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29"/>
          <p:cNvSpPr/>
          <p:nvPr/>
        </p:nvSpPr>
        <p:spPr>
          <a:xfrm>
            <a:off x="1898650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29"/>
          <p:cNvSpPr/>
          <p:nvPr/>
        </p:nvSpPr>
        <p:spPr>
          <a:xfrm>
            <a:off x="2513329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129"/>
          <p:cNvSpPr/>
          <p:nvPr/>
        </p:nvSpPr>
        <p:spPr>
          <a:xfrm>
            <a:off x="2965450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29"/>
          <p:cNvSpPr/>
          <p:nvPr/>
        </p:nvSpPr>
        <p:spPr>
          <a:xfrm>
            <a:off x="3581400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29"/>
          <p:cNvSpPr/>
          <p:nvPr/>
        </p:nvSpPr>
        <p:spPr>
          <a:xfrm>
            <a:off x="4337684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129"/>
          <p:cNvSpPr/>
          <p:nvPr/>
        </p:nvSpPr>
        <p:spPr>
          <a:xfrm>
            <a:off x="4953634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9" name="Google Shape;1139;p129"/>
          <p:cNvGrpSpPr/>
          <p:nvPr/>
        </p:nvGrpSpPr>
        <p:grpSpPr>
          <a:xfrm>
            <a:off x="5932170" y="4495800"/>
            <a:ext cx="622300" cy="2200910"/>
            <a:chOff x="5932170" y="4495800"/>
            <a:chExt cx="622300" cy="2200910"/>
          </a:xfrm>
        </p:grpSpPr>
        <p:sp>
          <p:nvSpPr>
            <p:cNvPr id="1140" name="Google Shape;1140;p129"/>
            <p:cNvSpPr/>
            <p:nvPr/>
          </p:nvSpPr>
          <p:spPr>
            <a:xfrm>
              <a:off x="5938520" y="4495800"/>
              <a:ext cx="0" cy="2200910"/>
            </a:xfrm>
            <a:custGeom>
              <a:rect b="b" l="l" r="r" t="t"/>
              <a:pathLst>
                <a:path extrusionOk="0" h="2200909" w="120000">
                  <a:moveTo>
                    <a:pt x="0" y="0"/>
                  </a:moveTo>
                  <a:lnTo>
                    <a:pt x="0" y="220091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29"/>
            <p:cNvSpPr/>
            <p:nvPr/>
          </p:nvSpPr>
          <p:spPr>
            <a:xfrm>
              <a:off x="5932170" y="4865370"/>
              <a:ext cx="622300" cy="0"/>
            </a:xfrm>
            <a:custGeom>
              <a:rect b="b" l="l" r="r" t="t"/>
              <a:pathLst>
                <a:path extrusionOk="0" h="120000" w="622300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29"/>
            <p:cNvSpPr/>
            <p:nvPr/>
          </p:nvSpPr>
          <p:spPr>
            <a:xfrm>
              <a:off x="5932170" y="5231130"/>
              <a:ext cx="622300" cy="365760"/>
            </a:xfrm>
            <a:custGeom>
              <a:rect b="b" l="l" r="r" t="t"/>
              <a:pathLst>
                <a:path extrusionOk="0" h="365760" w="622300">
                  <a:moveTo>
                    <a:pt x="0" y="0"/>
                  </a:moveTo>
                  <a:lnTo>
                    <a:pt x="622300" y="0"/>
                  </a:lnTo>
                </a:path>
                <a:path extrusionOk="0" h="365760" w="622300">
                  <a:moveTo>
                    <a:pt x="0" y="365760"/>
                  </a:moveTo>
                  <a:lnTo>
                    <a:pt x="622300" y="365760"/>
                  </a:lnTo>
                </a:path>
              </a:pathLst>
            </a:cu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3" name="Google Shape;1143;p129"/>
          <p:cNvSpPr/>
          <p:nvPr/>
        </p:nvSpPr>
        <p:spPr>
          <a:xfrm>
            <a:off x="908050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29"/>
          <p:cNvSpPr/>
          <p:nvPr/>
        </p:nvSpPr>
        <p:spPr>
          <a:xfrm>
            <a:off x="6548119" y="4495800"/>
            <a:ext cx="0" cy="2200910"/>
          </a:xfrm>
          <a:custGeom>
            <a:rect b="b" l="l" r="r" t="t"/>
            <a:pathLst>
              <a:path extrusionOk="0" h="2200909" w="120000">
                <a:moveTo>
                  <a:pt x="0" y="0"/>
                </a:moveTo>
                <a:lnTo>
                  <a:pt x="0" y="220091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129"/>
          <p:cNvSpPr/>
          <p:nvPr/>
        </p:nvSpPr>
        <p:spPr>
          <a:xfrm>
            <a:off x="901700" y="6684009"/>
            <a:ext cx="627380" cy="12700"/>
          </a:xfrm>
          <a:custGeom>
            <a:rect b="b" l="l" r="r" t="t"/>
            <a:pathLst>
              <a:path extrusionOk="0" h="12700" w="627380">
                <a:moveTo>
                  <a:pt x="0" y="12700"/>
                </a:moveTo>
                <a:lnTo>
                  <a:pt x="627380" y="12700"/>
                </a:lnTo>
                <a:lnTo>
                  <a:pt x="62738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129"/>
          <p:cNvSpPr/>
          <p:nvPr/>
        </p:nvSpPr>
        <p:spPr>
          <a:xfrm>
            <a:off x="1892300" y="6684009"/>
            <a:ext cx="627380" cy="12700"/>
          </a:xfrm>
          <a:custGeom>
            <a:rect b="b" l="l" r="r" t="t"/>
            <a:pathLst>
              <a:path extrusionOk="0" h="12700" w="627380">
                <a:moveTo>
                  <a:pt x="0" y="12700"/>
                </a:moveTo>
                <a:lnTo>
                  <a:pt x="627380" y="12700"/>
                </a:lnTo>
                <a:lnTo>
                  <a:pt x="62738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129"/>
          <p:cNvSpPr/>
          <p:nvPr/>
        </p:nvSpPr>
        <p:spPr>
          <a:xfrm>
            <a:off x="2959100" y="6684009"/>
            <a:ext cx="628650" cy="12700"/>
          </a:xfrm>
          <a:custGeom>
            <a:rect b="b" l="l" r="r" t="t"/>
            <a:pathLst>
              <a:path extrusionOk="0" h="12700" w="628650">
                <a:moveTo>
                  <a:pt x="0" y="12700"/>
                </a:moveTo>
                <a:lnTo>
                  <a:pt x="628650" y="12700"/>
                </a:lnTo>
                <a:lnTo>
                  <a:pt x="6286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129"/>
          <p:cNvSpPr/>
          <p:nvPr/>
        </p:nvSpPr>
        <p:spPr>
          <a:xfrm>
            <a:off x="4331334" y="6684009"/>
            <a:ext cx="628650" cy="12700"/>
          </a:xfrm>
          <a:custGeom>
            <a:rect b="b" l="l" r="r" t="t"/>
            <a:pathLst>
              <a:path extrusionOk="0" h="12700" w="628650">
                <a:moveTo>
                  <a:pt x="0" y="12700"/>
                </a:moveTo>
                <a:lnTo>
                  <a:pt x="628650" y="12700"/>
                </a:lnTo>
                <a:lnTo>
                  <a:pt x="6286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129"/>
          <p:cNvSpPr/>
          <p:nvPr/>
        </p:nvSpPr>
        <p:spPr>
          <a:xfrm>
            <a:off x="908050" y="4495800"/>
            <a:ext cx="622300" cy="0"/>
          </a:xfrm>
          <a:custGeom>
            <a:rect b="b" l="l" r="r" t="t"/>
            <a:pathLst>
              <a:path extrusionOk="0" h="120000" w="62230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129"/>
          <p:cNvSpPr/>
          <p:nvPr/>
        </p:nvSpPr>
        <p:spPr>
          <a:xfrm>
            <a:off x="908050" y="6684009"/>
            <a:ext cx="622300" cy="12700"/>
          </a:xfrm>
          <a:custGeom>
            <a:rect b="b" l="l" r="r" t="t"/>
            <a:pathLst>
              <a:path extrusionOk="0" h="12700" w="622300">
                <a:moveTo>
                  <a:pt x="0" y="12700"/>
                </a:moveTo>
                <a:lnTo>
                  <a:pt x="622300" y="12700"/>
                </a:lnTo>
                <a:lnTo>
                  <a:pt x="622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129"/>
          <p:cNvSpPr/>
          <p:nvPr/>
        </p:nvSpPr>
        <p:spPr>
          <a:xfrm>
            <a:off x="1898650" y="4495800"/>
            <a:ext cx="622300" cy="0"/>
          </a:xfrm>
          <a:custGeom>
            <a:rect b="b" l="l" r="r" t="t"/>
            <a:pathLst>
              <a:path extrusionOk="0" h="120000" w="62230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29"/>
          <p:cNvSpPr/>
          <p:nvPr/>
        </p:nvSpPr>
        <p:spPr>
          <a:xfrm>
            <a:off x="1898650" y="6684009"/>
            <a:ext cx="622300" cy="12700"/>
          </a:xfrm>
          <a:custGeom>
            <a:rect b="b" l="l" r="r" t="t"/>
            <a:pathLst>
              <a:path extrusionOk="0" h="12700" w="622300">
                <a:moveTo>
                  <a:pt x="0" y="12700"/>
                </a:moveTo>
                <a:lnTo>
                  <a:pt x="622300" y="12700"/>
                </a:lnTo>
                <a:lnTo>
                  <a:pt x="622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129"/>
          <p:cNvSpPr/>
          <p:nvPr/>
        </p:nvSpPr>
        <p:spPr>
          <a:xfrm>
            <a:off x="2965450" y="6684009"/>
            <a:ext cx="622300" cy="12700"/>
          </a:xfrm>
          <a:custGeom>
            <a:rect b="b" l="l" r="r" t="t"/>
            <a:pathLst>
              <a:path extrusionOk="0" h="12700" w="622300">
                <a:moveTo>
                  <a:pt x="0" y="12700"/>
                </a:moveTo>
                <a:lnTo>
                  <a:pt x="622300" y="12700"/>
                </a:lnTo>
                <a:lnTo>
                  <a:pt x="622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129"/>
          <p:cNvSpPr/>
          <p:nvPr/>
        </p:nvSpPr>
        <p:spPr>
          <a:xfrm>
            <a:off x="4337050" y="6699250"/>
            <a:ext cx="622300" cy="12700"/>
          </a:xfrm>
          <a:custGeom>
            <a:rect b="b" l="l" r="r" t="t"/>
            <a:pathLst>
              <a:path extrusionOk="0" h="12700" w="622300">
                <a:moveTo>
                  <a:pt x="0" y="12700"/>
                </a:moveTo>
                <a:lnTo>
                  <a:pt x="622300" y="12700"/>
                </a:lnTo>
                <a:lnTo>
                  <a:pt x="6223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129"/>
          <p:cNvSpPr/>
          <p:nvPr/>
        </p:nvSpPr>
        <p:spPr>
          <a:xfrm>
            <a:off x="5937250" y="4495800"/>
            <a:ext cx="622300" cy="0"/>
          </a:xfrm>
          <a:custGeom>
            <a:rect b="b" l="l" r="r" t="t"/>
            <a:pathLst>
              <a:path extrusionOk="0" h="120000" w="62230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29"/>
          <p:cNvSpPr/>
          <p:nvPr/>
        </p:nvSpPr>
        <p:spPr>
          <a:xfrm>
            <a:off x="5932170" y="6684009"/>
            <a:ext cx="627380" cy="12700"/>
          </a:xfrm>
          <a:custGeom>
            <a:rect b="b" l="l" r="r" t="t"/>
            <a:pathLst>
              <a:path extrusionOk="0" h="12700" w="627379">
                <a:moveTo>
                  <a:pt x="627380" y="0"/>
                </a:moveTo>
                <a:lnTo>
                  <a:pt x="622300" y="0"/>
                </a:lnTo>
                <a:lnTo>
                  <a:pt x="5080" y="0"/>
                </a:lnTo>
                <a:lnTo>
                  <a:pt x="0" y="0"/>
                </a:lnTo>
                <a:lnTo>
                  <a:pt x="0" y="12700"/>
                </a:lnTo>
                <a:lnTo>
                  <a:pt x="5080" y="12700"/>
                </a:lnTo>
                <a:lnTo>
                  <a:pt x="622300" y="12700"/>
                </a:lnTo>
                <a:lnTo>
                  <a:pt x="627380" y="12700"/>
                </a:lnTo>
                <a:lnTo>
                  <a:pt x="62738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7" name="Google Shape;1157;p129"/>
          <p:cNvGrpSpPr/>
          <p:nvPr/>
        </p:nvGrpSpPr>
        <p:grpSpPr>
          <a:xfrm>
            <a:off x="152400" y="4572000"/>
            <a:ext cx="8153400" cy="1408429"/>
            <a:chOff x="152400" y="4572000"/>
            <a:chExt cx="8153400" cy="1408429"/>
          </a:xfrm>
        </p:grpSpPr>
        <p:sp>
          <p:nvSpPr>
            <p:cNvPr id="1158" name="Google Shape;1158;p129"/>
            <p:cNvSpPr/>
            <p:nvPr/>
          </p:nvSpPr>
          <p:spPr>
            <a:xfrm>
              <a:off x="908050" y="5952489"/>
              <a:ext cx="5651500" cy="27940"/>
            </a:xfrm>
            <a:custGeom>
              <a:rect b="b" l="l" r="r" t="t"/>
              <a:pathLst>
                <a:path extrusionOk="0" h="27939" w="5651500">
                  <a:moveTo>
                    <a:pt x="6223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622300" y="12700"/>
                  </a:lnTo>
                  <a:lnTo>
                    <a:pt x="622300" y="0"/>
                  </a:lnTo>
                  <a:close/>
                </a:path>
                <a:path extrusionOk="0" h="27939" w="5651500">
                  <a:moveTo>
                    <a:pt x="1612900" y="0"/>
                  </a:moveTo>
                  <a:lnTo>
                    <a:pt x="990600" y="0"/>
                  </a:lnTo>
                  <a:lnTo>
                    <a:pt x="990600" y="12700"/>
                  </a:lnTo>
                  <a:lnTo>
                    <a:pt x="1612900" y="12700"/>
                  </a:lnTo>
                  <a:lnTo>
                    <a:pt x="1612900" y="0"/>
                  </a:lnTo>
                  <a:close/>
                </a:path>
                <a:path extrusionOk="0" h="27939" w="5651500">
                  <a:moveTo>
                    <a:pt x="2679700" y="0"/>
                  </a:moveTo>
                  <a:lnTo>
                    <a:pt x="2057400" y="0"/>
                  </a:lnTo>
                  <a:lnTo>
                    <a:pt x="2057400" y="12700"/>
                  </a:lnTo>
                  <a:lnTo>
                    <a:pt x="2679700" y="12700"/>
                  </a:lnTo>
                  <a:lnTo>
                    <a:pt x="2679700" y="0"/>
                  </a:lnTo>
                  <a:close/>
                </a:path>
                <a:path extrusionOk="0" h="27939" w="5651500">
                  <a:moveTo>
                    <a:pt x="4051300" y="15240"/>
                  </a:moveTo>
                  <a:lnTo>
                    <a:pt x="3429000" y="15240"/>
                  </a:lnTo>
                  <a:lnTo>
                    <a:pt x="3429000" y="27940"/>
                  </a:lnTo>
                  <a:lnTo>
                    <a:pt x="4051300" y="27940"/>
                  </a:lnTo>
                  <a:lnTo>
                    <a:pt x="4051300" y="15240"/>
                  </a:lnTo>
                  <a:close/>
                </a:path>
                <a:path extrusionOk="0" h="27939" w="5651500">
                  <a:moveTo>
                    <a:pt x="5651500" y="0"/>
                  </a:moveTo>
                  <a:lnTo>
                    <a:pt x="5029200" y="0"/>
                  </a:lnTo>
                  <a:lnTo>
                    <a:pt x="5029200" y="12700"/>
                  </a:lnTo>
                  <a:lnTo>
                    <a:pt x="5651500" y="12700"/>
                  </a:lnTo>
                  <a:lnTo>
                    <a:pt x="5651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29"/>
            <p:cNvSpPr/>
            <p:nvPr/>
          </p:nvSpPr>
          <p:spPr>
            <a:xfrm>
              <a:off x="152400" y="5943600"/>
              <a:ext cx="8153400" cy="0"/>
            </a:xfrm>
            <a:custGeom>
              <a:rect b="b" l="l" r="r" t="t"/>
              <a:pathLst>
                <a:path extrusionOk="0" h="120000" w="8153400">
                  <a:moveTo>
                    <a:pt x="0" y="0"/>
                  </a:moveTo>
                  <a:lnTo>
                    <a:pt x="8153400" y="0"/>
                  </a:lnTo>
                </a:path>
              </a:pathLst>
            </a:custGeom>
            <a:noFill/>
            <a:ln cap="flat" cmpd="sng" w="9525">
              <a:solidFill>
                <a:srgbClr val="487C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60" name="Google Shape;1160;p1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63510" y="5847575"/>
              <a:ext cx="103378" cy="9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1" name="Google Shape;1161;p129"/>
            <p:cNvSpPr/>
            <p:nvPr/>
          </p:nvSpPr>
          <p:spPr>
            <a:xfrm>
              <a:off x="7308850" y="4597146"/>
              <a:ext cx="12700" cy="1321435"/>
            </a:xfrm>
            <a:custGeom>
              <a:rect b="b" l="l" r="r" t="t"/>
              <a:pathLst>
                <a:path extrusionOk="0" h="1321435" w="12700">
                  <a:moveTo>
                    <a:pt x="6350" y="0"/>
                  </a:moveTo>
                  <a:lnTo>
                    <a:pt x="0" y="10794"/>
                  </a:lnTo>
                  <a:lnTo>
                    <a:pt x="0" y="1310436"/>
                  </a:lnTo>
                  <a:lnTo>
                    <a:pt x="6350" y="1321320"/>
                  </a:lnTo>
                  <a:lnTo>
                    <a:pt x="12700" y="1310436"/>
                  </a:lnTo>
                  <a:lnTo>
                    <a:pt x="12700" y="1079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62" name="Google Shape;1162;p1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63510" y="4572000"/>
              <a:ext cx="103378" cy="960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3" name="Google Shape;1163;p129"/>
          <p:cNvSpPr txBox="1"/>
          <p:nvPr/>
        </p:nvSpPr>
        <p:spPr>
          <a:xfrm>
            <a:off x="2136139" y="1298575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129"/>
          <p:cNvSpPr txBox="1"/>
          <p:nvPr/>
        </p:nvSpPr>
        <p:spPr>
          <a:xfrm>
            <a:off x="3279775" y="1298575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129"/>
          <p:cNvSpPr txBox="1"/>
          <p:nvPr/>
        </p:nvSpPr>
        <p:spPr>
          <a:xfrm>
            <a:off x="4575428" y="1298575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129"/>
          <p:cNvSpPr txBox="1"/>
          <p:nvPr/>
        </p:nvSpPr>
        <p:spPr>
          <a:xfrm>
            <a:off x="6176009" y="1298575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129"/>
          <p:cNvSpPr txBox="1"/>
          <p:nvPr/>
        </p:nvSpPr>
        <p:spPr>
          <a:xfrm>
            <a:off x="383235" y="1298575"/>
            <a:ext cx="7404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	5	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129"/>
          <p:cNvSpPr txBox="1"/>
          <p:nvPr/>
        </p:nvSpPr>
        <p:spPr>
          <a:xfrm>
            <a:off x="7471918" y="1908428"/>
            <a:ext cx="1030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129"/>
          <p:cNvSpPr txBox="1"/>
          <p:nvPr/>
        </p:nvSpPr>
        <p:spPr>
          <a:xfrm>
            <a:off x="7471918" y="3063621"/>
            <a:ext cx="81153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Outside 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29"/>
          <p:cNvSpPr txBox="1"/>
          <p:nvPr/>
        </p:nvSpPr>
        <p:spPr>
          <a:xfrm>
            <a:off x="7624318" y="4957648"/>
            <a:ext cx="103124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memory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29"/>
          <p:cNvSpPr txBox="1"/>
          <p:nvPr/>
        </p:nvSpPr>
        <p:spPr>
          <a:xfrm>
            <a:off x="78130" y="2137409"/>
            <a:ext cx="8191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frames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129"/>
          <p:cNvSpPr txBox="1"/>
          <p:nvPr/>
        </p:nvSpPr>
        <p:spPr>
          <a:xfrm>
            <a:off x="1930" y="5121605"/>
            <a:ext cx="81978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frames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129"/>
          <p:cNvSpPr txBox="1"/>
          <p:nvPr>
            <p:ph type="title"/>
          </p:nvPr>
        </p:nvSpPr>
        <p:spPr>
          <a:xfrm>
            <a:off x="2847594" y="197357"/>
            <a:ext cx="293497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LRU algorithm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30"/>
          <p:cNvSpPr txBox="1"/>
          <p:nvPr>
            <p:ph type="title"/>
          </p:nvPr>
        </p:nvSpPr>
        <p:spPr>
          <a:xfrm>
            <a:off x="2173974" y="183650"/>
            <a:ext cx="598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Global vs. Local Allocation</a:t>
            </a:r>
            <a:endParaRPr/>
          </a:p>
        </p:txBody>
      </p:sp>
      <p:sp>
        <p:nvSpPr>
          <p:cNvPr id="1179" name="Google Shape;1179;p130"/>
          <p:cNvSpPr txBox="1"/>
          <p:nvPr/>
        </p:nvSpPr>
        <p:spPr>
          <a:xfrm>
            <a:off x="243840" y="1081227"/>
            <a:ext cx="8123555" cy="53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are allocated to various processes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process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-US" sz="21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a page fault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for replacement one of its frames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for replacement a frame from another process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308610" rtl="0" algn="l">
              <a:lnSpc>
                <a:spcPct val="79500"/>
              </a:lnSpc>
              <a:spcBef>
                <a:spcPts val="5"/>
              </a:spcBef>
              <a:spcAft>
                <a:spcPts val="0"/>
              </a:spcAft>
              <a:buClr>
                <a:srgbClr val="3366FF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Local replacement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each process selects from only its own set of  allocated frames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consistent per-process performance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possibly underutilized memory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17780" rtl="0" algn="l">
              <a:lnSpc>
                <a:spcPct val="80000"/>
              </a:lnSpc>
              <a:spcBef>
                <a:spcPts val="5"/>
              </a:spcBef>
              <a:spcAft>
                <a:spcPts val="0"/>
              </a:spcAft>
              <a:buClr>
                <a:srgbClr val="3366FF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Global replacement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process selects a replacement frame from the  set of all frames; one process can take a frame from another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then process execution time can vary greatly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greater throughput ----- so more common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19100" marR="0" rtl="0" algn="l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can not control its own page fault rate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20" lvl="1" marL="8197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Depends on the paging behavior of other processes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31"/>
          <p:cNvSpPr txBox="1"/>
          <p:nvPr>
            <p:ph type="title"/>
          </p:nvPr>
        </p:nvSpPr>
        <p:spPr>
          <a:xfrm>
            <a:off x="3449573" y="426212"/>
            <a:ext cx="224345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Thrashing</a:t>
            </a:r>
            <a:endParaRPr sz="4400"/>
          </a:p>
        </p:txBody>
      </p:sp>
      <p:sp>
        <p:nvSpPr>
          <p:cNvPr id="1185" name="Google Shape;1185;p131"/>
          <p:cNvSpPr txBox="1"/>
          <p:nvPr/>
        </p:nvSpPr>
        <p:spPr>
          <a:xfrm>
            <a:off x="383235" y="1324567"/>
            <a:ext cx="6525895" cy="274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process uses a set of “active pages”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allocated frames is less than that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Page-fault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some “active” page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quickly need replaced “active” frame back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Quickly a page fault, again and again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3366FF"/>
              </a:buClr>
              <a:buSzPts val="2000"/>
              <a:buFont typeface="Arial"/>
              <a:buChar char="–"/>
            </a:pPr>
            <a:r>
              <a:rPr b="1" i="0" lang="en-US" sz="20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Thrashing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process is busy swapping pages in and out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131"/>
          <p:cNvSpPr txBox="1"/>
          <p:nvPr/>
        </p:nvSpPr>
        <p:spPr>
          <a:xfrm>
            <a:off x="383235" y="5128207"/>
            <a:ext cx="577913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monitors CPU utilization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low? Increase the degree of multiprogramming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32"/>
          <p:cNvSpPr txBox="1"/>
          <p:nvPr/>
        </p:nvSpPr>
        <p:spPr>
          <a:xfrm>
            <a:off x="535635" y="1208743"/>
            <a:ext cx="6735445" cy="291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page replacement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enters new phase (subroutine call) execution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fault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Taking frames from other processes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“active” frames of other processes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processes start page fault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faulting processes wait on the device queue for disk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 empty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32"/>
          <p:cNvSpPr txBox="1"/>
          <p:nvPr/>
        </p:nvSpPr>
        <p:spPr>
          <a:xfrm>
            <a:off x="993139" y="4139310"/>
            <a:ext cx="288671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utilization decreases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132"/>
          <p:cNvSpPr txBox="1"/>
          <p:nvPr/>
        </p:nvSpPr>
        <p:spPr>
          <a:xfrm>
            <a:off x="535635" y="4794715"/>
            <a:ext cx="7461884" cy="165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 scheduler increases the degree of multiprogramming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page faults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 in CPU utilization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fault increases tremendously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4" name="Google Shape;1194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5611" y="4038600"/>
            <a:ext cx="3332988" cy="8427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32"/>
          <p:cNvSpPr txBox="1"/>
          <p:nvPr/>
        </p:nvSpPr>
        <p:spPr>
          <a:xfrm>
            <a:off x="4956809" y="4271264"/>
            <a:ext cx="4108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132"/>
          <p:cNvSpPr txBox="1"/>
          <p:nvPr>
            <p:ph type="title"/>
          </p:nvPr>
        </p:nvSpPr>
        <p:spPr>
          <a:xfrm>
            <a:off x="3449573" y="426212"/>
            <a:ext cx="224345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Thrashing</a:t>
            </a:r>
            <a:endParaRPr sz="44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133"/>
          <p:cNvSpPr txBox="1"/>
          <p:nvPr>
            <p:ph type="title"/>
          </p:nvPr>
        </p:nvSpPr>
        <p:spPr>
          <a:xfrm>
            <a:off x="2626232" y="183642"/>
            <a:ext cx="35452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Thrashing (Cont.)</a:t>
            </a:r>
            <a:endParaRPr/>
          </a:p>
        </p:txBody>
      </p:sp>
      <p:pic>
        <p:nvPicPr>
          <p:cNvPr id="1202" name="Google Shape;1202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" y="1226769"/>
            <a:ext cx="7587996" cy="4377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34"/>
          <p:cNvSpPr txBox="1"/>
          <p:nvPr>
            <p:ph type="title"/>
          </p:nvPr>
        </p:nvSpPr>
        <p:spPr>
          <a:xfrm>
            <a:off x="3449573" y="426212"/>
            <a:ext cx="224345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Thrashing</a:t>
            </a:r>
            <a:endParaRPr sz="4400"/>
          </a:p>
        </p:txBody>
      </p:sp>
      <p:sp>
        <p:nvSpPr>
          <p:cNvPr id="1208" name="Google Shape;1208;p134"/>
          <p:cNvSpPr txBox="1"/>
          <p:nvPr/>
        </p:nvSpPr>
        <p:spPr>
          <a:xfrm>
            <a:off x="383235" y="1287171"/>
            <a:ext cx="7670800" cy="4217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replacement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61849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process cannot steal frames from other  processes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 process as many frames as needed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Able to load all active pages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know?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Locality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35"/>
          <p:cNvSpPr txBox="1"/>
          <p:nvPr>
            <p:ph type="title"/>
          </p:nvPr>
        </p:nvSpPr>
        <p:spPr>
          <a:xfrm>
            <a:off x="1712214" y="183642"/>
            <a:ext cx="62439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Demand Paging and Thrashing</a:t>
            </a:r>
            <a:endParaRPr/>
          </a:p>
        </p:txBody>
      </p:sp>
      <p:sp>
        <p:nvSpPr>
          <p:cNvPr id="1214" name="Google Shape;1214;p135"/>
          <p:cNvSpPr txBox="1"/>
          <p:nvPr/>
        </p:nvSpPr>
        <p:spPr>
          <a:xfrm>
            <a:off x="764235" y="1364361"/>
            <a:ext cx="7600315" cy="377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does demand paging work?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Locality model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migrates from one locality to another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Localities may overlap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None/>
            </a:pPr>
            <a:r>
              <a:t/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enough frames to a process to accommodate its  locality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14400"/>
              </a:lnSpc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does thrashing occur?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1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of locality &gt; total allocated frames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effects by using local or priority page replacement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36"/>
          <p:cNvSpPr txBox="1"/>
          <p:nvPr>
            <p:ph type="title"/>
          </p:nvPr>
        </p:nvSpPr>
        <p:spPr>
          <a:xfrm>
            <a:off x="1871852" y="293369"/>
            <a:ext cx="57651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Locality In A Memory-Reference Pattern</a:t>
            </a:r>
            <a:endParaRPr sz="2800"/>
          </a:p>
        </p:txBody>
      </p:sp>
      <p:pic>
        <p:nvPicPr>
          <p:cNvPr id="1220" name="Google Shape;1220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867155"/>
            <a:ext cx="5414772" cy="5745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37"/>
          <p:cNvSpPr txBox="1"/>
          <p:nvPr>
            <p:ph type="title"/>
          </p:nvPr>
        </p:nvSpPr>
        <p:spPr>
          <a:xfrm>
            <a:off x="2395854" y="426212"/>
            <a:ext cx="434340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Working-set model</a:t>
            </a:r>
            <a:endParaRPr sz="4400"/>
          </a:p>
        </p:txBody>
      </p:sp>
      <p:pic>
        <p:nvPicPr>
          <p:cNvPr id="1226" name="Google Shape;1226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172" y="2068067"/>
            <a:ext cx="6713192" cy="1797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38"/>
          <p:cNvSpPr txBox="1"/>
          <p:nvPr>
            <p:ph type="title"/>
          </p:nvPr>
        </p:nvSpPr>
        <p:spPr>
          <a:xfrm>
            <a:off x="2360802" y="426212"/>
            <a:ext cx="441007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Working-Set Model</a:t>
            </a:r>
            <a:endParaRPr sz="4400"/>
          </a:p>
        </p:txBody>
      </p:sp>
      <p:sp>
        <p:nvSpPr>
          <p:cNvPr id="1232" name="Google Shape;1232;p138"/>
          <p:cNvSpPr txBox="1"/>
          <p:nvPr/>
        </p:nvSpPr>
        <p:spPr>
          <a:xfrm>
            <a:off x="871626" y="1177493"/>
            <a:ext cx="7320915" cy="435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4805" lvl="0" marL="36957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working-set window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fixed number of page references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9570" marR="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	10,000 instructions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69570" marR="0" rtl="0" algn="l">
              <a:lnSpc>
                <a:spcPct val="115909"/>
              </a:lnSpc>
              <a:spcBef>
                <a:spcPts val="409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WSS</a:t>
            </a:r>
            <a:r>
              <a:rPr baseline="-25000" i="1" lang="en-US" sz="21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(working set of Process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-US" sz="21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9570" marR="17780" rtl="0" algn="l">
              <a:lnSpc>
                <a:spcPct val="80000"/>
              </a:lnSpc>
              <a:spcBef>
                <a:spcPts val="439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pages referenced in the most recent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(varies  in time)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770255" marR="0" rtl="0" algn="l">
              <a:lnSpc>
                <a:spcPct val="119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 small will not encompass entire locality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7702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 large will encompass several localities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7702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Δ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encompass entire program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69570" marR="0" rtl="0" algn="l">
              <a:lnSpc>
                <a:spcPct val="120000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WSS</a:t>
            </a:r>
            <a:r>
              <a:rPr baseline="-25000" i="1" lang="en-US" sz="21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demand frames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1" marL="770255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Approximation of locality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69570" marR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</a:t>
            </a:r>
            <a:r>
              <a:rPr lang="en-US" sz="2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⇒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Thrashing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4805" lvl="0" marL="369570" marR="1073785" rtl="0" algn="l">
              <a:lnSpc>
                <a:spcPct val="79500"/>
              </a:lnSpc>
              <a:spcBef>
                <a:spcPts val="123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if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m, then suspend or swap out one of the  processes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39"/>
          <p:cNvSpPr txBox="1"/>
          <p:nvPr>
            <p:ph type="title"/>
          </p:nvPr>
        </p:nvSpPr>
        <p:spPr>
          <a:xfrm>
            <a:off x="1998224" y="82050"/>
            <a:ext cx="56067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Page-Fault Frequency</a:t>
            </a:r>
            <a:endParaRPr/>
          </a:p>
        </p:txBody>
      </p:sp>
      <p:sp>
        <p:nvSpPr>
          <p:cNvPr id="1238" name="Google Shape;1238;p139"/>
          <p:cNvSpPr txBox="1"/>
          <p:nvPr/>
        </p:nvSpPr>
        <p:spPr>
          <a:xfrm>
            <a:off x="1005636" y="987933"/>
            <a:ext cx="5993765" cy="157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direct approach than WSS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4965" marR="5080" rtl="0" algn="l">
              <a:lnSpc>
                <a:spcPct val="8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</a:t>
            </a:r>
            <a:r>
              <a:rPr lang="en-US" sz="22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rPr>
              <a:t>“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acceptable</a:t>
            </a:r>
            <a:r>
              <a:rPr lang="en-US" sz="22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rPr>
              <a:t>” </a:t>
            </a: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page-fault frequency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22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PFF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rate and use local replacement policy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4" lvl="1" marL="756285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actual rate too low, process loses frame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4" lvl="1" marL="7562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actual rate too high, process gains frame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9" name="Google Shape;1239;p139"/>
          <p:cNvGrpSpPr/>
          <p:nvPr/>
        </p:nvGrpSpPr>
        <p:grpSpPr>
          <a:xfrm>
            <a:off x="1998218" y="3200272"/>
            <a:ext cx="4884420" cy="2734945"/>
            <a:chOff x="1998218" y="3200272"/>
            <a:chExt cx="4884420" cy="2734945"/>
          </a:xfrm>
        </p:grpSpPr>
        <p:sp>
          <p:nvSpPr>
            <p:cNvPr id="1240" name="Google Shape;1240;p139"/>
            <p:cNvSpPr/>
            <p:nvPr/>
          </p:nvSpPr>
          <p:spPr>
            <a:xfrm>
              <a:off x="2027173" y="3396564"/>
              <a:ext cx="4683125" cy="2506980"/>
            </a:xfrm>
            <a:custGeom>
              <a:rect b="b" l="l" r="r" t="t"/>
              <a:pathLst>
                <a:path extrusionOk="0" h="2506979" w="4683125">
                  <a:moveTo>
                    <a:pt x="4682998" y="0"/>
                  </a:moveTo>
                  <a:lnTo>
                    <a:pt x="0" y="0"/>
                  </a:lnTo>
                  <a:lnTo>
                    <a:pt x="0" y="2506725"/>
                  </a:lnTo>
                  <a:lnTo>
                    <a:pt x="4682998" y="2506725"/>
                  </a:lnTo>
                  <a:lnTo>
                    <a:pt x="4682998" y="0"/>
                  </a:lnTo>
                  <a:close/>
                </a:path>
              </a:pathLst>
            </a:custGeom>
            <a:solidFill>
              <a:srgbClr val="D1D2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139"/>
            <p:cNvSpPr/>
            <p:nvPr/>
          </p:nvSpPr>
          <p:spPr>
            <a:xfrm>
              <a:off x="2027173" y="3396564"/>
              <a:ext cx="4683125" cy="2506980"/>
            </a:xfrm>
            <a:custGeom>
              <a:rect b="b" l="l" r="r" t="t"/>
              <a:pathLst>
                <a:path extrusionOk="0" h="2506979" w="4683125">
                  <a:moveTo>
                    <a:pt x="0" y="2506725"/>
                  </a:moveTo>
                  <a:lnTo>
                    <a:pt x="4682998" y="2506725"/>
                  </a:lnTo>
                  <a:lnTo>
                    <a:pt x="4682998" y="0"/>
                  </a:lnTo>
                  <a:lnTo>
                    <a:pt x="0" y="0"/>
                  </a:lnTo>
                  <a:lnTo>
                    <a:pt x="0" y="2506725"/>
                  </a:lnTo>
                  <a:close/>
                </a:path>
              </a:pathLst>
            </a:custGeom>
            <a:noFill/>
            <a:ln cap="flat" cmpd="sng" w="9525">
              <a:solidFill>
                <a:srgbClr val="21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139"/>
            <p:cNvSpPr/>
            <p:nvPr/>
          </p:nvSpPr>
          <p:spPr>
            <a:xfrm>
              <a:off x="2027174" y="4649863"/>
              <a:ext cx="3219450" cy="745490"/>
            </a:xfrm>
            <a:custGeom>
              <a:rect b="b" l="l" r="r" t="t"/>
              <a:pathLst>
                <a:path extrusionOk="0" h="745489" w="3219450">
                  <a:moveTo>
                    <a:pt x="3219069" y="720331"/>
                  </a:moveTo>
                  <a:lnTo>
                    <a:pt x="0" y="720331"/>
                  </a:lnTo>
                  <a:lnTo>
                    <a:pt x="0" y="745477"/>
                  </a:lnTo>
                  <a:lnTo>
                    <a:pt x="3219069" y="745477"/>
                  </a:lnTo>
                  <a:lnTo>
                    <a:pt x="3219069" y="720331"/>
                  </a:lnTo>
                  <a:close/>
                </a:path>
                <a:path extrusionOk="0" h="745489" w="3219450">
                  <a:moveTo>
                    <a:pt x="3219069" y="0"/>
                  </a:moveTo>
                  <a:lnTo>
                    <a:pt x="0" y="0"/>
                  </a:lnTo>
                  <a:lnTo>
                    <a:pt x="0" y="25133"/>
                  </a:lnTo>
                  <a:lnTo>
                    <a:pt x="3219069" y="25133"/>
                  </a:lnTo>
                  <a:lnTo>
                    <a:pt x="3219069" y="0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139"/>
            <p:cNvSpPr/>
            <p:nvPr/>
          </p:nvSpPr>
          <p:spPr>
            <a:xfrm>
              <a:off x="2027173" y="3237992"/>
              <a:ext cx="4824730" cy="2665730"/>
            </a:xfrm>
            <a:custGeom>
              <a:rect b="b" l="l" r="r" t="t"/>
              <a:pathLst>
                <a:path extrusionOk="0" h="2665729" w="4824730">
                  <a:moveTo>
                    <a:pt x="4824730" y="2665298"/>
                  </a:moveTo>
                  <a:lnTo>
                    <a:pt x="0" y="2665298"/>
                  </a:lnTo>
                  <a:lnTo>
                    <a:pt x="0" y="0"/>
                  </a:lnTo>
                </a:path>
              </a:pathLst>
            </a:custGeom>
            <a:noFill/>
            <a:ln cap="flat" cmpd="sng" w="15900">
              <a:solidFill>
                <a:srgbClr val="211F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4" name="Google Shape;1244;p1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28798" y="3719347"/>
              <a:ext cx="4352416" cy="20758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5" name="Google Shape;1245;p1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46420" y="4216209"/>
              <a:ext cx="990168" cy="2765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39"/>
            <p:cNvSpPr/>
            <p:nvPr/>
          </p:nvSpPr>
          <p:spPr>
            <a:xfrm>
              <a:off x="1998218" y="3200272"/>
              <a:ext cx="4884420" cy="2734945"/>
            </a:xfrm>
            <a:custGeom>
              <a:rect b="b" l="l" r="r" t="t"/>
              <a:pathLst>
                <a:path extrusionOk="0" h="2734945" w="4884420">
                  <a:moveTo>
                    <a:pt x="57912" y="70358"/>
                  </a:moveTo>
                  <a:lnTo>
                    <a:pt x="30861" y="0"/>
                  </a:lnTo>
                  <a:lnTo>
                    <a:pt x="27051" y="0"/>
                  </a:lnTo>
                  <a:lnTo>
                    <a:pt x="0" y="70358"/>
                  </a:lnTo>
                  <a:lnTo>
                    <a:pt x="28956" y="56642"/>
                  </a:lnTo>
                  <a:lnTo>
                    <a:pt x="57912" y="70358"/>
                  </a:lnTo>
                  <a:close/>
                </a:path>
                <a:path extrusionOk="0" h="2734945" w="4884420">
                  <a:moveTo>
                    <a:pt x="4884293" y="2699016"/>
                  </a:moveTo>
                  <a:lnTo>
                    <a:pt x="4823460" y="2670327"/>
                  </a:lnTo>
                  <a:lnTo>
                    <a:pt x="4835779" y="2703017"/>
                  </a:lnTo>
                  <a:lnTo>
                    <a:pt x="4823460" y="2734449"/>
                  </a:lnTo>
                  <a:lnTo>
                    <a:pt x="4884293" y="2706865"/>
                  </a:lnTo>
                  <a:lnTo>
                    <a:pt x="4884293" y="2699016"/>
                  </a:lnTo>
                  <a:close/>
                </a:path>
              </a:pathLst>
            </a:custGeom>
            <a:solidFill>
              <a:srgbClr val="211F1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47" name="Google Shape;1247;p1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4703" y="6012664"/>
            <a:ext cx="1031341" cy="110628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39"/>
          <p:cNvSpPr/>
          <p:nvPr/>
        </p:nvSpPr>
        <p:spPr>
          <a:xfrm>
            <a:off x="1806321" y="4470019"/>
            <a:ext cx="125095" cy="655320"/>
          </a:xfrm>
          <a:custGeom>
            <a:rect b="b" l="l" r="r" t="t"/>
            <a:pathLst>
              <a:path extrusionOk="0" h="655320" w="125094">
                <a:moveTo>
                  <a:pt x="65849" y="284213"/>
                </a:moveTo>
                <a:lnTo>
                  <a:pt x="53594" y="284213"/>
                </a:lnTo>
                <a:lnTo>
                  <a:pt x="53594" y="320675"/>
                </a:lnTo>
                <a:lnTo>
                  <a:pt x="65849" y="320675"/>
                </a:lnTo>
                <a:lnTo>
                  <a:pt x="65849" y="284213"/>
                </a:lnTo>
                <a:close/>
              </a:path>
              <a:path extrusionOk="0" h="655320" w="125094">
                <a:moveTo>
                  <a:pt x="95885" y="251460"/>
                </a:moveTo>
                <a:lnTo>
                  <a:pt x="36830" y="251460"/>
                </a:lnTo>
                <a:lnTo>
                  <a:pt x="36830" y="237744"/>
                </a:lnTo>
                <a:lnTo>
                  <a:pt x="26797" y="237744"/>
                </a:lnTo>
                <a:lnTo>
                  <a:pt x="26797" y="251460"/>
                </a:lnTo>
                <a:lnTo>
                  <a:pt x="12319" y="251460"/>
                </a:lnTo>
                <a:lnTo>
                  <a:pt x="10033" y="249047"/>
                </a:lnTo>
                <a:lnTo>
                  <a:pt x="10033" y="237744"/>
                </a:lnTo>
                <a:lnTo>
                  <a:pt x="0" y="237744"/>
                </a:lnTo>
                <a:lnTo>
                  <a:pt x="0" y="256540"/>
                </a:lnTo>
                <a:lnTo>
                  <a:pt x="4572" y="264033"/>
                </a:lnTo>
                <a:lnTo>
                  <a:pt x="26797" y="264033"/>
                </a:lnTo>
                <a:lnTo>
                  <a:pt x="26797" y="275463"/>
                </a:lnTo>
                <a:lnTo>
                  <a:pt x="36830" y="275463"/>
                </a:lnTo>
                <a:lnTo>
                  <a:pt x="36830" y="264033"/>
                </a:lnTo>
                <a:lnTo>
                  <a:pt x="95885" y="264033"/>
                </a:lnTo>
                <a:lnTo>
                  <a:pt x="95885" y="251460"/>
                </a:lnTo>
                <a:close/>
              </a:path>
              <a:path extrusionOk="0" h="655320" w="125094">
                <a:moveTo>
                  <a:pt x="95923" y="49161"/>
                </a:moveTo>
                <a:lnTo>
                  <a:pt x="1143" y="49161"/>
                </a:lnTo>
                <a:lnTo>
                  <a:pt x="1143" y="61722"/>
                </a:lnTo>
                <a:lnTo>
                  <a:pt x="95923" y="61722"/>
                </a:lnTo>
                <a:lnTo>
                  <a:pt x="95923" y="49161"/>
                </a:lnTo>
                <a:close/>
              </a:path>
              <a:path extrusionOk="0" h="655320" w="125094">
                <a:moveTo>
                  <a:pt x="97028" y="5080"/>
                </a:moveTo>
                <a:lnTo>
                  <a:pt x="95885" y="0"/>
                </a:lnTo>
                <a:lnTo>
                  <a:pt x="86995" y="0"/>
                </a:lnTo>
                <a:lnTo>
                  <a:pt x="86995" y="12700"/>
                </a:lnTo>
                <a:lnTo>
                  <a:pt x="36830" y="12700"/>
                </a:lnTo>
                <a:lnTo>
                  <a:pt x="36830" y="0"/>
                </a:lnTo>
                <a:lnTo>
                  <a:pt x="26797" y="0"/>
                </a:lnTo>
                <a:lnTo>
                  <a:pt x="26797" y="12700"/>
                </a:lnTo>
                <a:lnTo>
                  <a:pt x="7874" y="12700"/>
                </a:lnTo>
                <a:lnTo>
                  <a:pt x="7874" y="26543"/>
                </a:lnTo>
                <a:lnTo>
                  <a:pt x="26797" y="26543"/>
                </a:lnTo>
                <a:lnTo>
                  <a:pt x="26797" y="36576"/>
                </a:lnTo>
                <a:lnTo>
                  <a:pt x="36830" y="36576"/>
                </a:lnTo>
                <a:lnTo>
                  <a:pt x="36830" y="26543"/>
                </a:lnTo>
                <a:lnTo>
                  <a:pt x="90424" y="26543"/>
                </a:lnTo>
                <a:lnTo>
                  <a:pt x="97028" y="22733"/>
                </a:lnTo>
                <a:lnTo>
                  <a:pt x="97028" y="5080"/>
                </a:lnTo>
                <a:close/>
              </a:path>
              <a:path extrusionOk="0" h="655320" w="125094">
                <a:moveTo>
                  <a:pt x="98171" y="549529"/>
                </a:moveTo>
                <a:lnTo>
                  <a:pt x="97028" y="539242"/>
                </a:lnTo>
                <a:lnTo>
                  <a:pt x="94234" y="531241"/>
                </a:lnTo>
                <a:lnTo>
                  <a:pt x="90678" y="525018"/>
                </a:lnTo>
                <a:lnTo>
                  <a:pt x="88138" y="521970"/>
                </a:lnTo>
                <a:lnTo>
                  <a:pt x="88138" y="545719"/>
                </a:lnTo>
                <a:lnTo>
                  <a:pt x="88138" y="555752"/>
                </a:lnTo>
                <a:lnTo>
                  <a:pt x="83693" y="560832"/>
                </a:lnTo>
                <a:lnTo>
                  <a:pt x="68072" y="560832"/>
                </a:lnTo>
                <a:lnTo>
                  <a:pt x="65786" y="549529"/>
                </a:lnTo>
                <a:lnTo>
                  <a:pt x="64770" y="543179"/>
                </a:lnTo>
                <a:lnTo>
                  <a:pt x="63627" y="526796"/>
                </a:lnTo>
                <a:lnTo>
                  <a:pt x="62484" y="524383"/>
                </a:lnTo>
                <a:lnTo>
                  <a:pt x="60198" y="521843"/>
                </a:lnTo>
                <a:lnTo>
                  <a:pt x="72517" y="521843"/>
                </a:lnTo>
                <a:lnTo>
                  <a:pt x="78740" y="524002"/>
                </a:lnTo>
                <a:lnTo>
                  <a:pt x="83693" y="529463"/>
                </a:lnTo>
                <a:lnTo>
                  <a:pt x="86995" y="537210"/>
                </a:lnTo>
                <a:lnTo>
                  <a:pt x="88138" y="545719"/>
                </a:lnTo>
                <a:lnTo>
                  <a:pt x="88011" y="521843"/>
                </a:lnTo>
                <a:lnTo>
                  <a:pt x="86995" y="520573"/>
                </a:lnTo>
                <a:lnTo>
                  <a:pt x="92583" y="520573"/>
                </a:lnTo>
                <a:lnTo>
                  <a:pt x="97028" y="519303"/>
                </a:lnTo>
                <a:lnTo>
                  <a:pt x="97028" y="501650"/>
                </a:lnTo>
                <a:lnTo>
                  <a:pt x="95885" y="500380"/>
                </a:lnTo>
                <a:lnTo>
                  <a:pt x="88138" y="500380"/>
                </a:lnTo>
                <a:lnTo>
                  <a:pt x="88138" y="506730"/>
                </a:lnTo>
                <a:lnTo>
                  <a:pt x="86995" y="509270"/>
                </a:lnTo>
                <a:lnTo>
                  <a:pt x="44704" y="509270"/>
                </a:lnTo>
                <a:lnTo>
                  <a:pt x="34036" y="512826"/>
                </a:lnTo>
                <a:lnTo>
                  <a:pt x="27940" y="521335"/>
                </a:lnTo>
                <a:lnTo>
                  <a:pt x="25146" y="530987"/>
                </a:lnTo>
                <a:lnTo>
                  <a:pt x="24638" y="537210"/>
                </a:lnTo>
                <a:lnTo>
                  <a:pt x="24638" y="539242"/>
                </a:lnTo>
                <a:lnTo>
                  <a:pt x="25908" y="551053"/>
                </a:lnTo>
                <a:lnTo>
                  <a:pt x="29972" y="560959"/>
                </a:lnTo>
                <a:lnTo>
                  <a:pt x="37338" y="567309"/>
                </a:lnTo>
                <a:lnTo>
                  <a:pt x="48006" y="569595"/>
                </a:lnTo>
                <a:lnTo>
                  <a:pt x="48006" y="558292"/>
                </a:lnTo>
                <a:lnTo>
                  <a:pt x="42418" y="557022"/>
                </a:lnTo>
                <a:lnTo>
                  <a:pt x="34671" y="554482"/>
                </a:lnTo>
                <a:lnTo>
                  <a:pt x="34671" y="528066"/>
                </a:lnTo>
                <a:lnTo>
                  <a:pt x="37973" y="521843"/>
                </a:lnTo>
                <a:lnTo>
                  <a:pt x="52451" y="521843"/>
                </a:lnTo>
                <a:lnTo>
                  <a:pt x="53594" y="525526"/>
                </a:lnTo>
                <a:lnTo>
                  <a:pt x="53594" y="528066"/>
                </a:lnTo>
                <a:lnTo>
                  <a:pt x="56896" y="550799"/>
                </a:lnTo>
                <a:lnTo>
                  <a:pt x="60325" y="563245"/>
                </a:lnTo>
                <a:lnTo>
                  <a:pt x="66294" y="570103"/>
                </a:lnTo>
                <a:lnTo>
                  <a:pt x="72771" y="572770"/>
                </a:lnTo>
                <a:lnTo>
                  <a:pt x="78105" y="573405"/>
                </a:lnTo>
                <a:lnTo>
                  <a:pt x="86360" y="571627"/>
                </a:lnTo>
                <a:lnTo>
                  <a:pt x="92710" y="566547"/>
                </a:lnTo>
                <a:lnTo>
                  <a:pt x="95885" y="560832"/>
                </a:lnTo>
                <a:lnTo>
                  <a:pt x="96774" y="559054"/>
                </a:lnTo>
                <a:lnTo>
                  <a:pt x="98171" y="549529"/>
                </a:lnTo>
                <a:close/>
              </a:path>
              <a:path extrusionOk="0" h="655320" w="125094">
                <a:moveTo>
                  <a:pt x="98171" y="358394"/>
                </a:moveTo>
                <a:lnTo>
                  <a:pt x="95885" y="353314"/>
                </a:lnTo>
                <a:lnTo>
                  <a:pt x="93726" y="349631"/>
                </a:lnTo>
                <a:lnTo>
                  <a:pt x="86995" y="339471"/>
                </a:lnTo>
                <a:lnTo>
                  <a:pt x="78105" y="335788"/>
                </a:lnTo>
                <a:lnTo>
                  <a:pt x="74803" y="335788"/>
                </a:lnTo>
                <a:lnTo>
                  <a:pt x="74803" y="348361"/>
                </a:lnTo>
                <a:lnTo>
                  <a:pt x="79248" y="349631"/>
                </a:lnTo>
                <a:lnTo>
                  <a:pt x="88138" y="355854"/>
                </a:lnTo>
                <a:lnTo>
                  <a:pt x="88138" y="368427"/>
                </a:lnTo>
                <a:lnTo>
                  <a:pt x="86487" y="378333"/>
                </a:lnTo>
                <a:lnTo>
                  <a:pt x="81915" y="385445"/>
                </a:lnTo>
                <a:lnTo>
                  <a:pt x="74549" y="389636"/>
                </a:lnTo>
                <a:lnTo>
                  <a:pt x="64770" y="391033"/>
                </a:lnTo>
                <a:lnTo>
                  <a:pt x="64770" y="334518"/>
                </a:lnTo>
                <a:lnTo>
                  <a:pt x="55753" y="335661"/>
                </a:lnTo>
                <a:lnTo>
                  <a:pt x="55753" y="348361"/>
                </a:lnTo>
                <a:lnTo>
                  <a:pt x="55753" y="391033"/>
                </a:lnTo>
                <a:lnTo>
                  <a:pt x="48387" y="389509"/>
                </a:lnTo>
                <a:lnTo>
                  <a:pt x="42037" y="385064"/>
                </a:lnTo>
                <a:lnTo>
                  <a:pt x="37465" y="378333"/>
                </a:lnTo>
                <a:lnTo>
                  <a:pt x="35687" y="369697"/>
                </a:lnTo>
                <a:lnTo>
                  <a:pt x="37465" y="359410"/>
                </a:lnTo>
                <a:lnTo>
                  <a:pt x="42037" y="352933"/>
                </a:lnTo>
                <a:lnTo>
                  <a:pt x="48387" y="349377"/>
                </a:lnTo>
                <a:lnTo>
                  <a:pt x="55753" y="348361"/>
                </a:lnTo>
                <a:lnTo>
                  <a:pt x="55753" y="335661"/>
                </a:lnTo>
                <a:lnTo>
                  <a:pt x="48133" y="336677"/>
                </a:lnTo>
                <a:lnTo>
                  <a:pt x="35433" y="343027"/>
                </a:lnTo>
                <a:lnTo>
                  <a:pt x="27432" y="353568"/>
                </a:lnTo>
                <a:lnTo>
                  <a:pt x="24638" y="368427"/>
                </a:lnTo>
                <a:lnTo>
                  <a:pt x="27686" y="384937"/>
                </a:lnTo>
                <a:lnTo>
                  <a:pt x="36195" y="396748"/>
                </a:lnTo>
                <a:lnTo>
                  <a:pt x="48514" y="403860"/>
                </a:lnTo>
                <a:lnTo>
                  <a:pt x="63627" y="406146"/>
                </a:lnTo>
                <a:lnTo>
                  <a:pt x="77470" y="403606"/>
                </a:lnTo>
                <a:lnTo>
                  <a:pt x="88392" y="396621"/>
                </a:lnTo>
                <a:lnTo>
                  <a:pt x="91948" y="391033"/>
                </a:lnTo>
                <a:lnTo>
                  <a:pt x="95631" y="385445"/>
                </a:lnTo>
                <a:lnTo>
                  <a:pt x="98171" y="370967"/>
                </a:lnTo>
                <a:lnTo>
                  <a:pt x="98171" y="358394"/>
                </a:lnTo>
                <a:close/>
              </a:path>
              <a:path extrusionOk="0" h="655320" w="125094">
                <a:moveTo>
                  <a:pt x="98171" y="210058"/>
                </a:moveTo>
                <a:lnTo>
                  <a:pt x="97028" y="200025"/>
                </a:lnTo>
                <a:lnTo>
                  <a:pt x="94234" y="192405"/>
                </a:lnTo>
                <a:lnTo>
                  <a:pt x="90678" y="186690"/>
                </a:lnTo>
                <a:lnTo>
                  <a:pt x="88138" y="183642"/>
                </a:lnTo>
                <a:lnTo>
                  <a:pt x="88138" y="206248"/>
                </a:lnTo>
                <a:lnTo>
                  <a:pt x="88138" y="216281"/>
                </a:lnTo>
                <a:lnTo>
                  <a:pt x="83693" y="221361"/>
                </a:lnTo>
                <a:lnTo>
                  <a:pt x="68072" y="221361"/>
                </a:lnTo>
                <a:lnTo>
                  <a:pt x="65786" y="210058"/>
                </a:lnTo>
                <a:lnTo>
                  <a:pt x="64770" y="203708"/>
                </a:lnTo>
                <a:lnTo>
                  <a:pt x="63627" y="187452"/>
                </a:lnTo>
                <a:lnTo>
                  <a:pt x="62484" y="184912"/>
                </a:lnTo>
                <a:lnTo>
                  <a:pt x="60198" y="182372"/>
                </a:lnTo>
                <a:lnTo>
                  <a:pt x="72517" y="182372"/>
                </a:lnTo>
                <a:lnTo>
                  <a:pt x="78740" y="184531"/>
                </a:lnTo>
                <a:lnTo>
                  <a:pt x="83693" y="190119"/>
                </a:lnTo>
                <a:lnTo>
                  <a:pt x="86995" y="197739"/>
                </a:lnTo>
                <a:lnTo>
                  <a:pt x="88138" y="206248"/>
                </a:lnTo>
                <a:lnTo>
                  <a:pt x="88138" y="183642"/>
                </a:lnTo>
                <a:lnTo>
                  <a:pt x="86995" y="182372"/>
                </a:lnTo>
                <a:lnTo>
                  <a:pt x="92583" y="181102"/>
                </a:lnTo>
                <a:lnTo>
                  <a:pt x="97028" y="179832"/>
                </a:lnTo>
                <a:lnTo>
                  <a:pt x="97028" y="163576"/>
                </a:lnTo>
                <a:lnTo>
                  <a:pt x="95885" y="161036"/>
                </a:lnTo>
                <a:lnTo>
                  <a:pt x="88138" y="161036"/>
                </a:lnTo>
                <a:lnTo>
                  <a:pt x="88138" y="167259"/>
                </a:lnTo>
                <a:lnTo>
                  <a:pt x="86995" y="169799"/>
                </a:lnTo>
                <a:lnTo>
                  <a:pt x="44704" y="169799"/>
                </a:lnTo>
                <a:lnTo>
                  <a:pt x="34036" y="173482"/>
                </a:lnTo>
                <a:lnTo>
                  <a:pt x="27940" y="181864"/>
                </a:lnTo>
                <a:lnTo>
                  <a:pt x="25146" y="191516"/>
                </a:lnTo>
                <a:lnTo>
                  <a:pt x="24701" y="197739"/>
                </a:lnTo>
                <a:lnTo>
                  <a:pt x="24752" y="200025"/>
                </a:lnTo>
                <a:lnTo>
                  <a:pt x="25908" y="211582"/>
                </a:lnTo>
                <a:lnTo>
                  <a:pt x="29972" y="221488"/>
                </a:lnTo>
                <a:lnTo>
                  <a:pt x="37338" y="227838"/>
                </a:lnTo>
                <a:lnTo>
                  <a:pt x="48006" y="230124"/>
                </a:lnTo>
                <a:lnTo>
                  <a:pt x="48006" y="218821"/>
                </a:lnTo>
                <a:lnTo>
                  <a:pt x="42418" y="217551"/>
                </a:lnTo>
                <a:lnTo>
                  <a:pt x="34671" y="215011"/>
                </a:lnTo>
                <a:lnTo>
                  <a:pt x="34671" y="188722"/>
                </a:lnTo>
                <a:lnTo>
                  <a:pt x="37973" y="182372"/>
                </a:lnTo>
                <a:lnTo>
                  <a:pt x="52451" y="182372"/>
                </a:lnTo>
                <a:lnTo>
                  <a:pt x="53594" y="186182"/>
                </a:lnTo>
                <a:lnTo>
                  <a:pt x="53594" y="188722"/>
                </a:lnTo>
                <a:lnTo>
                  <a:pt x="56896" y="211328"/>
                </a:lnTo>
                <a:lnTo>
                  <a:pt x="60325" y="224028"/>
                </a:lnTo>
                <a:lnTo>
                  <a:pt x="66294" y="231267"/>
                </a:lnTo>
                <a:lnTo>
                  <a:pt x="72771" y="234442"/>
                </a:lnTo>
                <a:lnTo>
                  <a:pt x="78105" y="235204"/>
                </a:lnTo>
                <a:lnTo>
                  <a:pt x="86360" y="233172"/>
                </a:lnTo>
                <a:lnTo>
                  <a:pt x="92710" y="227838"/>
                </a:lnTo>
                <a:lnTo>
                  <a:pt x="95999" y="221361"/>
                </a:lnTo>
                <a:lnTo>
                  <a:pt x="96774" y="219837"/>
                </a:lnTo>
                <a:lnTo>
                  <a:pt x="98171" y="210058"/>
                </a:lnTo>
                <a:close/>
              </a:path>
              <a:path extrusionOk="0" h="655320" w="125094">
                <a:moveTo>
                  <a:pt x="98171" y="120777"/>
                </a:moveTo>
                <a:lnTo>
                  <a:pt x="97409" y="112268"/>
                </a:lnTo>
                <a:lnTo>
                  <a:pt x="94996" y="105410"/>
                </a:lnTo>
                <a:lnTo>
                  <a:pt x="91059" y="99949"/>
                </a:lnTo>
                <a:lnTo>
                  <a:pt x="85852" y="95631"/>
                </a:lnTo>
                <a:lnTo>
                  <a:pt x="95885" y="95631"/>
                </a:lnTo>
                <a:lnTo>
                  <a:pt x="95885" y="83058"/>
                </a:lnTo>
                <a:lnTo>
                  <a:pt x="26797" y="83058"/>
                </a:lnTo>
                <a:lnTo>
                  <a:pt x="26797" y="95631"/>
                </a:lnTo>
                <a:lnTo>
                  <a:pt x="64770" y="95631"/>
                </a:lnTo>
                <a:lnTo>
                  <a:pt x="72644" y="96647"/>
                </a:lnTo>
                <a:lnTo>
                  <a:pt x="80137" y="100330"/>
                </a:lnTo>
                <a:lnTo>
                  <a:pt x="85852" y="107315"/>
                </a:lnTo>
                <a:lnTo>
                  <a:pt x="88138" y="118237"/>
                </a:lnTo>
                <a:lnTo>
                  <a:pt x="88138" y="125857"/>
                </a:lnTo>
                <a:lnTo>
                  <a:pt x="84836" y="133350"/>
                </a:lnTo>
                <a:lnTo>
                  <a:pt x="26797" y="133350"/>
                </a:lnTo>
                <a:lnTo>
                  <a:pt x="26797" y="145923"/>
                </a:lnTo>
                <a:lnTo>
                  <a:pt x="76962" y="145923"/>
                </a:lnTo>
                <a:lnTo>
                  <a:pt x="87376" y="143637"/>
                </a:lnTo>
                <a:lnTo>
                  <a:pt x="93853" y="137541"/>
                </a:lnTo>
                <a:lnTo>
                  <a:pt x="97155" y="129540"/>
                </a:lnTo>
                <a:lnTo>
                  <a:pt x="98171" y="120777"/>
                </a:lnTo>
                <a:close/>
              </a:path>
              <a:path extrusionOk="0" h="655320" w="125094">
                <a:moveTo>
                  <a:pt x="123825" y="641223"/>
                </a:moveTo>
                <a:lnTo>
                  <a:pt x="89281" y="641223"/>
                </a:lnTo>
                <a:lnTo>
                  <a:pt x="93726" y="637540"/>
                </a:lnTo>
                <a:lnTo>
                  <a:pt x="98171" y="631190"/>
                </a:lnTo>
                <a:lnTo>
                  <a:pt x="98171" y="619887"/>
                </a:lnTo>
                <a:lnTo>
                  <a:pt x="94488" y="603377"/>
                </a:lnTo>
                <a:lnTo>
                  <a:pt x="91059" y="599821"/>
                </a:lnTo>
                <a:lnTo>
                  <a:pt x="88138" y="596519"/>
                </a:lnTo>
                <a:lnTo>
                  <a:pt x="88138" y="621157"/>
                </a:lnTo>
                <a:lnTo>
                  <a:pt x="87122" y="627634"/>
                </a:lnTo>
                <a:lnTo>
                  <a:pt x="83566" y="634619"/>
                </a:lnTo>
                <a:lnTo>
                  <a:pt x="76327" y="640207"/>
                </a:lnTo>
                <a:lnTo>
                  <a:pt x="64770" y="642493"/>
                </a:lnTo>
                <a:lnTo>
                  <a:pt x="55499" y="641858"/>
                </a:lnTo>
                <a:lnTo>
                  <a:pt x="46101" y="638937"/>
                </a:lnTo>
                <a:lnTo>
                  <a:pt x="38735" y="632460"/>
                </a:lnTo>
                <a:lnTo>
                  <a:pt x="35687" y="621157"/>
                </a:lnTo>
                <a:lnTo>
                  <a:pt x="38481" y="609346"/>
                </a:lnTo>
                <a:lnTo>
                  <a:pt x="80645" y="604774"/>
                </a:lnTo>
                <a:lnTo>
                  <a:pt x="88138" y="621157"/>
                </a:lnTo>
                <a:lnTo>
                  <a:pt x="88138" y="596519"/>
                </a:lnTo>
                <a:lnTo>
                  <a:pt x="84963" y="592963"/>
                </a:lnTo>
                <a:lnTo>
                  <a:pt x="72263" y="587502"/>
                </a:lnTo>
                <a:lnTo>
                  <a:pt x="59182" y="585978"/>
                </a:lnTo>
                <a:lnTo>
                  <a:pt x="45720" y="588010"/>
                </a:lnTo>
                <a:lnTo>
                  <a:pt x="34798" y="594233"/>
                </a:lnTo>
                <a:lnTo>
                  <a:pt x="27305" y="604520"/>
                </a:lnTo>
                <a:lnTo>
                  <a:pt x="24638" y="618617"/>
                </a:lnTo>
                <a:lnTo>
                  <a:pt x="25908" y="627634"/>
                </a:lnTo>
                <a:lnTo>
                  <a:pt x="29083" y="634238"/>
                </a:lnTo>
                <a:lnTo>
                  <a:pt x="33020" y="638556"/>
                </a:lnTo>
                <a:lnTo>
                  <a:pt x="36830" y="641223"/>
                </a:lnTo>
                <a:lnTo>
                  <a:pt x="36830" y="642493"/>
                </a:lnTo>
                <a:lnTo>
                  <a:pt x="26797" y="642493"/>
                </a:lnTo>
                <a:lnTo>
                  <a:pt x="26797" y="655066"/>
                </a:lnTo>
                <a:lnTo>
                  <a:pt x="123825" y="655066"/>
                </a:lnTo>
                <a:lnTo>
                  <a:pt x="123825" y="641223"/>
                </a:lnTo>
                <a:close/>
              </a:path>
              <a:path extrusionOk="0" h="655320" w="125094">
                <a:moveTo>
                  <a:pt x="124968" y="457708"/>
                </a:moveTo>
                <a:lnTo>
                  <a:pt x="120904" y="436626"/>
                </a:lnTo>
                <a:lnTo>
                  <a:pt x="118427" y="433832"/>
                </a:lnTo>
                <a:lnTo>
                  <a:pt x="111379" y="425831"/>
                </a:lnTo>
                <a:lnTo>
                  <a:pt x="99949" y="421767"/>
                </a:lnTo>
                <a:lnTo>
                  <a:pt x="90424" y="421259"/>
                </a:lnTo>
                <a:lnTo>
                  <a:pt x="88138" y="421259"/>
                </a:lnTo>
                <a:lnTo>
                  <a:pt x="88138" y="455168"/>
                </a:lnTo>
                <a:lnTo>
                  <a:pt x="86106" y="464185"/>
                </a:lnTo>
                <a:lnTo>
                  <a:pt x="80645" y="470408"/>
                </a:lnTo>
                <a:lnTo>
                  <a:pt x="72136" y="474091"/>
                </a:lnTo>
                <a:lnTo>
                  <a:pt x="61341" y="475361"/>
                </a:lnTo>
                <a:lnTo>
                  <a:pt x="53594" y="474980"/>
                </a:lnTo>
                <a:lnTo>
                  <a:pt x="45212" y="472694"/>
                </a:lnTo>
                <a:lnTo>
                  <a:pt x="38481" y="466344"/>
                </a:lnTo>
                <a:lnTo>
                  <a:pt x="35687" y="453898"/>
                </a:lnTo>
                <a:lnTo>
                  <a:pt x="38735" y="442849"/>
                </a:lnTo>
                <a:lnTo>
                  <a:pt x="46101" y="436753"/>
                </a:lnTo>
                <a:lnTo>
                  <a:pt x="55499" y="434340"/>
                </a:lnTo>
                <a:lnTo>
                  <a:pt x="64770" y="433832"/>
                </a:lnTo>
                <a:lnTo>
                  <a:pt x="76327" y="435864"/>
                </a:lnTo>
                <a:lnTo>
                  <a:pt x="83566" y="441198"/>
                </a:lnTo>
                <a:lnTo>
                  <a:pt x="87122" y="448183"/>
                </a:lnTo>
                <a:lnTo>
                  <a:pt x="88138" y="455168"/>
                </a:lnTo>
                <a:lnTo>
                  <a:pt x="88138" y="421259"/>
                </a:lnTo>
                <a:lnTo>
                  <a:pt x="26797" y="421259"/>
                </a:lnTo>
                <a:lnTo>
                  <a:pt x="26797" y="433832"/>
                </a:lnTo>
                <a:lnTo>
                  <a:pt x="36830" y="433832"/>
                </a:lnTo>
                <a:lnTo>
                  <a:pt x="33020" y="436499"/>
                </a:lnTo>
                <a:lnTo>
                  <a:pt x="29083" y="440944"/>
                </a:lnTo>
                <a:lnTo>
                  <a:pt x="25908" y="447421"/>
                </a:lnTo>
                <a:lnTo>
                  <a:pt x="24638" y="456438"/>
                </a:lnTo>
                <a:lnTo>
                  <a:pt x="27305" y="470535"/>
                </a:lnTo>
                <a:lnTo>
                  <a:pt x="34798" y="480822"/>
                </a:lnTo>
                <a:lnTo>
                  <a:pt x="45720" y="487045"/>
                </a:lnTo>
                <a:lnTo>
                  <a:pt x="59182" y="489077"/>
                </a:lnTo>
                <a:lnTo>
                  <a:pt x="72263" y="487553"/>
                </a:lnTo>
                <a:lnTo>
                  <a:pt x="84963" y="482092"/>
                </a:lnTo>
                <a:lnTo>
                  <a:pt x="91059" y="475361"/>
                </a:lnTo>
                <a:lnTo>
                  <a:pt x="94488" y="471678"/>
                </a:lnTo>
                <a:lnTo>
                  <a:pt x="98171" y="455168"/>
                </a:lnTo>
                <a:lnTo>
                  <a:pt x="98171" y="445135"/>
                </a:lnTo>
                <a:lnTo>
                  <a:pt x="93726" y="437642"/>
                </a:lnTo>
                <a:lnTo>
                  <a:pt x="89281" y="433832"/>
                </a:lnTo>
                <a:lnTo>
                  <a:pt x="91440" y="433832"/>
                </a:lnTo>
                <a:lnTo>
                  <a:pt x="98552" y="434213"/>
                </a:lnTo>
                <a:lnTo>
                  <a:pt x="106680" y="436626"/>
                </a:lnTo>
                <a:lnTo>
                  <a:pt x="113284" y="443357"/>
                </a:lnTo>
                <a:lnTo>
                  <a:pt x="115951" y="456438"/>
                </a:lnTo>
                <a:lnTo>
                  <a:pt x="115951" y="471551"/>
                </a:lnTo>
                <a:lnTo>
                  <a:pt x="104902" y="474091"/>
                </a:lnTo>
                <a:lnTo>
                  <a:pt x="104902" y="486664"/>
                </a:lnTo>
                <a:lnTo>
                  <a:pt x="115570" y="482219"/>
                </a:lnTo>
                <a:lnTo>
                  <a:pt x="121539" y="474472"/>
                </a:lnTo>
                <a:lnTo>
                  <a:pt x="124333" y="465582"/>
                </a:lnTo>
                <a:lnTo>
                  <a:pt x="124968" y="457708"/>
                </a:lnTo>
                <a:close/>
              </a:path>
            </a:pathLst>
          </a:custGeom>
          <a:solidFill>
            <a:srgbClr val="211F1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9" name="Google Shape;1249;p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14195" y="4173397"/>
            <a:ext cx="90316" cy="240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